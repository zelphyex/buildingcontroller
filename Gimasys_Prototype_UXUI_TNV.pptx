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9a0c813-c235-9913-55f3-e2e2ac7c49cf}">
          <p14:sldIdLst>
            <p14:sldId id="256"/>
          </p14:sldIdLst>
        </p14:section>
        <p14:section name="Người dùng và cấu trúc" id="{836b5e0e-1376-234f-3e14-ec3fff99d3f3}">
          <p14:sldIdLst>
            <p14:sldId id="257"/>
            <p14:sldId id="258"/>
            <p14:sldId id="259"/>
          </p14:sldIdLst>
        </p14:section>
        <p14:section name="Dashboard web" id="{c89f26f8-9100-ca86-5c08-88b4dc555d32}">
          <p14:sldIdLst>
            <p14:sldId id="260"/>
            <p14:sldId id="261"/>
            <p14:sldId id="262"/>
            <p14:sldId id="263"/>
            <p14:sldId id="264"/>
            <p14:sldId id="265"/>
          </p14:sldIdLst>
        </p14:section>
        <p14:section name="Ứng dụng di động" id="{64a3c410-9966-0094-74db-aa4cf9a88ef0}">
          <p14:sldIdLst>
            <p14:sldId id="266"/>
            <p14:sldId id="267"/>
            <p14:sldId id="268"/>
          </p14:sldIdLst>
        </p14:section>
        <p14:section name="Luồng và bước tiếp theo" id="{af437e88-aab6-2ac1-9b6e-fd91bd9ecf4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Thực tế</c:v>
                </c:pt>
              </c:strCache>
            </c:strRef>
          </c:tx>
          <c:spPr>
            <a:solidFill>
              <a:srgbClr val="1B7F79"/>
            </a:solidFill>
            <a:ln w="19050" cap="flat">
              <a:solidFill>
                <a:srgbClr val="1B7F7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7F79"/>
              </a:solidFill>
              <a:ln w="9525" cap="flat">
                <a:solidFill>
                  <a:srgbClr val="1B7F79"/>
                </a:solidFill>
                <a:prstDash val="solid"/>
                <a:round/>
              </a:ln>
              <a:effectLst/>
            </c:spPr>
          </c:marker>
          <c:cat>
            <c:multiLvlStrRef>
              <c:f>Sheet1!$A$2:$A$15</c:f>
              <c:multiLvlStrCache>
                <c:ptCount val="14"/>
                <c:lvl>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lvl>
              </c:multiLvlStrCache>
            </c:multiLvlStrRef>
          </c:cat>
          <c:val>
            <c:numRef>
              <c:f>Sheet1!$B$2:$B$15</c:f>
              <c:numCache>
                <c:formatCode>General</c:formatCode>
                <c:ptCount val="14"/>
                <c:pt idx="0">
                  <c:v>1.52</c:v>
                </c:pt>
                <c:pt idx="1">
                  <c:v>1.61</c:v>
                </c:pt>
                <c:pt idx="2">
                  <c:v>1.58</c:v>
                </c:pt>
                <c:pt idx="3">
                  <c:v>1.49</c:v>
                </c:pt>
                <c:pt idx="4">
                  <c:v>1.38</c:v>
                </c:pt>
                <c:pt idx="5">
                  <c:v>1.66</c:v>
                </c:pt>
                <c:pt idx="6">
                  <c:v>1.71</c:v>
                </c:pt>
                <c:pt idx="7">
                  <c:v>1.6</c:v>
                </c:pt>
                <c:pt idx="8">
                  <c:v>1.55</c:v>
                </c:pt>
                <c:pt idx="9">
                  <c:v>1.47</c:v>
                </c:pt>
                <c:pt idx="10">
                  <c:v>1.36</c:v>
                </c:pt>
                <c:pt idx="11">
                  <c:v>1.63</c:v>
                </c:pt>
                <c:pt idx="12">
                  <c:v>1.68</c:v>
                </c:pt>
                <c:pt idx="13">
                  <c:v>1.59</c:v>
                </c:pt>
              </c:numCache>
            </c:numRef>
          </c:val>
          <c:smooth val="0"/>
        </c:ser>
        <c:ser>
          <c:idx val="1"/>
          <c:order val="1"/>
          <c:tx>
            <c:strRef>
              <c:f>Sheet1!$C$1</c:f>
              <c:strCache>
                <c:ptCount val="1"/>
                <c:pt idx="0">
                  <c:v>Dự báo</c:v>
                </c:pt>
              </c:strCache>
            </c:strRef>
          </c:tx>
          <c:spPr>
            <a:solidFill>
              <a:srgbClr val="B9C3CC"/>
            </a:solidFill>
            <a:ln w="19050" cap="flat">
              <a:solidFill>
                <a:srgbClr val="B9C3C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3CC"/>
              </a:solidFill>
              <a:ln w="9525" cap="flat">
                <a:solidFill>
                  <a:srgbClr val="B9C3CC"/>
                </a:solidFill>
                <a:prstDash val="solid"/>
                <a:round/>
              </a:ln>
              <a:effectLst/>
            </c:spPr>
          </c:marker>
          <c:cat>
            <c:multiLvlStrRef>
              <c:f>Sheet1!$A$2:$A$15</c:f>
              <c:multiLvlStrCache>
                <c:ptCount val="14"/>
                <c:lvl>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lvl>
              </c:multiLvlStrCache>
            </c:multiLvlStrRef>
          </c:cat>
          <c:val>
            <c:numRef>
              <c:f>Sheet1!$C$2:$C$15</c:f>
              <c:numCache>
                <c:formatCode>General</c:formatCode>
                <c:ptCount val="14"/>
                <c:pt idx="0">
                  <c:v>1.55</c:v>
                </c:pt>
                <c:pt idx="1">
                  <c:v>1.6</c:v>
                </c:pt>
                <c:pt idx="2">
                  <c:v>1.62</c:v>
                </c:pt>
                <c:pt idx="3">
                  <c:v>1.52</c:v>
                </c:pt>
                <c:pt idx="4">
                  <c:v>1.42</c:v>
                </c:pt>
                <c:pt idx="5">
                  <c:v>1.64</c:v>
                </c:pt>
                <c:pt idx="6">
                  <c:v>1.69</c:v>
                </c:pt>
                <c:pt idx="7">
                  <c:v>1.63</c:v>
                </c:pt>
                <c:pt idx="8">
                  <c:v>1.58</c:v>
                </c:pt>
                <c:pt idx="9">
                  <c:v>1.5</c:v>
                </c:pt>
                <c:pt idx="10">
                  <c:v>1.4</c:v>
                </c:pt>
                <c:pt idx="11">
                  <c:v>1.62</c:v>
                </c:pt>
                <c:pt idx="12">
                  <c:v>1.7</c:v>
                </c:pt>
                <c:pt idx="13">
                  <c:v>1.61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in val="1.2"/>
        </c:scaling>
        <c:delete val="0"/>
        <c:axPos val="l"/>
        <c:majorGridlines>
          <c:spPr>
            <a:ln w="6350" cap="flat">
              <a:solidFill>
                <a:srgbClr val="E4E8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7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MWh</c:v>
                </c:pt>
              </c:strCache>
            </c:strRef>
          </c:tx>
          <c:spPr>
            <a:solidFill>
              <a:srgbClr val="1B7F79"/>
            </a:solidFill>
            <a:effectLst/>
          </c:spPr>
          <c:invertIfNegative val="0"/>
          <c:dLbls>
            <c:numFmt formatCode="0.0" sourceLinked="0"/>
            <c:txPr>
              <a:bodyPr/>
              <a:lstStyle/>
              <a:p>
                <a:pPr>
                  <a:defRPr b="0" i="0" strike="noStrike" sz="700" u="none">
                    <a:solidFill>
                      <a:srgbClr val="3A4654"/>
                    </a:solidFill>
                    <a:latin typeface="Arial"/>
                  </a:defRPr>
                </a:pPr>
              </a:p>
            </c:txPr>
            <c:showLegendKey val="0"/>
            <c:showVal val="1"/>
            <c:showCatName val="0"/>
            <c:showSerName val="0"/>
            <c:showPercent val="0"/>
            <c:showBubbleSize val="0"/>
            <c:showLeaderLines val="0"/>
          </c:dLbls>
          <c:cat>
            <c:multiLvlStrRef>
              <c:f>Sheet1!$A$2:$A$7</c:f>
              <c:multiLvlStrCache>
                <c:ptCount val="6"/>
                <c:lvl>
                  <c:pt idx="0">
                    <c:v>Căn hộ</c:v>
                  </c:pt>
                  <c:pt idx="1">
                    <c:v>Nhà hàng B1</c:v>
                  </c:pt>
                  <c:pt idx="2">
                    <c:v>Rooftop</c:v>
                  </c:pt>
                  <c:pt idx="3">
                    <c:v>Thương mại</c:v>
                  </c:pt>
                  <c:pt idx="4">
                    <c:v>Hầm, kỹ thuật</c:v>
                  </c:pt>
                  <c:pt idx="5">
                    <c:v>Chung</c:v>
                  </c:pt>
                </c:lvl>
              </c:multiLvlStrCache>
            </c:multiLvlStrRef>
          </c:cat>
          <c:val>
            <c:numRef>
              <c:f>Sheet1!$B$2:$B$7</c:f>
              <c:numCache>
                <c:formatCode>General</c:formatCode>
                <c:ptCount val="6"/>
                <c:pt idx="0">
                  <c:v>14.1</c:v>
                </c:pt>
                <c:pt idx="1">
                  <c:v>10.8</c:v>
                </c:pt>
                <c:pt idx="2">
                  <c:v>5.2</c:v>
                </c:pt>
                <c:pt idx="3">
                  <c:v>7.9</c:v>
                </c:pt>
                <c:pt idx="4">
                  <c:v>6.4</c:v>
                </c:pt>
                <c:pt idx="5">
                  <c:v>3.8</c:v>
                </c:pt>
              </c:numCache>
            </c:numRef>
          </c:val>
        </c:ser>
        <c:dLbls>
          <c:numFmt formatCode="0.0" sourceLinked="0"/>
          <c:txPr>
            <a:bodyPr/>
            <a:lstStyle/>
            <a:p>
              <a:pPr>
                <a:defRPr b="0" i="0" strike="noStrike" sz="700" u="none">
                  <a:solidFill>
                    <a:srgbClr val="3A465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Lưu lượng m³/h</c:v>
                </c:pt>
              </c:strCache>
            </c:strRef>
          </c:tx>
          <c:spPr>
            <a:solidFill>
              <a:srgbClr val="D64545"/>
            </a:solidFill>
            <a:ln w="19050" cap="flat">
              <a:solidFill>
                <a:srgbClr val="D645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64545"/>
              </a:solidFill>
              <a:ln w="9525" cap="flat">
                <a:solidFill>
                  <a:srgbClr val="D64545"/>
                </a:solidFill>
                <a:prstDash val="solid"/>
                <a:round/>
              </a:ln>
              <a:effectLst/>
            </c:spPr>
          </c:marker>
          <c:cat>
            <c:multiLvlStrRef>
              <c:f>Sheet1!$A$2:$A$8</c:f>
              <c:multiLvlStrCache>
                <c:ptCount val="7"/>
                <c:lvl>
                  <c:pt idx="0">
                    <c:v>00:00</c:v>
                  </c:pt>
                  <c:pt idx="1">
                    <c:v>00:30</c:v>
                  </c:pt>
                  <c:pt idx="2">
                    <c:v>01:00</c:v>
                  </c:pt>
                  <c:pt idx="3">
                    <c:v>01:30</c:v>
                  </c:pt>
                  <c:pt idx="4">
                    <c:v>02:00</c:v>
                  </c:pt>
                  <c:pt idx="5">
                    <c:v>02:30</c:v>
                  </c:pt>
                  <c:pt idx="6">
                    <c:v>03:00</c:v>
                  </c:pt>
                </c:lvl>
              </c:multiLvlStrCache>
            </c:multiLvlStrRef>
          </c:cat>
          <c:val>
            <c:numRef>
              <c:f>Sheet1!$B$2:$B$8</c:f>
              <c:numCache>
                <c:formatCode>General</c:formatCode>
                <c:ptCount val="7"/>
                <c:pt idx="0">
                  <c:v>0.05</c:v>
                </c:pt>
                <c:pt idx="1">
                  <c:v>0.04</c:v>
                </c:pt>
                <c:pt idx="2">
                  <c:v>0.03</c:v>
                </c:pt>
                <c:pt idx="3">
                  <c:v>0.04</c:v>
                </c:pt>
                <c:pt idx="4">
                  <c:v>0.05</c:v>
                </c:pt>
                <c:pt idx="5">
                  <c:v>0.82</c:v>
                </c:pt>
                <c:pt idx="6">
                  <c:v>0.8</c:v>
                </c:pt>
              </c:numCache>
            </c:numRef>
          </c:val>
          <c:smooth val="0"/>
        </c:ser>
        <c:ser>
          <c:idx val="1"/>
          <c:order val="1"/>
          <c:tx>
            <c:strRef>
              <c:f>Sheet1!$C$1</c:f>
              <c:strCache>
                <c:ptCount val="1"/>
                <c:pt idx="0">
                  <c:v>Mức nền ban đêm</c:v>
                </c:pt>
              </c:strCache>
            </c:strRef>
          </c:tx>
          <c:spPr>
            <a:solidFill>
              <a:srgbClr val="B9C3CC"/>
            </a:solidFill>
            <a:ln w="19050" cap="flat">
              <a:solidFill>
                <a:srgbClr val="B9C3C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3CC"/>
              </a:solidFill>
              <a:ln w="9525" cap="flat">
                <a:solidFill>
                  <a:srgbClr val="B9C3CC"/>
                </a:solidFill>
                <a:prstDash val="solid"/>
                <a:round/>
              </a:ln>
              <a:effectLst/>
            </c:spPr>
          </c:marker>
          <c:cat>
            <c:multiLvlStrRef>
              <c:f>Sheet1!$A$2:$A$8</c:f>
              <c:multiLvlStrCache>
                <c:ptCount val="7"/>
                <c:lvl>
                  <c:pt idx="0">
                    <c:v>00:00</c:v>
                  </c:pt>
                  <c:pt idx="1">
                    <c:v>00:30</c:v>
                  </c:pt>
                  <c:pt idx="2">
                    <c:v>01:00</c:v>
                  </c:pt>
                  <c:pt idx="3">
                    <c:v>01:30</c:v>
                  </c:pt>
                  <c:pt idx="4">
                    <c:v>02:00</c:v>
                  </c:pt>
                  <c:pt idx="5">
                    <c:v>02:30</c:v>
                  </c:pt>
                  <c:pt idx="6">
                    <c:v>03:00</c:v>
                  </c:pt>
                </c:lvl>
              </c:multiLvlStrCache>
            </c:multiLvlStrRef>
          </c:cat>
          <c:val>
            <c:numRef>
              <c:f>Sheet1!$C$2:$C$8</c:f>
              <c:numCache>
                <c:formatCode>General</c:formatCode>
                <c:ptCount val="7"/>
                <c:pt idx="0">
                  <c:v>0.06</c:v>
                </c:pt>
                <c:pt idx="1">
                  <c:v>0.06</c:v>
                </c:pt>
                <c:pt idx="2">
                  <c:v>0.06</c:v>
                </c:pt>
                <c:pt idx="3">
                  <c:v>0.06</c:v>
                </c:pt>
                <c:pt idx="4">
                  <c:v>0.06</c:v>
                </c:pt>
                <c:pt idx="5">
                  <c:v>0.06</c:v>
                </c:pt>
                <c:pt idx="6">
                  <c:v>0.06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7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Thực tế</c:v>
                </c:pt>
              </c:strCache>
            </c:strRef>
          </c:tx>
          <c:spPr>
            <a:solidFill>
              <a:srgbClr val="1B7F79"/>
            </a:solidFill>
            <a:ln w="19050" cap="flat">
              <a:solidFill>
                <a:srgbClr val="1B7F7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7F79"/>
              </a:solidFill>
              <a:ln w="9525" cap="flat">
                <a:solidFill>
                  <a:srgbClr val="1B7F79"/>
                </a:solidFill>
                <a:prstDash val="solid"/>
                <a:round/>
              </a:ln>
              <a:effectLst/>
            </c:spPr>
          </c:marker>
          <c:cat>
            <c:multiLvlStrRef>
              <c:f>Sheet1!$A$2:$A$13</c:f>
              <c:multiLvlStrCache>
                <c:ptCount val="12"/>
                <c:lvl>
                  <c:pt idx="0">
                    <c:v>0</c:v>
                  </c:pt>
                  <c:pt idx="1">
                    <c:v>2</c:v>
                  </c:pt>
                  <c:pt idx="2">
                    <c:v>4</c:v>
                  </c:pt>
                  <c:pt idx="3">
                    <c:v>6</c:v>
                  </c:pt>
                  <c:pt idx="4">
                    <c:v>8</c:v>
                  </c:pt>
                  <c:pt idx="5">
                    <c:v>10</c:v>
                  </c:pt>
                  <c:pt idx="6">
                    <c:v>12</c:v>
                  </c:pt>
                  <c:pt idx="7">
                    <c:v>14</c:v>
                  </c:pt>
                  <c:pt idx="8">
                    <c:v>16</c:v>
                  </c:pt>
                  <c:pt idx="9">
                    <c:v>18</c:v>
                  </c:pt>
                  <c:pt idx="10">
                    <c:v>20</c:v>
                  </c:pt>
                  <c:pt idx="11">
                    <c:v>22</c:v>
                  </c:pt>
                </c:lvl>
              </c:multiLvlStrCache>
            </c:multiLvlStrRef>
          </c:cat>
          <c:val>
            <c:numRef>
              <c:f>Sheet1!$B$2:$B$13</c:f>
              <c:numCache>
                <c:formatCode>General</c:formatCode>
                <c:ptCount val="12"/>
                <c:pt idx="0">
                  <c:v>38</c:v>
                </c:pt>
                <c:pt idx="1">
                  <c:v>34</c:v>
                </c:pt>
                <c:pt idx="2">
                  <c:v>33</c:v>
                </c:pt>
                <c:pt idx="3">
                  <c:v>45</c:v>
                </c:pt>
                <c:pt idx="4">
                  <c:v>82</c:v>
                </c:pt>
                <c:pt idx="5">
                  <c:v>96</c:v>
                </c:pt>
                <c:pt idx="6">
                  <c:v>104</c:v>
                </c:pt>
                <c:pt idx="7">
                  <c:v>99</c:v>
                </c:pt>
                <c:pt idx="8">
                  <c:v>92</c:v>
                </c:pt>
                <c:pt idx="9">
                  <c:v>118</c:v>
                </c:pt>
                <c:pt idx="10">
                  <c:v>110</c:v>
                </c:pt>
                <c:pt idx="11">
                  <c:v>62</c:v>
                </c:pt>
              </c:numCache>
            </c:numRef>
          </c:val>
          <c:smooth val="0"/>
        </c:ser>
        <c:ser>
          <c:idx val="1"/>
          <c:order val="1"/>
          <c:tx>
            <c:strRef>
              <c:f>Sheet1!$C$1</c:f>
              <c:strCache>
                <c:ptCount val="1"/>
                <c:pt idx="0">
                  <c:v>Dự báo AI</c:v>
                </c:pt>
              </c:strCache>
            </c:strRef>
          </c:tx>
          <c:spPr>
            <a:solidFill>
              <a:srgbClr val="B9C3CC"/>
            </a:solidFill>
            <a:ln w="19050" cap="flat">
              <a:solidFill>
                <a:srgbClr val="B9C3C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3CC"/>
              </a:solidFill>
              <a:ln w="9525" cap="flat">
                <a:solidFill>
                  <a:srgbClr val="B9C3CC"/>
                </a:solidFill>
                <a:prstDash val="solid"/>
                <a:round/>
              </a:ln>
              <a:effectLst/>
            </c:spPr>
          </c:marker>
          <c:cat>
            <c:multiLvlStrRef>
              <c:f>Sheet1!$A$2:$A$13</c:f>
              <c:multiLvlStrCache>
                <c:ptCount val="12"/>
                <c:lvl>
                  <c:pt idx="0">
                    <c:v>0</c:v>
                  </c:pt>
                  <c:pt idx="1">
                    <c:v>2</c:v>
                  </c:pt>
                  <c:pt idx="2">
                    <c:v>4</c:v>
                  </c:pt>
                  <c:pt idx="3">
                    <c:v>6</c:v>
                  </c:pt>
                  <c:pt idx="4">
                    <c:v>8</c:v>
                  </c:pt>
                  <c:pt idx="5">
                    <c:v>10</c:v>
                  </c:pt>
                  <c:pt idx="6">
                    <c:v>12</c:v>
                  </c:pt>
                  <c:pt idx="7">
                    <c:v>14</c:v>
                  </c:pt>
                  <c:pt idx="8">
                    <c:v>16</c:v>
                  </c:pt>
                  <c:pt idx="9">
                    <c:v>18</c:v>
                  </c:pt>
                  <c:pt idx="10">
                    <c:v>20</c:v>
                  </c:pt>
                  <c:pt idx="11">
                    <c:v>22</c:v>
                  </c:pt>
                </c:lvl>
              </c:multiLvlStrCache>
            </c:multiLvlStrRef>
          </c:cat>
          <c:val>
            <c:numRef>
              <c:f>Sheet1!$C$2:$C$13</c:f>
              <c:numCache>
                <c:formatCode>General</c:formatCode>
                <c:ptCount val="12"/>
                <c:pt idx="0">
                  <c:v>36</c:v>
                </c:pt>
                <c:pt idx="1">
                  <c:v>33</c:v>
                </c:pt>
                <c:pt idx="2">
                  <c:v>32</c:v>
                </c:pt>
                <c:pt idx="3">
                  <c:v>44</c:v>
                </c:pt>
                <c:pt idx="4">
                  <c:v>80</c:v>
                </c:pt>
                <c:pt idx="5">
                  <c:v>94</c:v>
                </c:pt>
                <c:pt idx="6">
                  <c:v>101</c:v>
                </c:pt>
                <c:pt idx="7">
                  <c:v>100</c:v>
                </c:pt>
                <c:pt idx="8">
                  <c:v>95</c:v>
                </c:pt>
                <c:pt idx="9">
                  <c:v>121</c:v>
                </c:pt>
                <c:pt idx="10">
                  <c:v>112</c:v>
                </c:pt>
                <c:pt idx="11">
                  <c:v>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7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kWh</c:v>
                </c:pt>
              </c:strCache>
            </c:strRef>
          </c:tx>
          <c:spPr>
            <a:solidFill>
              <a:srgbClr val="12324A"/>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5A</c:v>
                  </c:pt>
                  <c:pt idx="1">
                    <c:v>4B</c:v>
                  </c:pt>
                  <c:pt idx="2">
                    <c:v>3C</c:v>
                  </c:pt>
                  <c:pt idx="3">
                    <c:v>5D</c:v>
                  </c:pt>
                  <c:pt idx="4">
                    <c:v>2A</c:v>
                  </c:pt>
                  <c:pt idx="5">
                    <c:v>4D</c:v>
                  </c:pt>
                </c:lvl>
              </c:multiLvlStrCache>
            </c:multiLvlStrRef>
          </c:cat>
          <c:val>
            <c:numRef>
              <c:f>Sheet1!$B$2:$B$7</c:f>
              <c:numCache>
                <c:formatCode>General</c:formatCode>
                <c:ptCount val="6"/>
                <c:pt idx="0">
                  <c:v>1284</c:v>
                </c:pt>
                <c:pt idx="1">
                  <c:v>1190</c:v>
                </c:pt>
                <c:pt idx="2">
                  <c:v>1105</c:v>
                </c:pt>
                <c:pt idx="3">
                  <c:v>980</c:v>
                </c:pt>
                <c:pt idx="4">
                  <c:v>940</c:v>
                </c:pt>
                <c:pt idx="5">
                  <c:v>905</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m³/h</c:v>
                </c:pt>
              </c:strCache>
            </c:strRef>
          </c:tx>
          <c:spPr>
            <a:solidFill>
              <a:srgbClr val="B9C3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B9C3CC"/>
              </a:solidFill>
              <a:effectLst/>
            </c:spPr>
          </c:dPt>
          <c:dPt>
            <c:idx val="1"/>
            <c:invertIfNegative val="0"/>
            <c:bubble3D val="0"/>
            <c:spPr>
              <a:solidFill>
                <a:srgbClr val="B9C3CC"/>
              </a:solidFill>
              <a:effectLst/>
            </c:spPr>
          </c:dPt>
          <c:dPt>
            <c:idx val="2"/>
            <c:invertIfNegative val="0"/>
            <c:bubble3D val="0"/>
            <c:spPr>
              <a:solidFill>
                <a:srgbClr val="B9C3CC"/>
              </a:solidFill>
              <a:effectLst/>
            </c:spPr>
          </c:dPt>
          <c:dPt>
            <c:idx val="3"/>
            <c:invertIfNegative val="0"/>
            <c:bubble3D val="0"/>
            <c:spPr>
              <a:solidFill>
                <a:srgbClr val="B9C3CC"/>
              </a:solidFill>
              <a:effectLst/>
            </c:spPr>
          </c:dPt>
          <c:dPt>
            <c:idx val="4"/>
            <c:invertIfNegative val="0"/>
            <c:bubble3D val="0"/>
            <c:spPr>
              <a:solidFill>
                <a:srgbClr val="D64545"/>
              </a:solidFill>
              <a:effectLst/>
            </c:spPr>
          </c:dPt>
          <c:dPt>
            <c:idx val="5"/>
            <c:invertIfNegative val="0"/>
            <c:bubble3D val="0"/>
            <c:spPr>
              <a:solidFill>
                <a:srgbClr val="B9C3CC"/>
              </a:solidFill>
              <a:effectLst/>
            </c:spPr>
          </c:dPt>
          <c:dPt>
            <c:idx val="6"/>
            <c:invertIfNegative val="0"/>
            <c:bubble3D val="0"/>
            <c:spPr>
              <a:solidFill>
                <a:srgbClr val="B9C3CC"/>
              </a:solidFill>
              <a:effectLst/>
            </c:spPr>
          </c:dPt>
          <c:dPt>
            <c:idx val="7"/>
            <c:invertIfNegative val="0"/>
            <c:bubble3D val="0"/>
            <c:spPr>
              <a:solidFill>
                <a:srgbClr val="B9C3CC"/>
              </a:solidFill>
              <a:effectLst/>
            </c:spPr>
          </c:dPt>
          <c:cat>
            <c:multiLvlStrRef>
              <c:f>Sheet1!$A$2:$A$9</c:f>
              <c:multiLvlStrCache>
                <c:ptCount val="8"/>
                <c:lvl>
                  <c:pt idx="0">
                    <c:v>B1</c:v>
                  </c:pt>
                  <c:pt idx="1">
                    <c:v>T1</c:v>
                  </c:pt>
                  <c:pt idx="2">
                    <c:v>Lửng</c:v>
                  </c:pt>
                  <c:pt idx="3">
                    <c:v>T2</c:v>
                  </c:pt>
                  <c:pt idx="4">
                    <c:v>T3</c:v>
                  </c:pt>
                  <c:pt idx="5">
                    <c:v>T4</c:v>
                  </c:pt>
                  <c:pt idx="6">
                    <c:v>T5</c:v>
                  </c:pt>
                  <c:pt idx="7">
                    <c:v>Tum</c:v>
                  </c:pt>
                </c:lvl>
              </c:multiLvlStrCache>
            </c:multiLvlStrRef>
          </c:cat>
          <c:val>
            <c:numRef>
              <c:f>Sheet1!$B$2:$B$9</c:f>
              <c:numCache>
                <c:formatCode>General</c:formatCode>
                <c:ptCount val="8"/>
                <c:pt idx="0">
                  <c:v>0.04</c:v>
                </c:pt>
                <c:pt idx="1">
                  <c:v>0.03</c:v>
                </c:pt>
                <c:pt idx="2">
                  <c:v>0.02</c:v>
                </c:pt>
                <c:pt idx="3">
                  <c:v>0.05</c:v>
                </c:pt>
                <c:pt idx="4">
                  <c:v>0.81</c:v>
                </c:pt>
                <c:pt idx="5">
                  <c:v>0.06</c:v>
                </c:pt>
                <c:pt idx="6">
                  <c:v>0.04</c:v>
                </c:pt>
                <c:pt idx="7">
                  <c:v>0.02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8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BTA-01</c:v>
                </c:pt>
              </c:strCache>
            </c:strRef>
          </c:tx>
          <c:spPr>
            <a:solidFill>
              <a:srgbClr val="B9C3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T2</c:v>
                  </c:pt>
                  <c:pt idx="1">
                    <c:v>T3</c:v>
                  </c:pt>
                  <c:pt idx="2">
                    <c:v>T4</c:v>
                  </c:pt>
                  <c:pt idx="3">
                    <c:v>T5</c:v>
                  </c:pt>
                  <c:pt idx="4">
                    <c:v>T6</c:v>
                  </c:pt>
                  <c:pt idx="5">
                    <c:v>T7</c:v>
                  </c:pt>
                  <c:pt idx="6">
                    <c:v>CN</c:v>
                  </c:pt>
                </c:lvl>
              </c:multiLvlStrCache>
            </c:multiLvlStrRef>
          </c:cat>
          <c:val>
            <c:numRef>
              <c:f>Sheet1!$B$2:$B$8</c:f>
              <c:numCache>
                <c:formatCode>General</c:formatCode>
                <c:ptCount val="7"/>
                <c:pt idx="0">
                  <c:v>22</c:v>
                </c:pt>
                <c:pt idx="1">
                  <c:v>24</c:v>
                </c:pt>
                <c:pt idx="2">
                  <c:v>21</c:v>
                </c:pt>
                <c:pt idx="3">
                  <c:v>23</c:v>
                </c:pt>
                <c:pt idx="4">
                  <c:v>25</c:v>
                </c:pt>
                <c:pt idx="5">
                  <c:v>20</c:v>
                </c:pt>
                <c:pt idx="6">
                  <c:v>19</c:v>
                </c:pt>
              </c:numCache>
            </c:numRef>
          </c:val>
        </c:ser>
        <c:ser>
          <c:idx val="1"/>
          <c:order val="1"/>
          <c:tx>
            <c:strRef>
              <c:f>Sheet1!$C$1</c:f>
              <c:strCache>
                <c:ptCount val="1"/>
                <c:pt idx="0">
                  <c:v>BTA-02</c:v>
                </c:pt>
              </c:strCache>
            </c:strRef>
          </c:tx>
          <c:spPr>
            <a:solidFill>
              <a:srgbClr val="E883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T2</c:v>
                  </c:pt>
                  <c:pt idx="1">
                    <c:v>T3</c:v>
                  </c:pt>
                  <c:pt idx="2">
                    <c:v>T4</c:v>
                  </c:pt>
                  <c:pt idx="3">
                    <c:v>T5</c:v>
                  </c:pt>
                  <c:pt idx="4">
                    <c:v>T6</c:v>
                  </c:pt>
                  <c:pt idx="5">
                    <c:v>T7</c:v>
                  </c:pt>
                  <c:pt idx="6">
                    <c:v>CN</c:v>
                  </c:pt>
                </c:lvl>
              </c:multiLvlStrCache>
            </c:multiLvlStrRef>
          </c:cat>
          <c:val>
            <c:numRef>
              <c:f>Sheet1!$C$2:$C$8</c:f>
              <c:numCache>
                <c:formatCode>General</c:formatCode>
                <c:ptCount val="7"/>
                <c:pt idx="0">
                  <c:v>23</c:v>
                </c:pt>
                <c:pt idx="1">
                  <c:v>31</c:v>
                </c:pt>
                <c:pt idx="2">
                  <c:v>44</c:v>
                </c:pt>
                <c:pt idx="3">
                  <c:v>52</c:v>
                </c:pt>
                <c:pt idx="4">
                  <c:v>61</c:v>
                </c:pt>
                <c:pt idx="5">
                  <c:v>66</c:v>
                </c:pt>
                <c:pt idx="6">
                  <c:v>70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7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kWh</c:v>
                </c:pt>
              </c:strCache>
            </c:strRef>
          </c:tx>
          <c:spPr>
            <a:solidFill>
              <a:srgbClr val="B9C3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B9C3CC"/>
              </a:solidFill>
              <a:effectLst/>
            </c:spPr>
          </c:dPt>
          <c:dPt>
            <c:idx val="1"/>
            <c:invertIfNegative val="0"/>
            <c:bubble3D val="0"/>
            <c:spPr>
              <a:solidFill>
                <a:srgbClr val="B9C3CC"/>
              </a:solidFill>
              <a:effectLst/>
            </c:spPr>
          </c:dPt>
          <c:dPt>
            <c:idx val="2"/>
            <c:invertIfNegative val="0"/>
            <c:bubble3D val="0"/>
            <c:spPr>
              <a:solidFill>
                <a:srgbClr val="B9C3CC"/>
              </a:solidFill>
              <a:effectLst/>
            </c:spPr>
          </c:dPt>
          <c:dPt>
            <c:idx val="3"/>
            <c:invertIfNegative val="0"/>
            <c:bubble3D val="0"/>
            <c:spPr>
              <a:solidFill>
                <a:srgbClr val="B9C3CC"/>
              </a:solidFill>
              <a:effectLst/>
            </c:spPr>
          </c:dPt>
          <c:dPt>
            <c:idx val="4"/>
            <c:invertIfNegative val="0"/>
            <c:bubble3D val="0"/>
            <c:spPr>
              <a:solidFill>
                <a:srgbClr val="B9C3CC"/>
              </a:solidFill>
              <a:effectLst/>
            </c:spPr>
          </c:dPt>
          <c:dPt>
            <c:idx val="5"/>
            <c:invertIfNegative val="0"/>
            <c:bubble3D val="0"/>
            <c:spPr>
              <a:solidFill>
                <a:srgbClr val="1B7F79"/>
              </a:solidFill>
              <a:effectLst/>
            </c:spPr>
          </c:dPt>
          <c:cat>
            <c:multiLvlStrRef>
              <c:f>Sheet1!$A$2:$A$7</c:f>
              <c:multiLvlStrCache>
                <c:ptCount val="6"/>
                <c:lvl>
                  <c:pt idx="0">
                    <c:v>T5</c:v>
                  </c:pt>
                  <c:pt idx="1">
                    <c:v>T6</c:v>
                  </c:pt>
                  <c:pt idx="2">
                    <c:v>T7</c:v>
                  </c:pt>
                  <c:pt idx="3">
                    <c:v>T8</c:v>
                  </c:pt>
                  <c:pt idx="4">
                    <c:v>T9</c:v>
                  </c:pt>
                  <c:pt idx="5">
                    <c:v>T10</c:v>
                  </c:pt>
                </c:lvl>
              </c:multiLvlStrCache>
            </c:multiLvlStrRef>
          </c:cat>
          <c:val>
            <c:numRef>
              <c:f>Sheet1!$B$2:$B$7</c:f>
              <c:numCache>
                <c:formatCode>General</c:formatCode>
                <c:ptCount val="6"/>
                <c:pt idx="0">
                  <c:v>980</c:v>
                </c:pt>
                <c:pt idx="1">
                  <c:v>1250</c:v>
                </c:pt>
                <c:pt idx="2">
                  <c:v>1410</c:v>
                </c:pt>
                <c:pt idx="3">
                  <c:v>1380</c:v>
                </c:pt>
                <c:pt idx="4">
                  <c:v>1215</c:v>
                </c:pt>
                <c:pt idx="5">
                  <c:v>1190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prototype tĩnh minh họa các màn hình chính. Số liệu trên màn hình là minh họa. Sau khi CĐT và BQL góp ý, Gimasys chuyển sang prototype tương tác trên Figma.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10058400" cy="1097280"/>
          </a:xfrm>
          <a:prstGeom prst="rect">
            <a:avLst/>
          </a:prstGeom>
          <a:noFill/>
          <a:ln/>
        </p:spPr>
        <p:txBody>
          <a:bodyPr wrap="square" rtlCol="0"/>
          <a:lstStyle>
            <a:lvl1pPr indent="0" marL="0">
              <a:buNone/>
              <a:defRPr lang="en-US" sz="1800" dirty="0">
                <a:solidFill>
                  <a:srgbClr val="CFE3E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rtlCol="0"/>
          <a:lstStyle>
            <a:lvl1pPr indent="0" marL="0">
              <a:buNone/>
              <a:defRPr lang="en-US" sz="1300" dirty="0">
                <a:solidFill>
                  <a:srgbClr val="6B7785"/>
                </a:solidFill>
              </a:defRPr>
            </a:lvl1pPr>
          </a:lstStyle>
          <a:p>
            <a:pPr indent="0" marL="0">
              <a:buNone/>
            </a:pPr>
            <a:endParaRPr lang="en-US" sz="1300" dirty="0"/>
          </a:p>
        </p:txBody>
      </p:sp>
      <p:sp>
        <p:nvSpPr>
          <p:cNvPr id="4" name="Text 0"/>
          <p:cNvSpPr/>
          <p:nvPr/>
        </p:nvSpPr>
        <p:spPr>
          <a:xfrm>
            <a:off x="457200" y="6510528"/>
            <a:ext cx="7315200" cy="228600"/>
          </a:xfrm>
          <a:prstGeom prst="rect">
            <a:avLst/>
          </a:prstGeom>
          <a:noFill/>
          <a:ln/>
        </p:spPr>
        <p:txBody>
          <a:bodyPr wrap="square" lIns="0" tIns="0" rIns="0" bIns="0" rtlCol="0" anchor="ctr"/>
          <a:lstStyle/>
          <a:p>
            <a:pPr indent="0" marL="0">
              <a:buNone/>
            </a:pPr>
            <a:r>
              <a:rPr lang="en-US" sz="900" dirty="0">
                <a:solidFill>
                  <a:srgbClr val="8A96A3"/>
                </a:solidFill>
              </a:rPr>
              <a:t>Gimasys · Prototype UX/UI · Tô Ngọc Vân Building · Số liệu minh họa</a:t>
            </a:r>
            <a:endParaRPr lang="en-US" sz="90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4" Type="http://schemas.openxmlformats.org/officeDocument/2006/relationships/chart" Target="/ppt/charts/chart1.xml"/><Relationship Id="rId15"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6" Type="http://schemas.openxmlformats.org/officeDocument/2006/relationships/image" Target="../media/image-5-14.png"/><Relationship Id="rId17" Type="http://schemas.openxmlformats.org/officeDocument/2006/relationships/image" Target="../media/image-5-15.png"/><Relationship Id="rId18" Type="http://schemas.openxmlformats.org/officeDocument/2006/relationships/image" Target="../media/image-5-16.png"/><Relationship Id="rId19" Type="http://schemas.openxmlformats.org/officeDocument/2006/relationships/slideLayout" Target="../slideLayouts/slideLayout3.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9" Type="http://schemas.openxmlformats.org/officeDocument/2006/relationships/chart" Target="/ppt/charts/chart3.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9" Type="http://schemas.openxmlformats.org/officeDocument/2006/relationships/chart" Target="/ppt/charts/chart4.xml"/><Relationship Id="rId10" Type="http://schemas.openxmlformats.org/officeDocument/2006/relationships/chart" Target="/ppt/charts/chart5.xml"/><Relationship Id="rId11" Type="http://schemas.openxmlformats.org/officeDocument/2006/relationships/chart" Target="/ppt/charts/chart6.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12" Type="http://schemas.openxmlformats.org/officeDocument/2006/relationships/slideLayout" Target="../slideLayouts/slideLayout3.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9" Type="http://schemas.openxmlformats.org/officeDocument/2006/relationships/chart" Target="/ppt/charts/chart7.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10" Type="http://schemas.openxmlformats.org/officeDocument/2006/relationships/slideLayout" Target="../slideLayouts/slideLayout3.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3.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3.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3.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chart" Target="/ppt/charts/chart8.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slideLayout" Target="../slideLayouts/slideLayout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3.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rtlCol="0" anchor="b"/>
          <a:lstStyle/>
          <a:p>
            <a:pPr algn="l" indent="0" marL="0">
              <a:buNone/>
            </a:pPr>
            <a:r>
              <a:rPr lang="en-US" sz="4000" b="1" dirty="0">
                <a:solidFill>
                  <a:schemeClr val="bg1"/>
                </a:solidFill>
              </a:rPr>
              <a:t>Prototype UX/UI – Dashboard và ứng dụng</a:t>
            </a:r>
            <a:endParaRPr lang="en-US" sz="4000" dirty="0"/>
          </a:p>
        </p:txBody>
      </p:sp>
      <p:sp>
        <p:nvSpPr>
          <p:cNvPr id="3" name="Text 0"/>
          <p:cNvSpPr/>
          <p:nvPr>
            <p:ph idx="101" type="body" hasCustomPrompt="1"/>
          </p:nvPr>
        </p:nvSpPr>
        <p:spPr>
          <a:xfrm>
            <a:off x="731520" y="3611880"/>
            <a:ext cx="10058400" cy="1097280"/>
          </a:xfrm>
          <a:prstGeom prst="rect">
            <a:avLst/>
          </a:prstGeom>
          <a:noFill/>
          <a:ln/>
        </p:spPr>
        <p:txBody>
          <a:bodyPr wrap="square" rtlCol="0" anchor="t"/>
          <a:lstStyle/>
          <a:p>
            <a:pPr indent="0" marL="0">
              <a:buNone/>
            </a:pPr>
            <a:r>
              <a:rPr lang="en-US" sz="1800" dirty="0">
                <a:solidFill>
                  <a:srgbClr val="CFE3E1"/>
                </a:solidFill>
              </a:rPr>
              <a:t>Tòa nhà thông minh tích hợp AI · Tô Ngọc Vân Building</a:t>
            </a:r>
            <a:endParaRPr lang="en-US" sz="1800" dirty="0"/>
          </a:p>
          <a:p>
            <a:pPr indent="0" marL="0">
              <a:buNone/>
            </a:pPr>
            <a:r>
              <a:rPr lang="en-US" sz="1800" dirty="0">
                <a:solidFill>
                  <a:srgbClr val="CFE3E1"/>
                </a:solidFill>
              </a:rPr>
              <a:t>Phạm vi Gimasys: nền tảng tích hợp, AI, dashboard, app cư dân, app vận hành</a:t>
            </a:r>
            <a:endParaRPr lang="en-US" sz="1800" dirty="0"/>
          </a:p>
        </p:txBody>
      </p:sp>
      <p:sp>
        <p:nvSpPr>
          <p:cNvPr id="4" name="Text 2"/>
          <p:cNvSpPr txBox="1"/>
          <p:nvPr/>
        </p:nvSpPr>
        <p:spPr>
          <a:xfrm>
            <a:off x="731520" y="6035040"/>
            <a:ext cx="7315200" cy="320040"/>
          </a:xfrm>
          <a:prstGeom prst="rect">
            <a:avLst/>
          </a:prstGeom>
          <a:noFill/>
          <a:ln/>
        </p:spPr>
        <p:txBody>
          <a:bodyPr wrap="square" lIns="0" tIns="0" rIns="0" bIns="0" rtlCol="0" anchor="ctr"/>
          <a:lstStyle/>
          <a:p>
            <a:pPr algn="l" indent="0" marL="0">
              <a:buNone/>
            </a:pPr>
            <a:r>
              <a:rPr lang="en-US" sz="1200" dirty="0">
                <a:solidFill>
                  <a:srgbClr val="9FC9C5"/>
                </a:solidFill>
                <a:latin typeface="Arial" pitchFamily="34" charset="0"/>
                <a:ea typeface="Arial" pitchFamily="34" charset="-122"/>
                <a:cs typeface="Arial" pitchFamily="34" charset="-120"/>
              </a:rPr>
              <a:t>Gimasys · Dự thảo 20/10/2026 · Tài liệu kèm hồ sơ đề xuất giải pháp</a:t>
            </a:r>
            <a:endParaRPr lang="en-US" sz="1200" dirty="0"/>
          </a:p>
        </p:txBody>
      </p:sp>
      <p:sp>
        <p:nvSpPr>
          <p:cNvPr id="5" name="Shape 3"/>
          <p:cNvSpPr/>
          <p:nvPr/>
        </p:nvSpPr>
        <p:spPr>
          <a:xfrm>
            <a:off x="731520" y="1097280"/>
            <a:ext cx="502920" cy="502920"/>
          </a:xfrm>
          <a:prstGeom prst="ellipse">
            <a:avLst/>
          </a:prstGeom>
          <a:solidFill>
            <a:srgbClr val="1B7F79"/>
          </a:solidFill>
          <a:ln/>
        </p:spPr>
      </p:sp>
      <p:pic>
        <p:nvPicPr>
          <p:cNvPr id="6" name="Image 0" descr="preencoded.png">    </p:cNvPr>
          <p:cNvPicPr>
            <a:picLocks noChangeAspect="1"/>
          </p:cNvPicPr>
          <p:nvPr/>
        </p:nvPicPr>
        <p:blipFill>
          <a:blip r:embed="rId1"/>
          <a:stretch>
            <a:fillRect/>
          </a:stretch>
        </p:blipFill>
        <p:spPr>
          <a:xfrm>
            <a:off x="850392" y="1216152"/>
            <a:ext cx="265176" cy="265176"/>
          </a:xfrm>
          <a:prstGeom prst="rect">
            <a:avLst/>
          </a:prstGeom>
        </p:spPr>
      </p:pic>
      <p:sp>
        <p:nvSpPr>
          <p:cNvPr id="7" name="Shape 4"/>
          <p:cNvSpPr/>
          <p:nvPr/>
        </p:nvSpPr>
        <p:spPr>
          <a:xfrm>
            <a:off x="1417320" y="1097280"/>
            <a:ext cx="502920" cy="502920"/>
          </a:xfrm>
          <a:prstGeom prst="ellipse">
            <a:avLst/>
          </a:prstGeom>
          <a:solidFill>
            <a:srgbClr val="1B7F79"/>
          </a:solidFill>
          <a:ln/>
        </p:spPr>
      </p:sp>
      <p:pic>
        <p:nvPicPr>
          <p:cNvPr id="8" name="Image 1" descr="preencoded.png">    </p:cNvPr>
          <p:cNvPicPr>
            <a:picLocks noChangeAspect="1"/>
          </p:cNvPicPr>
          <p:nvPr/>
        </p:nvPicPr>
        <p:blipFill>
          <a:blip r:embed="rId2"/>
          <a:stretch>
            <a:fillRect/>
          </a:stretch>
        </p:blipFill>
        <p:spPr>
          <a:xfrm>
            <a:off x="1536192" y="1216152"/>
            <a:ext cx="265176" cy="265176"/>
          </a:xfrm>
          <a:prstGeom prst="rect">
            <a:avLst/>
          </a:prstGeom>
        </p:spPr>
      </p:pic>
      <p:sp>
        <p:nvSpPr>
          <p:cNvPr id="9" name="Shape 5"/>
          <p:cNvSpPr/>
          <p:nvPr/>
        </p:nvSpPr>
        <p:spPr>
          <a:xfrm>
            <a:off x="2103120" y="1097280"/>
            <a:ext cx="502920" cy="502920"/>
          </a:xfrm>
          <a:prstGeom prst="ellipse">
            <a:avLst/>
          </a:prstGeom>
          <a:solidFill>
            <a:srgbClr val="1B7F79"/>
          </a:solidFill>
          <a:ln/>
        </p:spPr>
      </p:sp>
      <p:pic>
        <p:nvPicPr>
          <p:cNvPr id="10" name="Image 2" descr="preencoded.png">    </p:cNvPr>
          <p:cNvPicPr>
            <a:picLocks noChangeAspect="1"/>
          </p:cNvPicPr>
          <p:nvPr/>
        </p:nvPicPr>
        <p:blipFill>
          <a:blip r:embed="rId3"/>
          <a:stretch>
            <a:fillRect/>
          </a:stretch>
        </p:blipFill>
        <p:spPr>
          <a:xfrm>
            <a:off x="2221992" y="1216152"/>
            <a:ext cx="265176" cy="265176"/>
          </a:xfrm>
          <a:prstGeom prst="rect">
            <a:avLst/>
          </a:prstGeom>
        </p:spPr>
      </p:pic>
      <p:sp>
        <p:nvSpPr>
          <p:cNvPr id="11" name="Shape 6"/>
          <p:cNvSpPr/>
          <p:nvPr/>
        </p:nvSpPr>
        <p:spPr>
          <a:xfrm>
            <a:off x="2788920" y="1097280"/>
            <a:ext cx="502920" cy="502920"/>
          </a:xfrm>
          <a:prstGeom prst="ellipse">
            <a:avLst/>
          </a:prstGeom>
          <a:solidFill>
            <a:srgbClr val="1B7F79"/>
          </a:solidFill>
          <a:ln/>
        </p:spPr>
      </p:sp>
      <p:pic>
        <p:nvPicPr>
          <p:cNvPr id="12" name="Image 3" descr="preencoded.png">    </p:cNvPr>
          <p:cNvPicPr>
            <a:picLocks noChangeAspect="1"/>
          </p:cNvPicPr>
          <p:nvPr/>
        </p:nvPicPr>
        <p:blipFill>
          <a:blip r:embed="rId4"/>
          <a:stretch>
            <a:fillRect/>
          </a:stretch>
        </p:blipFill>
        <p:spPr>
          <a:xfrm>
            <a:off x="2907792" y="1216152"/>
            <a:ext cx="265176" cy="265176"/>
          </a:xfrm>
          <a:prstGeom prst="rect">
            <a:avLst/>
          </a:prstGeom>
        </p:spPr>
      </p:pic>
      <p:sp>
        <p:nvSpPr>
          <p:cNvPr id="13" name="Shape 7"/>
          <p:cNvSpPr/>
          <p:nvPr/>
        </p:nvSpPr>
        <p:spPr>
          <a:xfrm>
            <a:off x="3474720" y="1097280"/>
            <a:ext cx="502920" cy="502920"/>
          </a:xfrm>
          <a:prstGeom prst="ellipse">
            <a:avLst/>
          </a:prstGeom>
          <a:solidFill>
            <a:srgbClr val="1B7F79"/>
          </a:solidFill>
          <a:ln/>
        </p:spPr>
      </p:sp>
      <p:pic>
        <p:nvPicPr>
          <p:cNvPr id="14" name="Image 4" descr="preencoded.png">    </p:cNvPr>
          <p:cNvPicPr>
            <a:picLocks noChangeAspect="1"/>
          </p:cNvPicPr>
          <p:nvPr/>
        </p:nvPicPr>
        <p:blipFill>
          <a:blip r:embed="rId5"/>
          <a:stretch>
            <a:fillRect/>
          </a:stretch>
        </p:blipFill>
        <p:spPr>
          <a:xfrm>
            <a:off x="3593592" y="1216152"/>
            <a:ext cx="265176" cy="265176"/>
          </a:xfrm>
          <a:prstGeom prst="rect">
            <a:avLst/>
          </a:prstGeom>
        </p:spPr>
      </p:pic>
      <p:sp>
        <p:nvSpPr>
          <p:cNvPr id="15" name="Shape 8"/>
          <p:cNvSpPr/>
          <p:nvPr/>
        </p:nvSpPr>
        <p:spPr>
          <a:xfrm>
            <a:off x="4160520" y="1097280"/>
            <a:ext cx="502920" cy="502920"/>
          </a:xfrm>
          <a:prstGeom prst="ellipse">
            <a:avLst/>
          </a:prstGeom>
          <a:solidFill>
            <a:srgbClr val="1B7F79"/>
          </a:solidFill>
          <a:ln/>
        </p:spPr>
      </p:sp>
      <p:pic>
        <p:nvPicPr>
          <p:cNvPr id="16" name="Image 5" descr="preencoded.png">    </p:cNvPr>
          <p:cNvPicPr>
            <a:picLocks noChangeAspect="1"/>
          </p:cNvPicPr>
          <p:nvPr/>
        </p:nvPicPr>
        <p:blipFill>
          <a:blip r:embed="rId6"/>
          <a:stretch>
            <a:fillRect/>
          </a:stretch>
        </p:blipFill>
        <p:spPr>
          <a:xfrm>
            <a:off x="4279392" y="1216152"/>
            <a:ext cx="265176" cy="2651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Sáu nhóm người dùng, mỗi nhóm một câu hỏi cần trả lời trong 10 giây</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Thiết kế bắt đầu từ việc người dùng cần biết gì và làm gì, không bắt đầu từ dữ liệu hệ thống có gì</a:t>
            </a:r>
            <a:endParaRPr lang="en-US" sz="1300" dirty="0"/>
          </a:p>
        </p:txBody>
      </p:sp>
      <p:sp>
        <p:nvSpPr>
          <p:cNvPr id="4" name="Shape 2"/>
          <p:cNvSpPr/>
          <p:nvPr/>
        </p:nvSpPr>
        <p:spPr>
          <a:xfrm>
            <a:off x="457200" y="1371600"/>
            <a:ext cx="3566160" cy="2331720"/>
          </a:xfrm>
          <a:prstGeom prst="roundRect">
            <a:avLst>
              <a:gd name="adj" fmla="val 2353"/>
            </a:avLst>
          </a:prstGeom>
          <a:solidFill>
            <a:srgbClr val="FFFFFF"/>
          </a:solidFill>
          <a:ln w="6350">
            <a:solidFill>
              <a:srgbClr val="D5DCE3"/>
            </a:solidFill>
            <a:prstDash val="solid"/>
          </a:ln>
        </p:spPr>
      </p:sp>
      <p:sp>
        <p:nvSpPr>
          <p:cNvPr id="5" name="Shape 3"/>
          <p:cNvSpPr/>
          <p:nvPr/>
        </p:nvSpPr>
        <p:spPr>
          <a:xfrm>
            <a:off x="685800" y="1600200"/>
            <a:ext cx="548640" cy="548640"/>
          </a:xfrm>
          <a:prstGeom prst="ellipse">
            <a:avLst/>
          </a:prstGeom>
          <a:solidFill>
            <a:srgbClr val="E8F3F2"/>
          </a:solidFill>
          <a:ln/>
        </p:spPr>
      </p:sp>
      <p:pic>
        <p:nvPicPr>
          <p:cNvPr id="6" name="Image 0" descr="preencoded.png">    </p:cNvPr>
          <p:cNvPicPr>
            <a:picLocks noChangeAspect="1"/>
          </p:cNvPicPr>
          <p:nvPr/>
        </p:nvPicPr>
        <p:blipFill>
          <a:blip r:embed="rId1"/>
          <a:stretch>
            <a:fillRect/>
          </a:stretch>
        </p:blipFill>
        <p:spPr>
          <a:xfrm>
            <a:off x="813816" y="1728216"/>
            <a:ext cx="292608" cy="292608"/>
          </a:xfrm>
          <a:prstGeom prst="rect">
            <a:avLst/>
          </a:prstGeom>
        </p:spPr>
      </p:pic>
      <p:sp>
        <p:nvSpPr>
          <p:cNvPr id="7" name="Text 4"/>
          <p:cNvSpPr txBox="1"/>
          <p:nvPr/>
        </p:nvSpPr>
        <p:spPr>
          <a:xfrm>
            <a:off x="1371600" y="1600200"/>
            <a:ext cx="2514600" cy="32004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Chủ đầu tư</a:t>
            </a:r>
            <a:endParaRPr lang="en-US" sz="1500" dirty="0"/>
          </a:p>
        </p:txBody>
      </p:sp>
      <p:sp>
        <p:nvSpPr>
          <p:cNvPr id="8" name="Text 5"/>
          <p:cNvSpPr txBox="1"/>
          <p:nvPr/>
        </p:nvSpPr>
        <p:spPr>
          <a:xfrm>
            <a:off x="1371600" y="1901952"/>
            <a:ext cx="2514600" cy="274320"/>
          </a:xfrm>
          <a:prstGeom prst="rect">
            <a:avLst/>
          </a:prstGeom>
          <a:noFill/>
          <a:ln/>
        </p:spPr>
        <p:txBody>
          <a:bodyPr wrap="square" lIns="0" tIns="0" rIns="0" bIns="0" rtlCol="0" anchor="ctr"/>
          <a:lstStyle/>
          <a:p>
            <a:pPr algn="l" indent="0" marL="0">
              <a:buNone/>
            </a:pPr>
            <a:r>
              <a:rPr lang="en-US" sz="1050" dirty="0">
                <a:solidFill>
                  <a:srgbClr val="6B7785"/>
                </a:solidFill>
                <a:latin typeface="Arial" pitchFamily="34" charset="0"/>
                <a:ea typeface="Arial" pitchFamily="34" charset="-122"/>
                <a:cs typeface="Arial" pitchFamily="34" charset="-120"/>
              </a:rPr>
              <a:t>Dashboard web · báo cáo tháng</a:t>
            </a:r>
            <a:endParaRPr lang="en-US" sz="1050" dirty="0"/>
          </a:p>
        </p:txBody>
      </p:sp>
      <p:sp>
        <p:nvSpPr>
          <p:cNvPr id="9" name="Text 6"/>
          <p:cNvSpPr txBox="1"/>
          <p:nvPr/>
        </p:nvSpPr>
        <p:spPr>
          <a:xfrm>
            <a:off x="685800" y="2331720"/>
            <a:ext cx="3108960" cy="731520"/>
          </a:xfrm>
          <a:prstGeom prst="rect">
            <a:avLst/>
          </a:prstGeom>
          <a:noFill/>
          <a:ln/>
        </p:spPr>
        <p:txBody>
          <a:bodyPr wrap="square" lIns="0" tIns="0" rIns="0" bIns="0" rtlCol="0" anchor="t"/>
          <a:lstStyle/>
          <a:p>
            <a:pPr algn="l" indent="0" marL="0">
              <a:buNone/>
            </a:pPr>
            <a:r>
              <a:rPr lang="en-US" sz="1250" i="1" dirty="0">
                <a:solidFill>
                  <a:srgbClr val="1A2330"/>
                </a:solidFill>
                <a:latin typeface="Arial" pitchFamily="34" charset="0"/>
                <a:ea typeface="Arial" pitchFamily="34" charset="-122"/>
                <a:cs typeface="Arial" pitchFamily="34" charset="-120"/>
              </a:rPr>
              <a:t>“Tòa nhà vận hành tốt không, chi phí đang thế nào?”</a:t>
            </a:r>
            <a:endParaRPr lang="en-US" sz="1250" dirty="0"/>
          </a:p>
        </p:txBody>
      </p:sp>
      <p:sp>
        <p:nvSpPr>
          <p:cNvPr id="10" name="Shape 7"/>
          <p:cNvSpPr/>
          <p:nvPr/>
        </p:nvSpPr>
        <p:spPr>
          <a:xfrm>
            <a:off x="685800" y="3246120"/>
            <a:ext cx="3108960" cy="274320"/>
          </a:xfrm>
          <a:prstGeom prst="roundRect">
            <a:avLst>
              <a:gd name="adj" fmla="val 33333"/>
            </a:avLst>
          </a:prstGeom>
          <a:solidFill>
            <a:srgbClr val="1B7F79"/>
          </a:solidFill>
          <a:ln/>
        </p:spPr>
      </p:sp>
      <p:sp>
        <p:nvSpPr>
          <p:cNvPr id="11" name="Text 8"/>
          <p:cNvSpPr txBox="1"/>
          <p:nvPr/>
        </p:nvSpPr>
        <p:spPr>
          <a:xfrm>
            <a:off x="685800" y="3246120"/>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Màn hình: Tổng quan CĐT</a:t>
            </a:r>
            <a:endParaRPr lang="en-US" sz="1000" dirty="0"/>
          </a:p>
        </p:txBody>
      </p:sp>
      <p:sp>
        <p:nvSpPr>
          <p:cNvPr id="12" name="Shape 9"/>
          <p:cNvSpPr/>
          <p:nvPr/>
        </p:nvSpPr>
        <p:spPr>
          <a:xfrm>
            <a:off x="4251960" y="1371600"/>
            <a:ext cx="3566160" cy="2331720"/>
          </a:xfrm>
          <a:prstGeom prst="roundRect">
            <a:avLst>
              <a:gd name="adj" fmla="val 2353"/>
            </a:avLst>
          </a:prstGeom>
          <a:solidFill>
            <a:srgbClr val="FFFFFF"/>
          </a:solidFill>
          <a:ln w="6350">
            <a:solidFill>
              <a:srgbClr val="D5DCE3"/>
            </a:solidFill>
            <a:prstDash val="solid"/>
          </a:ln>
        </p:spPr>
      </p:sp>
      <p:sp>
        <p:nvSpPr>
          <p:cNvPr id="13" name="Shape 10"/>
          <p:cNvSpPr/>
          <p:nvPr/>
        </p:nvSpPr>
        <p:spPr>
          <a:xfrm>
            <a:off x="4480560" y="1600200"/>
            <a:ext cx="548640" cy="548640"/>
          </a:xfrm>
          <a:prstGeom prst="ellipse">
            <a:avLst/>
          </a:prstGeom>
          <a:solidFill>
            <a:srgbClr val="E8F3F2"/>
          </a:solidFill>
          <a:ln/>
        </p:spPr>
      </p:sp>
      <p:pic>
        <p:nvPicPr>
          <p:cNvPr id="14" name="Image 1" descr="preencoded.png">    </p:cNvPr>
          <p:cNvPicPr>
            <a:picLocks noChangeAspect="1"/>
          </p:cNvPicPr>
          <p:nvPr/>
        </p:nvPicPr>
        <p:blipFill>
          <a:blip r:embed="rId2"/>
          <a:stretch>
            <a:fillRect/>
          </a:stretch>
        </p:blipFill>
        <p:spPr>
          <a:xfrm>
            <a:off x="4608576" y="1728216"/>
            <a:ext cx="292608" cy="292608"/>
          </a:xfrm>
          <a:prstGeom prst="rect">
            <a:avLst/>
          </a:prstGeom>
        </p:spPr>
      </p:pic>
      <p:sp>
        <p:nvSpPr>
          <p:cNvPr id="15" name="Text 11"/>
          <p:cNvSpPr txBox="1"/>
          <p:nvPr/>
        </p:nvSpPr>
        <p:spPr>
          <a:xfrm>
            <a:off x="5166360" y="1600200"/>
            <a:ext cx="2514600" cy="32004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Trưởng ban quản lý</a:t>
            </a:r>
            <a:endParaRPr lang="en-US" sz="1500" dirty="0"/>
          </a:p>
        </p:txBody>
      </p:sp>
      <p:sp>
        <p:nvSpPr>
          <p:cNvPr id="16" name="Text 12"/>
          <p:cNvSpPr txBox="1"/>
          <p:nvPr/>
        </p:nvSpPr>
        <p:spPr>
          <a:xfrm>
            <a:off x="5166360" y="1901952"/>
            <a:ext cx="2514600" cy="274320"/>
          </a:xfrm>
          <a:prstGeom prst="rect">
            <a:avLst/>
          </a:prstGeom>
          <a:noFill/>
          <a:ln/>
        </p:spPr>
        <p:txBody>
          <a:bodyPr wrap="square" lIns="0" tIns="0" rIns="0" bIns="0" rtlCol="0" anchor="ctr"/>
          <a:lstStyle/>
          <a:p>
            <a:pPr algn="l" indent="0" marL="0">
              <a:buNone/>
            </a:pPr>
            <a:r>
              <a:rPr lang="en-US" sz="1050" dirty="0">
                <a:solidFill>
                  <a:srgbClr val="6B7785"/>
                </a:solidFill>
                <a:latin typeface="Arial" pitchFamily="34" charset="0"/>
                <a:ea typeface="Arial" pitchFamily="34" charset="-122"/>
                <a:cs typeface="Arial" pitchFamily="34" charset="-120"/>
              </a:rPr>
              <a:t>Web vận hành · app vận hành</a:t>
            </a:r>
            <a:endParaRPr lang="en-US" sz="1050" dirty="0"/>
          </a:p>
        </p:txBody>
      </p:sp>
      <p:sp>
        <p:nvSpPr>
          <p:cNvPr id="17" name="Text 13"/>
          <p:cNvSpPr txBox="1"/>
          <p:nvPr/>
        </p:nvSpPr>
        <p:spPr>
          <a:xfrm>
            <a:off x="4480560" y="2331720"/>
            <a:ext cx="3108960" cy="731520"/>
          </a:xfrm>
          <a:prstGeom prst="rect">
            <a:avLst/>
          </a:prstGeom>
          <a:noFill/>
          <a:ln/>
        </p:spPr>
        <p:txBody>
          <a:bodyPr wrap="square" lIns="0" tIns="0" rIns="0" bIns="0" rtlCol="0" anchor="t"/>
          <a:lstStyle/>
          <a:p>
            <a:pPr algn="l" indent="0" marL="0">
              <a:buNone/>
            </a:pPr>
            <a:r>
              <a:rPr lang="en-US" sz="1250" i="1" dirty="0">
                <a:solidFill>
                  <a:srgbClr val="1A2330"/>
                </a:solidFill>
                <a:latin typeface="Arial" pitchFamily="34" charset="0"/>
                <a:ea typeface="Arial" pitchFamily="34" charset="-122"/>
                <a:cs typeface="Arial" pitchFamily="34" charset="-120"/>
              </a:rPr>
              <a:t>“Việc gì cần tôi quyết định ngay?”</a:t>
            </a:r>
            <a:endParaRPr lang="en-US" sz="1250" dirty="0"/>
          </a:p>
        </p:txBody>
      </p:sp>
      <p:sp>
        <p:nvSpPr>
          <p:cNvPr id="18" name="Shape 14"/>
          <p:cNvSpPr/>
          <p:nvPr/>
        </p:nvSpPr>
        <p:spPr>
          <a:xfrm>
            <a:off x="4480560" y="3246120"/>
            <a:ext cx="3108960" cy="274320"/>
          </a:xfrm>
          <a:prstGeom prst="roundRect">
            <a:avLst>
              <a:gd name="adj" fmla="val 33333"/>
            </a:avLst>
          </a:prstGeom>
          <a:solidFill>
            <a:srgbClr val="1B7F79"/>
          </a:solidFill>
          <a:ln/>
        </p:spPr>
      </p:sp>
      <p:sp>
        <p:nvSpPr>
          <p:cNvPr id="19" name="Text 15"/>
          <p:cNvSpPr txBox="1"/>
          <p:nvPr/>
        </p:nvSpPr>
        <p:spPr>
          <a:xfrm>
            <a:off x="4480560" y="3246120"/>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Màn hình: Cảnh báo · duyệt lệnh AI</a:t>
            </a:r>
            <a:endParaRPr lang="en-US" sz="1000" dirty="0"/>
          </a:p>
        </p:txBody>
      </p:sp>
      <p:sp>
        <p:nvSpPr>
          <p:cNvPr id="20" name="Shape 16"/>
          <p:cNvSpPr/>
          <p:nvPr/>
        </p:nvSpPr>
        <p:spPr>
          <a:xfrm>
            <a:off x="8046720" y="1371600"/>
            <a:ext cx="3566160" cy="2331720"/>
          </a:xfrm>
          <a:prstGeom prst="roundRect">
            <a:avLst>
              <a:gd name="adj" fmla="val 2353"/>
            </a:avLst>
          </a:prstGeom>
          <a:solidFill>
            <a:srgbClr val="FFFFFF"/>
          </a:solidFill>
          <a:ln w="6350">
            <a:solidFill>
              <a:srgbClr val="D5DCE3"/>
            </a:solidFill>
            <a:prstDash val="solid"/>
          </a:ln>
        </p:spPr>
      </p:sp>
      <p:sp>
        <p:nvSpPr>
          <p:cNvPr id="21" name="Shape 17"/>
          <p:cNvSpPr/>
          <p:nvPr/>
        </p:nvSpPr>
        <p:spPr>
          <a:xfrm>
            <a:off x="8275320" y="1600200"/>
            <a:ext cx="548640" cy="548640"/>
          </a:xfrm>
          <a:prstGeom prst="ellipse">
            <a:avLst/>
          </a:prstGeom>
          <a:solidFill>
            <a:srgbClr val="E8F3F2"/>
          </a:solidFill>
          <a:ln/>
        </p:spPr>
      </p:sp>
      <p:pic>
        <p:nvPicPr>
          <p:cNvPr id="22" name="Image 2" descr="preencoded.png">    </p:cNvPr>
          <p:cNvPicPr>
            <a:picLocks noChangeAspect="1"/>
          </p:cNvPicPr>
          <p:nvPr/>
        </p:nvPicPr>
        <p:blipFill>
          <a:blip r:embed="rId3"/>
          <a:stretch>
            <a:fillRect/>
          </a:stretch>
        </p:blipFill>
        <p:spPr>
          <a:xfrm>
            <a:off x="8403336" y="1728216"/>
            <a:ext cx="292608" cy="292608"/>
          </a:xfrm>
          <a:prstGeom prst="rect">
            <a:avLst/>
          </a:prstGeom>
        </p:spPr>
      </p:pic>
      <p:sp>
        <p:nvSpPr>
          <p:cNvPr id="23" name="Text 18"/>
          <p:cNvSpPr txBox="1"/>
          <p:nvPr/>
        </p:nvSpPr>
        <p:spPr>
          <a:xfrm>
            <a:off x="8961120" y="1600200"/>
            <a:ext cx="2514600" cy="32004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Bảo vệ</a:t>
            </a:r>
            <a:endParaRPr lang="en-US" sz="1500" dirty="0"/>
          </a:p>
        </p:txBody>
      </p:sp>
      <p:sp>
        <p:nvSpPr>
          <p:cNvPr id="24" name="Text 19"/>
          <p:cNvSpPr txBox="1"/>
          <p:nvPr/>
        </p:nvSpPr>
        <p:spPr>
          <a:xfrm>
            <a:off x="8961120" y="1901952"/>
            <a:ext cx="2514600" cy="274320"/>
          </a:xfrm>
          <a:prstGeom prst="rect">
            <a:avLst/>
          </a:prstGeom>
          <a:noFill/>
          <a:ln/>
        </p:spPr>
        <p:txBody>
          <a:bodyPr wrap="square" lIns="0" tIns="0" rIns="0" bIns="0" rtlCol="0" anchor="ctr"/>
          <a:lstStyle/>
          <a:p>
            <a:pPr algn="l" indent="0" marL="0">
              <a:buNone/>
            </a:pPr>
            <a:r>
              <a:rPr lang="en-US" sz="1050" dirty="0">
                <a:solidFill>
                  <a:srgbClr val="6B7785"/>
                </a:solidFill>
                <a:latin typeface="Arial" pitchFamily="34" charset="0"/>
                <a:ea typeface="Arial" pitchFamily="34" charset="-122"/>
                <a:cs typeface="Arial" pitchFamily="34" charset="-120"/>
              </a:rPr>
              <a:t>Màn hình phòng bảo vệ B2 · app</a:t>
            </a:r>
            <a:endParaRPr lang="en-US" sz="1050" dirty="0"/>
          </a:p>
        </p:txBody>
      </p:sp>
      <p:sp>
        <p:nvSpPr>
          <p:cNvPr id="25" name="Text 20"/>
          <p:cNvSpPr txBox="1"/>
          <p:nvPr/>
        </p:nvSpPr>
        <p:spPr>
          <a:xfrm>
            <a:off x="8275320" y="2331720"/>
            <a:ext cx="3108960" cy="731520"/>
          </a:xfrm>
          <a:prstGeom prst="rect">
            <a:avLst/>
          </a:prstGeom>
          <a:noFill/>
          <a:ln/>
        </p:spPr>
        <p:txBody>
          <a:bodyPr wrap="square" lIns="0" tIns="0" rIns="0" bIns="0" rtlCol="0" anchor="t"/>
          <a:lstStyle/>
          <a:p>
            <a:pPr algn="l" indent="0" marL="0">
              <a:buNone/>
            </a:pPr>
            <a:r>
              <a:rPr lang="en-US" sz="1250" i="1" dirty="0">
                <a:solidFill>
                  <a:srgbClr val="1A2330"/>
                </a:solidFill>
                <a:latin typeface="Arial" pitchFamily="34" charset="0"/>
                <a:ea typeface="Arial" pitchFamily="34" charset="-122"/>
                <a:cs typeface="Arial" pitchFamily="34" charset="-120"/>
              </a:rPr>
              <a:t>“Có ai ở nơi không được phép không?”</a:t>
            </a:r>
            <a:endParaRPr lang="en-US" sz="1250" dirty="0"/>
          </a:p>
        </p:txBody>
      </p:sp>
      <p:sp>
        <p:nvSpPr>
          <p:cNvPr id="26" name="Shape 21"/>
          <p:cNvSpPr/>
          <p:nvPr/>
        </p:nvSpPr>
        <p:spPr>
          <a:xfrm>
            <a:off x="8275320" y="3246120"/>
            <a:ext cx="3108960" cy="274320"/>
          </a:xfrm>
          <a:prstGeom prst="roundRect">
            <a:avLst>
              <a:gd name="adj" fmla="val 33333"/>
            </a:avLst>
          </a:prstGeom>
          <a:solidFill>
            <a:srgbClr val="1B7F79"/>
          </a:solidFill>
          <a:ln/>
        </p:spPr>
      </p:sp>
      <p:sp>
        <p:nvSpPr>
          <p:cNvPr id="27" name="Text 22"/>
          <p:cNvSpPr txBox="1"/>
          <p:nvPr/>
        </p:nvSpPr>
        <p:spPr>
          <a:xfrm>
            <a:off x="8275320" y="3246120"/>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Màn hình: An ninh &amp; vào ra</a:t>
            </a:r>
            <a:endParaRPr lang="en-US" sz="1000" dirty="0"/>
          </a:p>
        </p:txBody>
      </p:sp>
      <p:sp>
        <p:nvSpPr>
          <p:cNvPr id="28" name="Shape 23"/>
          <p:cNvSpPr/>
          <p:nvPr/>
        </p:nvSpPr>
        <p:spPr>
          <a:xfrm>
            <a:off x="457200" y="3931920"/>
            <a:ext cx="3566160" cy="2331720"/>
          </a:xfrm>
          <a:prstGeom prst="roundRect">
            <a:avLst>
              <a:gd name="adj" fmla="val 2353"/>
            </a:avLst>
          </a:prstGeom>
          <a:solidFill>
            <a:srgbClr val="FFFFFF"/>
          </a:solidFill>
          <a:ln w="6350">
            <a:solidFill>
              <a:srgbClr val="D5DCE3"/>
            </a:solidFill>
            <a:prstDash val="solid"/>
          </a:ln>
        </p:spPr>
      </p:sp>
      <p:sp>
        <p:nvSpPr>
          <p:cNvPr id="29" name="Shape 24"/>
          <p:cNvSpPr/>
          <p:nvPr/>
        </p:nvSpPr>
        <p:spPr>
          <a:xfrm>
            <a:off x="685800" y="4160520"/>
            <a:ext cx="548640" cy="548640"/>
          </a:xfrm>
          <a:prstGeom prst="ellipse">
            <a:avLst/>
          </a:prstGeom>
          <a:solidFill>
            <a:srgbClr val="E8F3F2"/>
          </a:solidFill>
          <a:ln/>
        </p:spPr>
      </p:sp>
      <p:pic>
        <p:nvPicPr>
          <p:cNvPr id="30" name="Image 3" descr="preencoded.png">    </p:cNvPr>
          <p:cNvPicPr>
            <a:picLocks noChangeAspect="1"/>
          </p:cNvPicPr>
          <p:nvPr/>
        </p:nvPicPr>
        <p:blipFill>
          <a:blip r:embed="rId4"/>
          <a:stretch>
            <a:fillRect/>
          </a:stretch>
        </p:blipFill>
        <p:spPr>
          <a:xfrm>
            <a:off x="813816" y="4288536"/>
            <a:ext cx="292608" cy="292608"/>
          </a:xfrm>
          <a:prstGeom prst="rect">
            <a:avLst/>
          </a:prstGeom>
        </p:spPr>
      </p:pic>
      <p:sp>
        <p:nvSpPr>
          <p:cNvPr id="31" name="Text 25"/>
          <p:cNvSpPr txBox="1"/>
          <p:nvPr/>
        </p:nvSpPr>
        <p:spPr>
          <a:xfrm>
            <a:off x="1371600" y="4160520"/>
            <a:ext cx="2514600" cy="32004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Kỹ thuật</a:t>
            </a:r>
            <a:endParaRPr lang="en-US" sz="1500" dirty="0"/>
          </a:p>
        </p:txBody>
      </p:sp>
      <p:sp>
        <p:nvSpPr>
          <p:cNvPr id="32" name="Text 26"/>
          <p:cNvSpPr txBox="1"/>
          <p:nvPr/>
        </p:nvSpPr>
        <p:spPr>
          <a:xfrm>
            <a:off x="1371600" y="4462272"/>
            <a:ext cx="2514600" cy="274320"/>
          </a:xfrm>
          <a:prstGeom prst="rect">
            <a:avLst/>
          </a:prstGeom>
          <a:noFill/>
          <a:ln/>
        </p:spPr>
        <p:txBody>
          <a:bodyPr wrap="square" lIns="0" tIns="0" rIns="0" bIns="0" rtlCol="0" anchor="ctr"/>
          <a:lstStyle/>
          <a:p>
            <a:pPr algn="l" indent="0" marL="0">
              <a:buNone/>
            </a:pPr>
            <a:r>
              <a:rPr lang="en-US" sz="1050" dirty="0">
                <a:solidFill>
                  <a:srgbClr val="6B7785"/>
                </a:solidFill>
                <a:latin typeface="Arial" pitchFamily="34" charset="0"/>
                <a:ea typeface="Arial" pitchFamily="34" charset="-122"/>
                <a:cs typeface="Arial" pitchFamily="34" charset="-120"/>
              </a:rPr>
              <a:t>App vận hành trên điện thoại</a:t>
            </a:r>
            <a:endParaRPr lang="en-US" sz="1050" dirty="0"/>
          </a:p>
        </p:txBody>
      </p:sp>
      <p:sp>
        <p:nvSpPr>
          <p:cNvPr id="33" name="Text 27"/>
          <p:cNvSpPr txBox="1"/>
          <p:nvPr/>
        </p:nvSpPr>
        <p:spPr>
          <a:xfrm>
            <a:off x="685800" y="4892040"/>
            <a:ext cx="3108960" cy="731520"/>
          </a:xfrm>
          <a:prstGeom prst="rect">
            <a:avLst/>
          </a:prstGeom>
          <a:noFill/>
          <a:ln/>
        </p:spPr>
        <p:txBody>
          <a:bodyPr wrap="square" lIns="0" tIns="0" rIns="0" bIns="0" rtlCol="0" anchor="t"/>
          <a:lstStyle/>
          <a:p>
            <a:pPr algn="l" indent="0" marL="0">
              <a:buNone/>
            </a:pPr>
            <a:r>
              <a:rPr lang="en-US" sz="1250" i="1" dirty="0">
                <a:solidFill>
                  <a:srgbClr val="1A2330"/>
                </a:solidFill>
                <a:latin typeface="Arial" pitchFamily="34" charset="0"/>
                <a:ea typeface="Arial" pitchFamily="34" charset="-122"/>
                <a:cs typeface="Arial" pitchFamily="34" charset="-120"/>
              </a:rPr>
              <a:t>“Thiết bị nào sắp hỏng, tôi sửa gì trước?”</a:t>
            </a:r>
            <a:endParaRPr lang="en-US" sz="1250" dirty="0"/>
          </a:p>
        </p:txBody>
      </p:sp>
      <p:sp>
        <p:nvSpPr>
          <p:cNvPr id="34" name="Shape 28"/>
          <p:cNvSpPr/>
          <p:nvPr/>
        </p:nvSpPr>
        <p:spPr>
          <a:xfrm>
            <a:off x="685800" y="5806440"/>
            <a:ext cx="3108960" cy="274320"/>
          </a:xfrm>
          <a:prstGeom prst="roundRect">
            <a:avLst>
              <a:gd name="adj" fmla="val 33333"/>
            </a:avLst>
          </a:prstGeom>
          <a:solidFill>
            <a:srgbClr val="1B7F79"/>
          </a:solidFill>
          <a:ln/>
        </p:spPr>
      </p:sp>
      <p:sp>
        <p:nvSpPr>
          <p:cNvPr id="35" name="Text 29"/>
          <p:cNvSpPr txBox="1"/>
          <p:nvPr/>
        </p:nvSpPr>
        <p:spPr>
          <a:xfrm>
            <a:off x="685800" y="5806440"/>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Màn hình: Thiết bị · phiếu việc</a:t>
            </a:r>
            <a:endParaRPr lang="en-US" sz="1000" dirty="0"/>
          </a:p>
        </p:txBody>
      </p:sp>
      <p:sp>
        <p:nvSpPr>
          <p:cNvPr id="36" name="Shape 30"/>
          <p:cNvSpPr/>
          <p:nvPr/>
        </p:nvSpPr>
        <p:spPr>
          <a:xfrm>
            <a:off x="4251960" y="3931920"/>
            <a:ext cx="3566160" cy="2331720"/>
          </a:xfrm>
          <a:prstGeom prst="roundRect">
            <a:avLst>
              <a:gd name="adj" fmla="val 2353"/>
            </a:avLst>
          </a:prstGeom>
          <a:solidFill>
            <a:srgbClr val="FFFFFF"/>
          </a:solidFill>
          <a:ln w="6350">
            <a:solidFill>
              <a:srgbClr val="D5DCE3"/>
            </a:solidFill>
            <a:prstDash val="solid"/>
          </a:ln>
        </p:spPr>
      </p:sp>
      <p:sp>
        <p:nvSpPr>
          <p:cNvPr id="37" name="Shape 31"/>
          <p:cNvSpPr/>
          <p:nvPr/>
        </p:nvSpPr>
        <p:spPr>
          <a:xfrm>
            <a:off x="4480560" y="4160520"/>
            <a:ext cx="548640" cy="548640"/>
          </a:xfrm>
          <a:prstGeom prst="ellipse">
            <a:avLst/>
          </a:prstGeom>
          <a:solidFill>
            <a:srgbClr val="E8F3F2"/>
          </a:solidFill>
          <a:ln/>
        </p:spPr>
      </p:sp>
      <p:pic>
        <p:nvPicPr>
          <p:cNvPr id="38" name="Image 4" descr="preencoded.png">    </p:cNvPr>
          <p:cNvPicPr>
            <a:picLocks noChangeAspect="1"/>
          </p:cNvPicPr>
          <p:nvPr/>
        </p:nvPicPr>
        <p:blipFill>
          <a:blip r:embed="rId5"/>
          <a:stretch>
            <a:fillRect/>
          </a:stretch>
        </p:blipFill>
        <p:spPr>
          <a:xfrm>
            <a:off x="4608576" y="4288536"/>
            <a:ext cx="292608" cy="292608"/>
          </a:xfrm>
          <a:prstGeom prst="rect">
            <a:avLst/>
          </a:prstGeom>
        </p:spPr>
      </p:pic>
      <p:sp>
        <p:nvSpPr>
          <p:cNvPr id="39" name="Text 32"/>
          <p:cNvSpPr txBox="1"/>
          <p:nvPr/>
        </p:nvSpPr>
        <p:spPr>
          <a:xfrm>
            <a:off x="5166360" y="4160520"/>
            <a:ext cx="2514600" cy="32004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Cư dân 16 căn hộ</a:t>
            </a:r>
            <a:endParaRPr lang="en-US" sz="1500" dirty="0"/>
          </a:p>
        </p:txBody>
      </p:sp>
      <p:sp>
        <p:nvSpPr>
          <p:cNvPr id="40" name="Text 33"/>
          <p:cNvSpPr txBox="1"/>
          <p:nvPr/>
        </p:nvSpPr>
        <p:spPr>
          <a:xfrm>
            <a:off x="5166360" y="4462272"/>
            <a:ext cx="2514600" cy="274320"/>
          </a:xfrm>
          <a:prstGeom prst="rect">
            <a:avLst/>
          </a:prstGeom>
          <a:noFill/>
          <a:ln/>
        </p:spPr>
        <p:txBody>
          <a:bodyPr wrap="square" lIns="0" tIns="0" rIns="0" bIns="0" rtlCol="0" anchor="ctr"/>
          <a:lstStyle/>
          <a:p>
            <a:pPr algn="l" indent="0" marL="0">
              <a:buNone/>
            </a:pPr>
            <a:r>
              <a:rPr lang="en-US" sz="1050" dirty="0">
                <a:solidFill>
                  <a:srgbClr val="6B7785"/>
                </a:solidFill>
                <a:latin typeface="Arial" pitchFamily="34" charset="0"/>
                <a:ea typeface="Arial" pitchFamily="34" charset="-122"/>
                <a:cs typeface="Arial" pitchFamily="34" charset="-120"/>
              </a:rPr>
              <a:t>App cư dân iOS/Android</a:t>
            </a:r>
            <a:endParaRPr lang="en-US" sz="1050" dirty="0"/>
          </a:p>
        </p:txBody>
      </p:sp>
      <p:sp>
        <p:nvSpPr>
          <p:cNvPr id="41" name="Text 34"/>
          <p:cNvSpPr txBox="1"/>
          <p:nvPr/>
        </p:nvSpPr>
        <p:spPr>
          <a:xfrm>
            <a:off x="4480560" y="4892040"/>
            <a:ext cx="3108960" cy="731520"/>
          </a:xfrm>
          <a:prstGeom prst="rect">
            <a:avLst/>
          </a:prstGeom>
          <a:noFill/>
          <a:ln/>
        </p:spPr>
        <p:txBody>
          <a:bodyPr wrap="square" lIns="0" tIns="0" rIns="0" bIns="0" rtlCol="0" anchor="t"/>
          <a:lstStyle/>
          <a:p>
            <a:pPr algn="l" indent="0" marL="0">
              <a:buNone/>
            </a:pPr>
            <a:r>
              <a:rPr lang="en-US" sz="1250" i="1" dirty="0">
                <a:solidFill>
                  <a:srgbClr val="1A2330"/>
                </a:solidFill>
                <a:latin typeface="Arial" pitchFamily="34" charset="0"/>
                <a:ea typeface="Arial" pitchFamily="34" charset="-122"/>
                <a:cs typeface="Arial" pitchFamily="34" charset="-120"/>
              </a:rPr>
              <a:t>“Khách tôi vào được chưa, tháng này hết bao nhiêu tiền?”</a:t>
            </a:r>
            <a:endParaRPr lang="en-US" sz="1250" dirty="0"/>
          </a:p>
        </p:txBody>
      </p:sp>
      <p:sp>
        <p:nvSpPr>
          <p:cNvPr id="42" name="Shape 35"/>
          <p:cNvSpPr/>
          <p:nvPr/>
        </p:nvSpPr>
        <p:spPr>
          <a:xfrm>
            <a:off x="4480560" y="5806440"/>
            <a:ext cx="3108960" cy="274320"/>
          </a:xfrm>
          <a:prstGeom prst="roundRect">
            <a:avLst>
              <a:gd name="adj" fmla="val 33333"/>
            </a:avLst>
          </a:prstGeom>
          <a:solidFill>
            <a:srgbClr val="1B7F79"/>
          </a:solidFill>
          <a:ln/>
        </p:spPr>
      </p:sp>
      <p:sp>
        <p:nvSpPr>
          <p:cNvPr id="43" name="Text 36"/>
          <p:cNvSpPr txBox="1"/>
          <p:nvPr/>
        </p:nvSpPr>
        <p:spPr>
          <a:xfrm>
            <a:off x="4480560" y="5806440"/>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Màn hình: Mời khách · hóa đơn</a:t>
            </a:r>
            <a:endParaRPr lang="en-US" sz="1000" dirty="0"/>
          </a:p>
        </p:txBody>
      </p:sp>
      <p:sp>
        <p:nvSpPr>
          <p:cNvPr id="44" name="Shape 37"/>
          <p:cNvSpPr/>
          <p:nvPr/>
        </p:nvSpPr>
        <p:spPr>
          <a:xfrm>
            <a:off x="8046720" y="3931920"/>
            <a:ext cx="3566160" cy="2331720"/>
          </a:xfrm>
          <a:prstGeom prst="roundRect">
            <a:avLst>
              <a:gd name="adj" fmla="val 2353"/>
            </a:avLst>
          </a:prstGeom>
          <a:solidFill>
            <a:srgbClr val="FFFFFF"/>
          </a:solidFill>
          <a:ln w="6350">
            <a:solidFill>
              <a:srgbClr val="D5DCE3"/>
            </a:solidFill>
            <a:prstDash val="solid"/>
          </a:ln>
        </p:spPr>
      </p:sp>
      <p:sp>
        <p:nvSpPr>
          <p:cNvPr id="45" name="Shape 38"/>
          <p:cNvSpPr/>
          <p:nvPr/>
        </p:nvSpPr>
        <p:spPr>
          <a:xfrm>
            <a:off x="8275320" y="4160520"/>
            <a:ext cx="548640" cy="548640"/>
          </a:xfrm>
          <a:prstGeom prst="ellipse">
            <a:avLst/>
          </a:prstGeom>
          <a:solidFill>
            <a:srgbClr val="E8F3F2"/>
          </a:solidFill>
          <a:ln/>
        </p:spPr>
      </p:sp>
      <p:pic>
        <p:nvPicPr>
          <p:cNvPr id="46" name="Image 5" descr="preencoded.png">    </p:cNvPr>
          <p:cNvPicPr>
            <a:picLocks noChangeAspect="1"/>
          </p:cNvPicPr>
          <p:nvPr/>
        </p:nvPicPr>
        <p:blipFill>
          <a:blip r:embed="rId6"/>
          <a:stretch>
            <a:fillRect/>
          </a:stretch>
        </p:blipFill>
        <p:spPr>
          <a:xfrm>
            <a:off x="8403336" y="4288536"/>
            <a:ext cx="292608" cy="292608"/>
          </a:xfrm>
          <a:prstGeom prst="rect">
            <a:avLst/>
          </a:prstGeom>
        </p:spPr>
      </p:pic>
      <p:sp>
        <p:nvSpPr>
          <p:cNvPr id="47" name="Text 39"/>
          <p:cNvSpPr txBox="1"/>
          <p:nvPr/>
        </p:nvSpPr>
        <p:spPr>
          <a:xfrm>
            <a:off x="8961120" y="4160520"/>
            <a:ext cx="2514600" cy="32004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Khách thuê thương mại</a:t>
            </a:r>
            <a:endParaRPr lang="en-US" sz="1500" dirty="0"/>
          </a:p>
        </p:txBody>
      </p:sp>
      <p:sp>
        <p:nvSpPr>
          <p:cNvPr id="48" name="Text 40"/>
          <p:cNvSpPr txBox="1"/>
          <p:nvPr/>
        </p:nvSpPr>
        <p:spPr>
          <a:xfrm>
            <a:off x="8961120" y="4462272"/>
            <a:ext cx="2514600" cy="274320"/>
          </a:xfrm>
          <a:prstGeom prst="rect">
            <a:avLst/>
          </a:prstGeom>
          <a:noFill/>
          <a:ln/>
        </p:spPr>
        <p:txBody>
          <a:bodyPr wrap="square" lIns="0" tIns="0" rIns="0" bIns="0" rtlCol="0" anchor="ctr"/>
          <a:lstStyle/>
          <a:p>
            <a:pPr algn="l" indent="0" marL="0">
              <a:buNone/>
            </a:pPr>
            <a:r>
              <a:rPr lang="en-US" sz="1050" dirty="0">
                <a:solidFill>
                  <a:srgbClr val="6B7785"/>
                </a:solidFill>
                <a:latin typeface="Arial" pitchFamily="34" charset="0"/>
                <a:ea typeface="Arial" pitchFamily="34" charset="-122"/>
                <a:cs typeface="Arial" pitchFamily="34" charset="-120"/>
              </a:rPr>
              <a:t>App cư dân (tài khoản doanh nghiệp)</a:t>
            </a:r>
            <a:endParaRPr lang="en-US" sz="1050" dirty="0"/>
          </a:p>
        </p:txBody>
      </p:sp>
      <p:sp>
        <p:nvSpPr>
          <p:cNvPr id="49" name="Text 41"/>
          <p:cNvSpPr txBox="1"/>
          <p:nvPr/>
        </p:nvSpPr>
        <p:spPr>
          <a:xfrm>
            <a:off x="8275320" y="4892040"/>
            <a:ext cx="3108960" cy="731520"/>
          </a:xfrm>
          <a:prstGeom prst="rect">
            <a:avLst/>
          </a:prstGeom>
          <a:noFill/>
          <a:ln/>
        </p:spPr>
        <p:txBody>
          <a:bodyPr wrap="square" lIns="0" tIns="0" rIns="0" bIns="0" rtlCol="0" anchor="t"/>
          <a:lstStyle/>
          <a:p>
            <a:pPr algn="l" indent="0" marL="0">
              <a:buNone/>
            </a:pPr>
            <a:r>
              <a:rPr lang="en-US" sz="1250" i="1" dirty="0">
                <a:solidFill>
                  <a:srgbClr val="1A2330"/>
                </a:solidFill>
                <a:latin typeface="Arial" pitchFamily="34" charset="0"/>
                <a:ea typeface="Arial" pitchFamily="34" charset="-122"/>
                <a:cs typeface="Arial" pitchFamily="34" charset="-120"/>
              </a:rPr>
              <a:t>“Nhân viên tôi vào đúng giờ, hóa đơn khu thuê?”</a:t>
            </a:r>
            <a:endParaRPr lang="en-US" sz="1250" dirty="0"/>
          </a:p>
        </p:txBody>
      </p:sp>
      <p:sp>
        <p:nvSpPr>
          <p:cNvPr id="50" name="Shape 42"/>
          <p:cNvSpPr/>
          <p:nvPr/>
        </p:nvSpPr>
        <p:spPr>
          <a:xfrm>
            <a:off x="8275320" y="5806440"/>
            <a:ext cx="3108960" cy="274320"/>
          </a:xfrm>
          <a:prstGeom prst="roundRect">
            <a:avLst>
              <a:gd name="adj" fmla="val 33333"/>
            </a:avLst>
          </a:prstGeom>
          <a:solidFill>
            <a:srgbClr val="1B7F79"/>
          </a:solidFill>
          <a:ln/>
        </p:spPr>
      </p:sp>
      <p:sp>
        <p:nvSpPr>
          <p:cNvPr id="51" name="Text 43"/>
          <p:cNvSpPr txBox="1"/>
          <p:nvPr/>
        </p:nvSpPr>
        <p:spPr>
          <a:xfrm>
            <a:off x="8275320" y="5806440"/>
            <a:ext cx="3108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Màn hình: Quyền vào ra · hóa đơn</a:t>
            </a:r>
            <a:endParaRPr lang="en-US" sz="100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Ba sản phẩm dùng chung một nền tảng dữ liệu và phân quyền</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Cấu trúc thông tin (★ = có trong bộ prototype này)</a:t>
            </a:r>
            <a:endParaRPr lang="en-US" sz="1300" dirty="0"/>
          </a:p>
        </p:txBody>
      </p:sp>
      <p:sp>
        <p:nvSpPr>
          <p:cNvPr id="4" name="Shape 2"/>
          <p:cNvSpPr/>
          <p:nvPr/>
        </p:nvSpPr>
        <p:spPr>
          <a:xfrm>
            <a:off x="457200" y="1371600"/>
            <a:ext cx="3566160" cy="868680"/>
          </a:xfrm>
          <a:prstGeom prst="roundRect">
            <a:avLst>
              <a:gd name="adj" fmla="val 6316"/>
            </a:avLst>
          </a:prstGeom>
          <a:solidFill>
            <a:srgbClr val="12324A"/>
          </a:solidFill>
          <a:ln/>
        </p:spPr>
      </p:sp>
      <p:pic>
        <p:nvPicPr>
          <p:cNvPr id="5" name="Image 0" descr="preencoded.png">    </p:cNvPr>
          <p:cNvPicPr>
            <a:picLocks noChangeAspect="1"/>
          </p:cNvPicPr>
          <p:nvPr/>
        </p:nvPicPr>
        <p:blipFill>
          <a:blip r:embed="rId1"/>
          <a:stretch>
            <a:fillRect/>
          </a:stretch>
        </p:blipFill>
        <p:spPr>
          <a:xfrm>
            <a:off x="685800" y="1572768"/>
            <a:ext cx="365760" cy="365760"/>
          </a:xfrm>
          <a:prstGeom prst="rect">
            <a:avLst/>
          </a:prstGeom>
        </p:spPr>
      </p:pic>
      <p:sp>
        <p:nvSpPr>
          <p:cNvPr id="6" name="Text 3"/>
          <p:cNvSpPr txBox="1"/>
          <p:nvPr/>
        </p:nvSpPr>
        <p:spPr>
          <a:xfrm>
            <a:off x="1188720" y="1444752"/>
            <a:ext cx="2697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Web vận hành và dashboard</a:t>
            </a:r>
            <a:endParaRPr lang="en-US" sz="1400" dirty="0"/>
          </a:p>
        </p:txBody>
      </p:sp>
      <p:sp>
        <p:nvSpPr>
          <p:cNvPr id="7" name="Text 4"/>
          <p:cNvSpPr txBox="1"/>
          <p:nvPr/>
        </p:nvSpPr>
        <p:spPr>
          <a:xfrm>
            <a:off x="1188720" y="1810512"/>
            <a:ext cx="2697480" cy="365760"/>
          </a:xfrm>
          <a:prstGeom prst="rect">
            <a:avLst/>
          </a:prstGeom>
          <a:noFill/>
          <a:ln/>
        </p:spPr>
        <p:txBody>
          <a:bodyPr wrap="square" lIns="0" tIns="0" rIns="0" bIns="0" rtlCol="0" anchor="t"/>
          <a:lstStyle/>
          <a:p>
            <a:pPr algn="l" indent="0" marL="0">
              <a:buNone/>
            </a:pPr>
            <a:r>
              <a:rPr lang="en-US" sz="950" dirty="0">
                <a:solidFill>
                  <a:srgbClr val="C9D6E0"/>
                </a:solidFill>
                <a:latin typeface="Arial" pitchFamily="34" charset="0"/>
                <a:ea typeface="Arial" pitchFamily="34" charset="-122"/>
                <a:cs typeface="Arial" pitchFamily="34" charset="-120"/>
              </a:rPr>
              <a:t>BQL, bảo vệ, kỹ thuật, CĐT · màn hình lớn</a:t>
            </a:r>
            <a:endParaRPr lang="en-US" sz="950" dirty="0"/>
          </a:p>
        </p:txBody>
      </p:sp>
      <p:sp>
        <p:nvSpPr>
          <p:cNvPr id="8" name="Shape 5"/>
          <p:cNvSpPr/>
          <p:nvPr/>
        </p:nvSpPr>
        <p:spPr>
          <a:xfrm>
            <a:off x="457200" y="2423160"/>
            <a:ext cx="3566160" cy="384048"/>
          </a:xfrm>
          <a:prstGeom prst="roundRect">
            <a:avLst>
              <a:gd name="adj" fmla="val 11905"/>
            </a:avLst>
          </a:prstGeom>
          <a:solidFill>
            <a:srgbClr val="E8F3F2"/>
          </a:solidFill>
          <a:ln w="6350">
            <a:solidFill>
              <a:srgbClr val="D5DCE3"/>
            </a:solidFill>
            <a:prstDash val="solid"/>
          </a:ln>
        </p:spPr>
      </p:sp>
      <p:sp>
        <p:nvSpPr>
          <p:cNvPr id="9" name="Text 6"/>
          <p:cNvSpPr txBox="1"/>
          <p:nvPr/>
        </p:nvSpPr>
        <p:spPr>
          <a:xfrm>
            <a:off x="640080" y="2423160"/>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Tổng quan (CĐT)</a:t>
            </a:r>
            <a:endParaRPr lang="en-US" sz="1150" dirty="0"/>
          </a:p>
        </p:txBody>
      </p:sp>
      <p:sp>
        <p:nvSpPr>
          <p:cNvPr id="10" name="Shape 7"/>
          <p:cNvSpPr/>
          <p:nvPr/>
        </p:nvSpPr>
        <p:spPr>
          <a:xfrm>
            <a:off x="457200" y="2898648"/>
            <a:ext cx="3566160" cy="384048"/>
          </a:xfrm>
          <a:prstGeom prst="roundRect">
            <a:avLst>
              <a:gd name="adj" fmla="val 11905"/>
            </a:avLst>
          </a:prstGeom>
          <a:solidFill>
            <a:srgbClr val="E8F3F2"/>
          </a:solidFill>
          <a:ln w="6350">
            <a:solidFill>
              <a:srgbClr val="D5DCE3"/>
            </a:solidFill>
            <a:prstDash val="solid"/>
          </a:ln>
        </p:spPr>
      </p:sp>
      <p:sp>
        <p:nvSpPr>
          <p:cNvPr id="11" name="Text 8"/>
          <p:cNvSpPr txBox="1"/>
          <p:nvPr/>
        </p:nvSpPr>
        <p:spPr>
          <a:xfrm>
            <a:off x="640080" y="2898648"/>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Trung tâm cảnh báo</a:t>
            </a:r>
            <a:endParaRPr lang="en-US" sz="1150" dirty="0"/>
          </a:p>
        </p:txBody>
      </p:sp>
      <p:sp>
        <p:nvSpPr>
          <p:cNvPr id="12" name="Shape 9"/>
          <p:cNvSpPr/>
          <p:nvPr/>
        </p:nvSpPr>
        <p:spPr>
          <a:xfrm>
            <a:off x="457200" y="3374136"/>
            <a:ext cx="3566160" cy="384048"/>
          </a:xfrm>
          <a:prstGeom prst="roundRect">
            <a:avLst>
              <a:gd name="adj" fmla="val 11905"/>
            </a:avLst>
          </a:prstGeom>
          <a:solidFill>
            <a:srgbClr val="E8F3F2"/>
          </a:solidFill>
          <a:ln w="6350">
            <a:solidFill>
              <a:srgbClr val="D5DCE3"/>
            </a:solidFill>
            <a:prstDash val="solid"/>
          </a:ln>
        </p:spPr>
      </p:sp>
      <p:sp>
        <p:nvSpPr>
          <p:cNvPr id="13" name="Text 10"/>
          <p:cNvSpPr txBox="1"/>
          <p:nvPr/>
        </p:nvSpPr>
        <p:spPr>
          <a:xfrm>
            <a:off x="640080" y="3374136"/>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Năng lượng &amp; nước</a:t>
            </a:r>
            <a:endParaRPr lang="en-US" sz="1150" dirty="0"/>
          </a:p>
        </p:txBody>
      </p:sp>
      <p:sp>
        <p:nvSpPr>
          <p:cNvPr id="14" name="Shape 11"/>
          <p:cNvSpPr/>
          <p:nvPr/>
        </p:nvSpPr>
        <p:spPr>
          <a:xfrm>
            <a:off x="457200" y="3849624"/>
            <a:ext cx="3566160" cy="384048"/>
          </a:xfrm>
          <a:prstGeom prst="roundRect">
            <a:avLst>
              <a:gd name="adj" fmla="val 11905"/>
            </a:avLst>
          </a:prstGeom>
          <a:solidFill>
            <a:srgbClr val="E8F3F2"/>
          </a:solidFill>
          <a:ln w="6350">
            <a:solidFill>
              <a:srgbClr val="D5DCE3"/>
            </a:solidFill>
            <a:prstDash val="solid"/>
          </a:ln>
        </p:spPr>
      </p:sp>
      <p:sp>
        <p:nvSpPr>
          <p:cNvPr id="15" name="Text 12"/>
          <p:cNvSpPr txBox="1"/>
          <p:nvPr/>
        </p:nvSpPr>
        <p:spPr>
          <a:xfrm>
            <a:off x="640080" y="3849624"/>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Thiết bị &amp; bảo trì dự đoán</a:t>
            </a:r>
            <a:endParaRPr lang="en-US" sz="1150" dirty="0"/>
          </a:p>
        </p:txBody>
      </p:sp>
      <p:sp>
        <p:nvSpPr>
          <p:cNvPr id="16" name="Shape 13"/>
          <p:cNvSpPr/>
          <p:nvPr/>
        </p:nvSpPr>
        <p:spPr>
          <a:xfrm>
            <a:off x="457200" y="4325112"/>
            <a:ext cx="3566160" cy="384048"/>
          </a:xfrm>
          <a:prstGeom prst="roundRect">
            <a:avLst>
              <a:gd name="adj" fmla="val 11905"/>
            </a:avLst>
          </a:prstGeom>
          <a:solidFill>
            <a:srgbClr val="E8F3F2"/>
          </a:solidFill>
          <a:ln w="6350">
            <a:solidFill>
              <a:srgbClr val="D5DCE3"/>
            </a:solidFill>
            <a:prstDash val="solid"/>
          </a:ln>
        </p:spPr>
      </p:sp>
      <p:sp>
        <p:nvSpPr>
          <p:cNvPr id="17" name="Text 14"/>
          <p:cNvSpPr txBox="1"/>
          <p:nvPr/>
        </p:nvSpPr>
        <p:spPr>
          <a:xfrm>
            <a:off x="640080" y="4325112"/>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An ninh &amp; vào ra</a:t>
            </a:r>
            <a:endParaRPr lang="en-US" sz="1150" dirty="0"/>
          </a:p>
        </p:txBody>
      </p:sp>
      <p:sp>
        <p:nvSpPr>
          <p:cNvPr id="18" name="Shape 15"/>
          <p:cNvSpPr/>
          <p:nvPr/>
        </p:nvSpPr>
        <p:spPr>
          <a:xfrm>
            <a:off x="457200" y="4800600"/>
            <a:ext cx="3566160" cy="384048"/>
          </a:xfrm>
          <a:prstGeom prst="roundRect">
            <a:avLst>
              <a:gd name="adj" fmla="val 11905"/>
            </a:avLst>
          </a:prstGeom>
          <a:solidFill>
            <a:srgbClr val="E8F3F2"/>
          </a:solidFill>
          <a:ln w="6350">
            <a:solidFill>
              <a:srgbClr val="D5DCE3"/>
            </a:solidFill>
            <a:prstDash val="solid"/>
          </a:ln>
        </p:spPr>
      </p:sp>
      <p:sp>
        <p:nvSpPr>
          <p:cNvPr id="19" name="Text 16"/>
          <p:cNvSpPr txBox="1"/>
          <p:nvPr/>
        </p:nvSpPr>
        <p:spPr>
          <a:xfrm>
            <a:off x="640080" y="4800600"/>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Trợ lý AI tiếng Việt</a:t>
            </a:r>
            <a:endParaRPr lang="en-US" sz="1150" dirty="0"/>
          </a:p>
        </p:txBody>
      </p:sp>
      <p:sp>
        <p:nvSpPr>
          <p:cNvPr id="20" name="Shape 17"/>
          <p:cNvSpPr/>
          <p:nvPr/>
        </p:nvSpPr>
        <p:spPr>
          <a:xfrm>
            <a:off x="457200" y="5276088"/>
            <a:ext cx="3566160" cy="384048"/>
          </a:xfrm>
          <a:prstGeom prst="roundRect">
            <a:avLst>
              <a:gd name="adj" fmla="val 11905"/>
            </a:avLst>
          </a:prstGeom>
          <a:solidFill>
            <a:srgbClr val="FFFFFF"/>
          </a:solidFill>
          <a:ln w="6350">
            <a:solidFill>
              <a:srgbClr val="D5DCE3"/>
            </a:solidFill>
            <a:prstDash val="solid"/>
          </a:ln>
        </p:spPr>
      </p:sp>
      <p:sp>
        <p:nvSpPr>
          <p:cNvPr id="21" name="Text 18"/>
          <p:cNvSpPr txBox="1"/>
          <p:nvPr/>
        </p:nvSpPr>
        <p:spPr>
          <a:xfrm>
            <a:off x="640080" y="5276088"/>
            <a:ext cx="3291840" cy="384048"/>
          </a:xfrm>
          <a:prstGeom prst="rect">
            <a:avLst/>
          </a:prstGeom>
          <a:noFill/>
          <a:ln/>
        </p:spPr>
        <p:txBody>
          <a:bodyPr wrap="square" lIns="0" tIns="0" rIns="0" bIns="0" rtlCol="0" anchor="ctr"/>
          <a:lstStyle/>
          <a:p>
            <a:pPr algn="l" indent="0" marL="0">
              <a:buNone/>
            </a:pPr>
            <a:r>
              <a:rPr lang="en-US" sz="1150" dirty="0">
                <a:solidFill>
                  <a:srgbClr val="6B7785"/>
                </a:solidFill>
                <a:latin typeface="Arial" pitchFamily="34" charset="0"/>
                <a:ea typeface="Arial" pitchFamily="34" charset="-122"/>
                <a:cs typeface="Arial" pitchFamily="34" charset="-120"/>
              </a:rPr>
              <a:t>Báo cáo, công trình xanh</a:t>
            </a:r>
            <a:endParaRPr lang="en-US" sz="1150" dirty="0"/>
          </a:p>
        </p:txBody>
      </p:sp>
      <p:sp>
        <p:nvSpPr>
          <p:cNvPr id="22" name="Shape 19"/>
          <p:cNvSpPr/>
          <p:nvPr/>
        </p:nvSpPr>
        <p:spPr>
          <a:xfrm>
            <a:off x="457200" y="5751576"/>
            <a:ext cx="3566160" cy="384048"/>
          </a:xfrm>
          <a:prstGeom prst="roundRect">
            <a:avLst>
              <a:gd name="adj" fmla="val 11905"/>
            </a:avLst>
          </a:prstGeom>
          <a:solidFill>
            <a:srgbClr val="FFFFFF"/>
          </a:solidFill>
          <a:ln w="6350">
            <a:solidFill>
              <a:srgbClr val="D5DCE3"/>
            </a:solidFill>
            <a:prstDash val="solid"/>
          </a:ln>
        </p:spPr>
      </p:sp>
      <p:sp>
        <p:nvSpPr>
          <p:cNvPr id="23" name="Text 20"/>
          <p:cNvSpPr txBox="1"/>
          <p:nvPr/>
        </p:nvSpPr>
        <p:spPr>
          <a:xfrm>
            <a:off x="640080" y="5751576"/>
            <a:ext cx="3291840" cy="384048"/>
          </a:xfrm>
          <a:prstGeom prst="rect">
            <a:avLst/>
          </a:prstGeom>
          <a:noFill/>
          <a:ln/>
        </p:spPr>
        <p:txBody>
          <a:bodyPr wrap="square" lIns="0" tIns="0" rIns="0" bIns="0" rtlCol="0" anchor="ctr"/>
          <a:lstStyle/>
          <a:p>
            <a:pPr algn="l" indent="0" marL="0">
              <a:buNone/>
            </a:pPr>
            <a:r>
              <a:rPr lang="en-US" sz="1150" dirty="0">
                <a:solidFill>
                  <a:srgbClr val="6B7785"/>
                </a:solidFill>
                <a:latin typeface="Arial" pitchFamily="34" charset="0"/>
                <a:ea typeface="Arial" pitchFamily="34" charset="-122"/>
                <a:cs typeface="Arial" pitchFamily="34" charset="-120"/>
              </a:rPr>
              <a:t>Cấu hình, phân quyền, tham số</a:t>
            </a:r>
            <a:endParaRPr lang="en-US" sz="1150" dirty="0"/>
          </a:p>
        </p:txBody>
      </p:sp>
      <p:sp>
        <p:nvSpPr>
          <p:cNvPr id="24" name="Shape 21"/>
          <p:cNvSpPr/>
          <p:nvPr/>
        </p:nvSpPr>
        <p:spPr>
          <a:xfrm>
            <a:off x="4251960" y="1371600"/>
            <a:ext cx="3566160" cy="868680"/>
          </a:xfrm>
          <a:prstGeom prst="roundRect">
            <a:avLst>
              <a:gd name="adj" fmla="val 6316"/>
            </a:avLst>
          </a:prstGeom>
          <a:solidFill>
            <a:srgbClr val="12324A"/>
          </a:solidFill>
          <a:ln/>
        </p:spPr>
      </p:sp>
      <p:pic>
        <p:nvPicPr>
          <p:cNvPr id="25" name="Image 1" descr="preencoded.png">    </p:cNvPr>
          <p:cNvPicPr>
            <a:picLocks noChangeAspect="1"/>
          </p:cNvPicPr>
          <p:nvPr/>
        </p:nvPicPr>
        <p:blipFill>
          <a:blip r:embed="rId2"/>
          <a:stretch>
            <a:fillRect/>
          </a:stretch>
        </p:blipFill>
        <p:spPr>
          <a:xfrm>
            <a:off x="4480560" y="1572768"/>
            <a:ext cx="365760" cy="365760"/>
          </a:xfrm>
          <a:prstGeom prst="rect">
            <a:avLst/>
          </a:prstGeom>
        </p:spPr>
      </p:pic>
      <p:sp>
        <p:nvSpPr>
          <p:cNvPr id="26" name="Text 22"/>
          <p:cNvSpPr txBox="1"/>
          <p:nvPr/>
        </p:nvSpPr>
        <p:spPr>
          <a:xfrm>
            <a:off x="4983480" y="1444752"/>
            <a:ext cx="2697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App cư dân</a:t>
            </a:r>
            <a:endParaRPr lang="en-US" sz="1400" dirty="0"/>
          </a:p>
        </p:txBody>
      </p:sp>
      <p:sp>
        <p:nvSpPr>
          <p:cNvPr id="27" name="Text 23"/>
          <p:cNvSpPr txBox="1"/>
          <p:nvPr/>
        </p:nvSpPr>
        <p:spPr>
          <a:xfrm>
            <a:off x="4983480" y="1810512"/>
            <a:ext cx="2697480" cy="365760"/>
          </a:xfrm>
          <a:prstGeom prst="rect">
            <a:avLst/>
          </a:prstGeom>
          <a:noFill/>
          <a:ln/>
        </p:spPr>
        <p:txBody>
          <a:bodyPr wrap="square" lIns="0" tIns="0" rIns="0" bIns="0" rtlCol="0" anchor="t"/>
          <a:lstStyle/>
          <a:p>
            <a:pPr algn="l" indent="0" marL="0">
              <a:buNone/>
            </a:pPr>
            <a:r>
              <a:rPr lang="en-US" sz="950" dirty="0">
                <a:solidFill>
                  <a:srgbClr val="C9D6E0"/>
                </a:solidFill>
                <a:latin typeface="Arial" pitchFamily="34" charset="0"/>
                <a:ea typeface="Arial" pitchFamily="34" charset="-122"/>
                <a:cs typeface="Arial" pitchFamily="34" charset="-120"/>
              </a:rPr>
              <a:t>Cư dân, khách thuê · iOS, Android, song ngữ</a:t>
            </a:r>
            <a:endParaRPr lang="en-US" sz="950" dirty="0"/>
          </a:p>
        </p:txBody>
      </p:sp>
      <p:sp>
        <p:nvSpPr>
          <p:cNvPr id="28" name="Shape 24"/>
          <p:cNvSpPr/>
          <p:nvPr/>
        </p:nvSpPr>
        <p:spPr>
          <a:xfrm>
            <a:off x="4251960" y="2423160"/>
            <a:ext cx="3566160" cy="384048"/>
          </a:xfrm>
          <a:prstGeom prst="roundRect">
            <a:avLst>
              <a:gd name="adj" fmla="val 11905"/>
            </a:avLst>
          </a:prstGeom>
          <a:solidFill>
            <a:srgbClr val="E8F3F2"/>
          </a:solidFill>
          <a:ln w="6350">
            <a:solidFill>
              <a:srgbClr val="D5DCE3"/>
            </a:solidFill>
            <a:prstDash val="solid"/>
          </a:ln>
        </p:spPr>
      </p:sp>
      <p:sp>
        <p:nvSpPr>
          <p:cNvPr id="29" name="Text 25"/>
          <p:cNvSpPr txBox="1"/>
          <p:nvPr/>
        </p:nvSpPr>
        <p:spPr>
          <a:xfrm>
            <a:off x="4434840" y="2423160"/>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Trang chủ</a:t>
            </a:r>
            <a:endParaRPr lang="en-US" sz="1150" dirty="0"/>
          </a:p>
        </p:txBody>
      </p:sp>
      <p:sp>
        <p:nvSpPr>
          <p:cNvPr id="30" name="Shape 26"/>
          <p:cNvSpPr/>
          <p:nvPr/>
        </p:nvSpPr>
        <p:spPr>
          <a:xfrm>
            <a:off x="4251960" y="2898648"/>
            <a:ext cx="3566160" cy="384048"/>
          </a:xfrm>
          <a:prstGeom prst="roundRect">
            <a:avLst>
              <a:gd name="adj" fmla="val 11905"/>
            </a:avLst>
          </a:prstGeom>
          <a:solidFill>
            <a:srgbClr val="E8F3F2"/>
          </a:solidFill>
          <a:ln w="6350">
            <a:solidFill>
              <a:srgbClr val="D5DCE3"/>
            </a:solidFill>
            <a:prstDash val="solid"/>
          </a:ln>
        </p:spPr>
      </p:sp>
      <p:sp>
        <p:nvSpPr>
          <p:cNvPr id="31" name="Text 27"/>
          <p:cNvSpPr txBox="1"/>
          <p:nvPr/>
        </p:nvSpPr>
        <p:spPr>
          <a:xfrm>
            <a:off x="4434840" y="2898648"/>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Mời khách bằng QR</a:t>
            </a:r>
            <a:endParaRPr lang="en-US" sz="1150" dirty="0"/>
          </a:p>
        </p:txBody>
      </p:sp>
      <p:sp>
        <p:nvSpPr>
          <p:cNvPr id="32" name="Shape 28"/>
          <p:cNvSpPr/>
          <p:nvPr/>
        </p:nvSpPr>
        <p:spPr>
          <a:xfrm>
            <a:off x="4251960" y="3374136"/>
            <a:ext cx="3566160" cy="384048"/>
          </a:xfrm>
          <a:prstGeom prst="roundRect">
            <a:avLst>
              <a:gd name="adj" fmla="val 11905"/>
            </a:avLst>
          </a:prstGeom>
          <a:solidFill>
            <a:srgbClr val="E8F3F2"/>
          </a:solidFill>
          <a:ln w="6350">
            <a:solidFill>
              <a:srgbClr val="D5DCE3"/>
            </a:solidFill>
            <a:prstDash val="solid"/>
          </a:ln>
        </p:spPr>
      </p:sp>
      <p:sp>
        <p:nvSpPr>
          <p:cNvPr id="33" name="Text 29"/>
          <p:cNvSpPr txBox="1"/>
          <p:nvPr/>
        </p:nvSpPr>
        <p:spPr>
          <a:xfrm>
            <a:off x="4434840" y="3374136"/>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Thông báo khách đến</a:t>
            </a:r>
            <a:endParaRPr lang="en-US" sz="1150" dirty="0"/>
          </a:p>
        </p:txBody>
      </p:sp>
      <p:sp>
        <p:nvSpPr>
          <p:cNvPr id="34" name="Shape 30"/>
          <p:cNvSpPr/>
          <p:nvPr/>
        </p:nvSpPr>
        <p:spPr>
          <a:xfrm>
            <a:off x="4251960" y="3849624"/>
            <a:ext cx="3566160" cy="384048"/>
          </a:xfrm>
          <a:prstGeom prst="roundRect">
            <a:avLst>
              <a:gd name="adj" fmla="val 11905"/>
            </a:avLst>
          </a:prstGeom>
          <a:solidFill>
            <a:srgbClr val="E8F3F2"/>
          </a:solidFill>
          <a:ln w="6350">
            <a:solidFill>
              <a:srgbClr val="D5DCE3"/>
            </a:solidFill>
            <a:prstDash val="solid"/>
          </a:ln>
        </p:spPr>
      </p:sp>
      <p:sp>
        <p:nvSpPr>
          <p:cNvPr id="35" name="Text 31"/>
          <p:cNvSpPr txBox="1"/>
          <p:nvPr/>
        </p:nvSpPr>
        <p:spPr>
          <a:xfrm>
            <a:off x="4434840" y="3849624"/>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Hóa đơn điện, nước, sạc xe</a:t>
            </a:r>
            <a:endParaRPr lang="en-US" sz="1150" dirty="0"/>
          </a:p>
        </p:txBody>
      </p:sp>
      <p:sp>
        <p:nvSpPr>
          <p:cNvPr id="36" name="Shape 32"/>
          <p:cNvSpPr/>
          <p:nvPr/>
        </p:nvSpPr>
        <p:spPr>
          <a:xfrm>
            <a:off x="4251960" y="4325112"/>
            <a:ext cx="3566160" cy="384048"/>
          </a:xfrm>
          <a:prstGeom prst="roundRect">
            <a:avLst>
              <a:gd name="adj" fmla="val 11905"/>
            </a:avLst>
          </a:prstGeom>
          <a:solidFill>
            <a:srgbClr val="E8F3F2"/>
          </a:solidFill>
          <a:ln w="6350">
            <a:solidFill>
              <a:srgbClr val="D5DCE3"/>
            </a:solidFill>
            <a:prstDash val="solid"/>
          </a:ln>
        </p:spPr>
      </p:sp>
      <p:sp>
        <p:nvSpPr>
          <p:cNvPr id="37" name="Text 33"/>
          <p:cNvSpPr txBox="1"/>
          <p:nvPr/>
        </p:nvSpPr>
        <p:spPr>
          <a:xfrm>
            <a:off x="4434840" y="4325112"/>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Đăng ký khuôn mặt (đồng ý)</a:t>
            </a:r>
            <a:endParaRPr lang="en-US" sz="1150" dirty="0"/>
          </a:p>
        </p:txBody>
      </p:sp>
      <p:sp>
        <p:nvSpPr>
          <p:cNvPr id="38" name="Shape 34"/>
          <p:cNvSpPr/>
          <p:nvPr/>
        </p:nvSpPr>
        <p:spPr>
          <a:xfrm>
            <a:off x="4251960" y="4800600"/>
            <a:ext cx="3566160" cy="384048"/>
          </a:xfrm>
          <a:prstGeom prst="roundRect">
            <a:avLst>
              <a:gd name="adj" fmla="val 11905"/>
            </a:avLst>
          </a:prstGeom>
          <a:solidFill>
            <a:srgbClr val="FFFFFF"/>
          </a:solidFill>
          <a:ln w="6350">
            <a:solidFill>
              <a:srgbClr val="D5DCE3"/>
            </a:solidFill>
            <a:prstDash val="solid"/>
          </a:ln>
        </p:spPr>
      </p:sp>
      <p:sp>
        <p:nvSpPr>
          <p:cNvPr id="39" name="Text 35"/>
          <p:cNvSpPr txBox="1"/>
          <p:nvPr/>
        </p:nvSpPr>
        <p:spPr>
          <a:xfrm>
            <a:off x="4434840" y="4800600"/>
            <a:ext cx="3291840" cy="384048"/>
          </a:xfrm>
          <a:prstGeom prst="rect">
            <a:avLst/>
          </a:prstGeom>
          <a:noFill/>
          <a:ln/>
        </p:spPr>
        <p:txBody>
          <a:bodyPr wrap="square" lIns="0" tIns="0" rIns="0" bIns="0" rtlCol="0" anchor="ctr"/>
          <a:lstStyle/>
          <a:p>
            <a:pPr algn="l" indent="0" marL="0">
              <a:buNone/>
            </a:pPr>
            <a:r>
              <a:rPr lang="en-US" sz="1150" dirty="0">
                <a:solidFill>
                  <a:srgbClr val="6B7785"/>
                </a:solidFill>
                <a:latin typeface="Arial" pitchFamily="34" charset="0"/>
                <a:ea typeface="Arial" pitchFamily="34" charset="-122"/>
                <a:cs typeface="Arial" pitchFamily="34" charset="-120"/>
              </a:rPr>
              <a:t>Phản ánh, đặt dịch vụ</a:t>
            </a:r>
            <a:endParaRPr lang="en-US" sz="1150" dirty="0"/>
          </a:p>
        </p:txBody>
      </p:sp>
      <p:sp>
        <p:nvSpPr>
          <p:cNvPr id="40" name="Shape 36"/>
          <p:cNvSpPr/>
          <p:nvPr/>
        </p:nvSpPr>
        <p:spPr>
          <a:xfrm>
            <a:off x="4251960" y="5276088"/>
            <a:ext cx="3566160" cy="384048"/>
          </a:xfrm>
          <a:prstGeom prst="roundRect">
            <a:avLst>
              <a:gd name="adj" fmla="val 11905"/>
            </a:avLst>
          </a:prstGeom>
          <a:solidFill>
            <a:srgbClr val="FFFFFF"/>
          </a:solidFill>
          <a:ln w="6350">
            <a:solidFill>
              <a:srgbClr val="D5DCE3"/>
            </a:solidFill>
            <a:prstDash val="solid"/>
          </a:ln>
        </p:spPr>
      </p:sp>
      <p:sp>
        <p:nvSpPr>
          <p:cNvPr id="41" name="Text 37"/>
          <p:cNvSpPr txBox="1"/>
          <p:nvPr/>
        </p:nvSpPr>
        <p:spPr>
          <a:xfrm>
            <a:off x="4434840" y="5276088"/>
            <a:ext cx="3291840" cy="384048"/>
          </a:xfrm>
          <a:prstGeom prst="rect">
            <a:avLst/>
          </a:prstGeom>
          <a:noFill/>
          <a:ln/>
        </p:spPr>
        <p:txBody>
          <a:bodyPr wrap="square" lIns="0" tIns="0" rIns="0" bIns="0" rtlCol="0" anchor="ctr"/>
          <a:lstStyle/>
          <a:p>
            <a:pPr algn="l" indent="0" marL="0">
              <a:buNone/>
            </a:pPr>
            <a:r>
              <a:rPr lang="en-US" sz="1150" dirty="0">
                <a:solidFill>
                  <a:srgbClr val="6B7785"/>
                </a:solidFill>
                <a:latin typeface="Arial" pitchFamily="34" charset="0"/>
                <a:ea typeface="Arial" pitchFamily="34" charset="-122"/>
                <a:cs typeface="Arial" pitchFamily="34" charset="-120"/>
              </a:rPr>
              <a:t>Thông báo BQL, tài khoản</a:t>
            </a:r>
            <a:endParaRPr lang="en-US" sz="1150" dirty="0"/>
          </a:p>
        </p:txBody>
      </p:sp>
      <p:sp>
        <p:nvSpPr>
          <p:cNvPr id="42" name="Shape 38"/>
          <p:cNvSpPr/>
          <p:nvPr/>
        </p:nvSpPr>
        <p:spPr>
          <a:xfrm>
            <a:off x="8046720" y="1371600"/>
            <a:ext cx="3566160" cy="868680"/>
          </a:xfrm>
          <a:prstGeom prst="roundRect">
            <a:avLst>
              <a:gd name="adj" fmla="val 6316"/>
            </a:avLst>
          </a:prstGeom>
          <a:solidFill>
            <a:srgbClr val="12324A"/>
          </a:solidFill>
          <a:ln/>
        </p:spPr>
      </p:sp>
      <p:pic>
        <p:nvPicPr>
          <p:cNvPr id="43" name="Image 2" descr="preencoded.png">    </p:cNvPr>
          <p:cNvPicPr>
            <a:picLocks noChangeAspect="1"/>
          </p:cNvPicPr>
          <p:nvPr/>
        </p:nvPicPr>
        <p:blipFill>
          <a:blip r:embed="rId3"/>
          <a:stretch>
            <a:fillRect/>
          </a:stretch>
        </p:blipFill>
        <p:spPr>
          <a:xfrm>
            <a:off x="8275320" y="1572768"/>
            <a:ext cx="365760" cy="365760"/>
          </a:xfrm>
          <a:prstGeom prst="rect">
            <a:avLst/>
          </a:prstGeom>
        </p:spPr>
      </p:pic>
      <p:sp>
        <p:nvSpPr>
          <p:cNvPr id="44" name="Text 39"/>
          <p:cNvSpPr txBox="1"/>
          <p:nvPr/>
        </p:nvSpPr>
        <p:spPr>
          <a:xfrm>
            <a:off x="8778240" y="1444752"/>
            <a:ext cx="2697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App vận hành</a:t>
            </a:r>
            <a:endParaRPr lang="en-US" sz="1400" dirty="0"/>
          </a:p>
        </p:txBody>
      </p:sp>
      <p:sp>
        <p:nvSpPr>
          <p:cNvPr id="45" name="Text 40"/>
          <p:cNvSpPr txBox="1"/>
          <p:nvPr/>
        </p:nvSpPr>
        <p:spPr>
          <a:xfrm>
            <a:off x="8778240" y="1810512"/>
            <a:ext cx="2697480" cy="365760"/>
          </a:xfrm>
          <a:prstGeom prst="rect">
            <a:avLst/>
          </a:prstGeom>
          <a:noFill/>
          <a:ln/>
        </p:spPr>
        <p:txBody>
          <a:bodyPr wrap="square" lIns="0" tIns="0" rIns="0" bIns="0" rtlCol="0" anchor="t"/>
          <a:lstStyle/>
          <a:p>
            <a:pPr algn="l" indent="0" marL="0">
              <a:buNone/>
            </a:pPr>
            <a:r>
              <a:rPr lang="en-US" sz="950" dirty="0">
                <a:solidFill>
                  <a:srgbClr val="C9D6E0"/>
                </a:solidFill>
                <a:latin typeface="Arial" pitchFamily="34" charset="0"/>
                <a:ea typeface="Arial" pitchFamily="34" charset="-122"/>
                <a:cs typeface="Arial" pitchFamily="34" charset="-120"/>
              </a:rPr>
              <a:t>BQL, bảo vệ, kỹ thuật · điện thoại</a:t>
            </a:r>
            <a:endParaRPr lang="en-US" sz="950" dirty="0"/>
          </a:p>
        </p:txBody>
      </p:sp>
      <p:sp>
        <p:nvSpPr>
          <p:cNvPr id="46" name="Shape 41"/>
          <p:cNvSpPr/>
          <p:nvPr/>
        </p:nvSpPr>
        <p:spPr>
          <a:xfrm>
            <a:off x="8046720" y="2423160"/>
            <a:ext cx="3566160" cy="384048"/>
          </a:xfrm>
          <a:prstGeom prst="roundRect">
            <a:avLst>
              <a:gd name="adj" fmla="val 11905"/>
            </a:avLst>
          </a:prstGeom>
          <a:solidFill>
            <a:srgbClr val="E8F3F2"/>
          </a:solidFill>
          <a:ln w="6350">
            <a:solidFill>
              <a:srgbClr val="D5DCE3"/>
            </a:solidFill>
            <a:prstDash val="solid"/>
          </a:ln>
        </p:spPr>
      </p:sp>
      <p:sp>
        <p:nvSpPr>
          <p:cNvPr id="47" name="Text 42"/>
          <p:cNvSpPr txBox="1"/>
          <p:nvPr/>
        </p:nvSpPr>
        <p:spPr>
          <a:xfrm>
            <a:off x="8229600" y="2423160"/>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Cảnh báo kèm hình</a:t>
            </a:r>
            <a:endParaRPr lang="en-US" sz="1150" dirty="0"/>
          </a:p>
        </p:txBody>
      </p:sp>
      <p:sp>
        <p:nvSpPr>
          <p:cNvPr id="48" name="Shape 43"/>
          <p:cNvSpPr/>
          <p:nvPr/>
        </p:nvSpPr>
        <p:spPr>
          <a:xfrm>
            <a:off x="8046720" y="2898648"/>
            <a:ext cx="3566160" cy="384048"/>
          </a:xfrm>
          <a:prstGeom prst="roundRect">
            <a:avLst>
              <a:gd name="adj" fmla="val 11905"/>
            </a:avLst>
          </a:prstGeom>
          <a:solidFill>
            <a:srgbClr val="E8F3F2"/>
          </a:solidFill>
          <a:ln w="6350">
            <a:solidFill>
              <a:srgbClr val="D5DCE3"/>
            </a:solidFill>
            <a:prstDash val="solid"/>
          </a:ln>
        </p:spPr>
      </p:sp>
      <p:sp>
        <p:nvSpPr>
          <p:cNvPr id="49" name="Text 44"/>
          <p:cNvSpPr txBox="1"/>
          <p:nvPr/>
        </p:nvSpPr>
        <p:spPr>
          <a:xfrm>
            <a:off x="8229600" y="2898648"/>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Duyệt lệnh AI đề xuất</a:t>
            </a:r>
            <a:endParaRPr lang="en-US" sz="1150" dirty="0"/>
          </a:p>
        </p:txBody>
      </p:sp>
      <p:sp>
        <p:nvSpPr>
          <p:cNvPr id="50" name="Shape 45"/>
          <p:cNvSpPr/>
          <p:nvPr/>
        </p:nvSpPr>
        <p:spPr>
          <a:xfrm>
            <a:off x="8046720" y="3374136"/>
            <a:ext cx="3566160" cy="384048"/>
          </a:xfrm>
          <a:prstGeom prst="roundRect">
            <a:avLst>
              <a:gd name="adj" fmla="val 11905"/>
            </a:avLst>
          </a:prstGeom>
          <a:solidFill>
            <a:srgbClr val="E8F3F2"/>
          </a:solidFill>
          <a:ln w="6350">
            <a:solidFill>
              <a:srgbClr val="D5DCE3"/>
            </a:solidFill>
            <a:prstDash val="solid"/>
          </a:ln>
        </p:spPr>
      </p:sp>
      <p:sp>
        <p:nvSpPr>
          <p:cNvPr id="51" name="Text 46"/>
          <p:cNvSpPr txBox="1"/>
          <p:nvPr/>
        </p:nvSpPr>
        <p:spPr>
          <a:xfrm>
            <a:off x="8229600" y="3374136"/>
            <a:ext cx="3291840" cy="384048"/>
          </a:xfrm>
          <a:prstGeom prst="rect">
            <a:avLst/>
          </a:prstGeom>
          <a:noFill/>
          <a:ln/>
        </p:spPr>
        <p:txBody>
          <a:bodyPr wrap="square" lIns="0" tIns="0" rIns="0" bIns="0" rtlCol="0" anchor="ctr"/>
          <a:lstStyle/>
          <a:p>
            <a:pPr algn="l" indent="0" marL="0">
              <a:buNone/>
            </a:pPr>
            <a:r>
              <a:rPr lang="en-US" sz="1150" b="1" dirty="0">
                <a:solidFill>
                  <a:srgbClr val="12324A"/>
                </a:solidFill>
                <a:latin typeface="Arial" pitchFamily="34" charset="0"/>
                <a:ea typeface="Arial" pitchFamily="34" charset="-122"/>
                <a:cs typeface="Arial" pitchFamily="34" charset="-120"/>
              </a:rPr>
              <a:t>★ Phiếu công việc</a:t>
            </a:r>
            <a:endParaRPr lang="en-US" sz="1150" dirty="0"/>
          </a:p>
        </p:txBody>
      </p:sp>
      <p:sp>
        <p:nvSpPr>
          <p:cNvPr id="52" name="Shape 47"/>
          <p:cNvSpPr/>
          <p:nvPr/>
        </p:nvSpPr>
        <p:spPr>
          <a:xfrm>
            <a:off x="8046720" y="3849624"/>
            <a:ext cx="3566160" cy="384048"/>
          </a:xfrm>
          <a:prstGeom prst="roundRect">
            <a:avLst>
              <a:gd name="adj" fmla="val 11905"/>
            </a:avLst>
          </a:prstGeom>
          <a:solidFill>
            <a:srgbClr val="FFFFFF"/>
          </a:solidFill>
          <a:ln w="6350">
            <a:solidFill>
              <a:srgbClr val="D5DCE3"/>
            </a:solidFill>
            <a:prstDash val="solid"/>
          </a:ln>
        </p:spPr>
      </p:sp>
      <p:sp>
        <p:nvSpPr>
          <p:cNvPr id="53" name="Text 48"/>
          <p:cNvSpPr txBox="1"/>
          <p:nvPr/>
        </p:nvSpPr>
        <p:spPr>
          <a:xfrm>
            <a:off x="8229600" y="3849624"/>
            <a:ext cx="3291840" cy="384048"/>
          </a:xfrm>
          <a:prstGeom prst="rect">
            <a:avLst/>
          </a:prstGeom>
          <a:noFill/>
          <a:ln/>
        </p:spPr>
        <p:txBody>
          <a:bodyPr wrap="square" lIns="0" tIns="0" rIns="0" bIns="0" rtlCol="0" anchor="ctr"/>
          <a:lstStyle/>
          <a:p>
            <a:pPr algn="l" indent="0" marL="0">
              <a:buNone/>
            </a:pPr>
            <a:r>
              <a:rPr lang="en-US" sz="1150" dirty="0">
                <a:solidFill>
                  <a:srgbClr val="6B7785"/>
                </a:solidFill>
                <a:latin typeface="Arial" pitchFamily="34" charset="0"/>
                <a:ea typeface="Arial" pitchFamily="34" charset="-122"/>
                <a:cs typeface="Arial" pitchFamily="34" charset="-120"/>
              </a:rPr>
              <a:t>Quét QR thiết bị</a:t>
            </a:r>
            <a:endParaRPr lang="en-US" sz="1150" dirty="0"/>
          </a:p>
        </p:txBody>
      </p:sp>
      <p:sp>
        <p:nvSpPr>
          <p:cNvPr id="54" name="Shape 49"/>
          <p:cNvSpPr/>
          <p:nvPr/>
        </p:nvSpPr>
        <p:spPr>
          <a:xfrm>
            <a:off x="8046720" y="4325112"/>
            <a:ext cx="3566160" cy="384048"/>
          </a:xfrm>
          <a:prstGeom prst="roundRect">
            <a:avLst>
              <a:gd name="adj" fmla="val 11905"/>
            </a:avLst>
          </a:prstGeom>
          <a:solidFill>
            <a:srgbClr val="FFFFFF"/>
          </a:solidFill>
          <a:ln w="6350">
            <a:solidFill>
              <a:srgbClr val="D5DCE3"/>
            </a:solidFill>
            <a:prstDash val="solid"/>
          </a:ln>
        </p:spPr>
      </p:sp>
      <p:sp>
        <p:nvSpPr>
          <p:cNvPr id="55" name="Text 50"/>
          <p:cNvSpPr txBox="1"/>
          <p:nvPr/>
        </p:nvSpPr>
        <p:spPr>
          <a:xfrm>
            <a:off x="8229600" y="4325112"/>
            <a:ext cx="3291840" cy="384048"/>
          </a:xfrm>
          <a:prstGeom prst="rect">
            <a:avLst/>
          </a:prstGeom>
          <a:noFill/>
          <a:ln/>
        </p:spPr>
        <p:txBody>
          <a:bodyPr wrap="square" lIns="0" tIns="0" rIns="0" bIns="0" rtlCol="0" anchor="ctr"/>
          <a:lstStyle/>
          <a:p>
            <a:pPr algn="l" indent="0" marL="0">
              <a:buNone/>
            </a:pPr>
            <a:r>
              <a:rPr lang="en-US" sz="1150" dirty="0">
                <a:solidFill>
                  <a:srgbClr val="6B7785"/>
                </a:solidFill>
                <a:latin typeface="Arial" pitchFamily="34" charset="0"/>
                <a:ea typeface="Arial" pitchFamily="34" charset="-122"/>
                <a:cs typeface="Arial" pitchFamily="34" charset="-120"/>
              </a:rPr>
              <a:t>Bàn giao ca, tóm tắt ca</a:t>
            </a:r>
            <a:endParaRPr lang="en-US" sz="1150" dirty="0"/>
          </a:p>
        </p:txBody>
      </p:sp>
      <p:sp>
        <p:nvSpPr>
          <p:cNvPr id="56" name="Text 51"/>
          <p:cNvSpPr txBox="1"/>
          <p:nvPr/>
        </p:nvSpPr>
        <p:spPr>
          <a:xfrm>
            <a:off x="457200" y="6172200"/>
            <a:ext cx="11247120" cy="274320"/>
          </a:xfrm>
          <a:prstGeom prst="rect">
            <a:avLst/>
          </a:prstGeom>
          <a:noFill/>
          <a:ln/>
        </p:spPr>
        <p:txBody>
          <a:bodyPr wrap="square" lIns="0" tIns="0" rIns="0" bIns="0" rtlCol="0" anchor="ctr"/>
          <a:lstStyle/>
          <a:p>
            <a:pPr algn="l" indent="0" marL="0">
              <a:buNone/>
            </a:pPr>
            <a:r>
              <a:rPr lang="en-US" sz="1100" i="1" dirty="0">
                <a:solidFill>
                  <a:srgbClr val="1B7F79"/>
                </a:solidFill>
                <a:latin typeface="Arial" pitchFamily="34" charset="0"/>
                <a:ea typeface="Arial" pitchFamily="34" charset="-122"/>
                <a:cs typeface="Arial" pitchFamily="34" charset="-120"/>
              </a:rPr>
              <a:t>Nền tảng chung: định danh và phân quyền theo vai trò · kho dữ liệu · trung tâm cảnh báo · cổng AI (Claude / Gemini)</a:t>
            </a:r>
            <a:endParaRPr lang="en-US" sz="110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Hệ thống thiết kế: màu chỉ dành cho bất thường</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Theo ISA-101 (giao diện vận hành hiệu năng cao) và ISA-18.2 (quản lý cảnh báo); độ tương phản theo WCAG 2.1 AA</a:t>
            </a:r>
            <a:endParaRPr lang="en-US" sz="1300" dirty="0"/>
          </a:p>
        </p:txBody>
      </p:sp>
      <p:sp>
        <p:nvSpPr>
          <p:cNvPr id="4" name="Text 2"/>
          <p:cNvSpPr txBox="1"/>
          <p:nvPr/>
        </p:nvSpPr>
        <p:spPr>
          <a:xfrm>
            <a:off x="457200" y="1371600"/>
            <a:ext cx="3657600" cy="27432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Màu nền và thương hiệu</a:t>
            </a:r>
            <a:endParaRPr lang="en-US" sz="1300" dirty="0"/>
          </a:p>
        </p:txBody>
      </p:sp>
      <p:sp>
        <p:nvSpPr>
          <p:cNvPr id="5" name="Shape 3"/>
          <p:cNvSpPr/>
          <p:nvPr/>
        </p:nvSpPr>
        <p:spPr>
          <a:xfrm>
            <a:off x="457200" y="1737360"/>
            <a:ext cx="1188720" cy="685800"/>
          </a:xfrm>
          <a:prstGeom prst="roundRect">
            <a:avLst>
              <a:gd name="adj" fmla="val 8000"/>
            </a:avLst>
          </a:prstGeom>
          <a:solidFill>
            <a:srgbClr val="12324A"/>
          </a:solidFill>
          <a:ln w="6350">
            <a:solidFill>
              <a:srgbClr val="D5DCE3"/>
            </a:solidFill>
            <a:prstDash val="solid"/>
          </a:ln>
        </p:spPr>
      </p:sp>
      <p:sp>
        <p:nvSpPr>
          <p:cNvPr id="6" name="Text 4"/>
          <p:cNvSpPr txBox="1"/>
          <p:nvPr/>
        </p:nvSpPr>
        <p:spPr>
          <a:xfrm>
            <a:off x="457200" y="2487168"/>
            <a:ext cx="1188720" cy="228600"/>
          </a:xfrm>
          <a:prstGeom prst="rect">
            <a:avLst/>
          </a:prstGeom>
          <a:noFill/>
          <a:ln/>
        </p:spPr>
        <p:txBody>
          <a:bodyPr wrap="square" lIns="0" tIns="0" rIns="0" bIns="0" rtlCol="0" anchor="ctr"/>
          <a:lstStyle/>
          <a:p>
            <a:pPr algn="l" indent="0" marL="0">
              <a:buNone/>
            </a:pPr>
            <a:r>
              <a:rPr lang="en-US" sz="1100" b="1" dirty="0">
                <a:solidFill>
                  <a:srgbClr val="1A2330"/>
                </a:solidFill>
                <a:latin typeface="Arial" pitchFamily="34" charset="0"/>
                <a:ea typeface="Arial" pitchFamily="34" charset="-122"/>
                <a:cs typeface="Arial" pitchFamily="34" charset="-120"/>
              </a:rPr>
              <a:t>Navy</a:t>
            </a:r>
            <a:endParaRPr lang="en-US" sz="1100" dirty="0"/>
          </a:p>
        </p:txBody>
      </p:sp>
      <p:sp>
        <p:nvSpPr>
          <p:cNvPr id="7" name="Text 5"/>
          <p:cNvSpPr txBox="1"/>
          <p:nvPr/>
        </p:nvSpPr>
        <p:spPr>
          <a:xfrm>
            <a:off x="457200" y="2715768"/>
            <a:ext cx="12801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#12324A · Điều hướng, tiêu đề</a:t>
            </a:r>
            <a:endParaRPr lang="en-US" sz="900" dirty="0"/>
          </a:p>
        </p:txBody>
      </p:sp>
      <p:sp>
        <p:nvSpPr>
          <p:cNvPr id="8" name="Shape 6"/>
          <p:cNvSpPr/>
          <p:nvPr/>
        </p:nvSpPr>
        <p:spPr>
          <a:xfrm>
            <a:off x="1828800" y="1737360"/>
            <a:ext cx="1188720" cy="685800"/>
          </a:xfrm>
          <a:prstGeom prst="roundRect">
            <a:avLst>
              <a:gd name="adj" fmla="val 8000"/>
            </a:avLst>
          </a:prstGeom>
          <a:solidFill>
            <a:srgbClr val="1B7F79"/>
          </a:solidFill>
          <a:ln w="6350">
            <a:solidFill>
              <a:srgbClr val="D5DCE3"/>
            </a:solidFill>
            <a:prstDash val="solid"/>
          </a:ln>
        </p:spPr>
      </p:sp>
      <p:sp>
        <p:nvSpPr>
          <p:cNvPr id="9" name="Text 7"/>
          <p:cNvSpPr txBox="1"/>
          <p:nvPr/>
        </p:nvSpPr>
        <p:spPr>
          <a:xfrm>
            <a:off x="1828800" y="2487168"/>
            <a:ext cx="1188720" cy="228600"/>
          </a:xfrm>
          <a:prstGeom prst="rect">
            <a:avLst/>
          </a:prstGeom>
          <a:noFill/>
          <a:ln/>
        </p:spPr>
        <p:txBody>
          <a:bodyPr wrap="square" lIns="0" tIns="0" rIns="0" bIns="0" rtlCol="0" anchor="ctr"/>
          <a:lstStyle/>
          <a:p>
            <a:pPr algn="l" indent="0" marL="0">
              <a:buNone/>
            </a:pPr>
            <a:r>
              <a:rPr lang="en-US" sz="1100" b="1" dirty="0">
                <a:solidFill>
                  <a:srgbClr val="1A2330"/>
                </a:solidFill>
                <a:latin typeface="Arial" pitchFamily="34" charset="0"/>
                <a:ea typeface="Arial" pitchFamily="34" charset="-122"/>
                <a:cs typeface="Arial" pitchFamily="34" charset="-120"/>
              </a:rPr>
              <a:t>Teal</a:t>
            </a:r>
            <a:endParaRPr lang="en-US" sz="1100" dirty="0"/>
          </a:p>
        </p:txBody>
      </p:sp>
      <p:sp>
        <p:nvSpPr>
          <p:cNvPr id="10" name="Text 8"/>
          <p:cNvSpPr txBox="1"/>
          <p:nvPr/>
        </p:nvSpPr>
        <p:spPr>
          <a:xfrm>
            <a:off x="1828800" y="2715768"/>
            <a:ext cx="12801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#1B7F79 · Hành động chính</a:t>
            </a:r>
            <a:endParaRPr lang="en-US" sz="900" dirty="0"/>
          </a:p>
        </p:txBody>
      </p:sp>
      <p:sp>
        <p:nvSpPr>
          <p:cNvPr id="11" name="Shape 9"/>
          <p:cNvSpPr/>
          <p:nvPr/>
        </p:nvSpPr>
        <p:spPr>
          <a:xfrm>
            <a:off x="3200400" y="1737360"/>
            <a:ext cx="1188720" cy="685800"/>
          </a:xfrm>
          <a:prstGeom prst="roundRect">
            <a:avLst>
              <a:gd name="adj" fmla="val 8000"/>
            </a:avLst>
          </a:prstGeom>
          <a:solidFill>
            <a:srgbClr val="F5F7F9"/>
          </a:solidFill>
          <a:ln w="6350">
            <a:solidFill>
              <a:srgbClr val="D5DCE3"/>
            </a:solidFill>
            <a:prstDash val="solid"/>
          </a:ln>
        </p:spPr>
      </p:sp>
      <p:sp>
        <p:nvSpPr>
          <p:cNvPr id="12" name="Text 10"/>
          <p:cNvSpPr txBox="1"/>
          <p:nvPr/>
        </p:nvSpPr>
        <p:spPr>
          <a:xfrm>
            <a:off x="3200400" y="2487168"/>
            <a:ext cx="1188720" cy="228600"/>
          </a:xfrm>
          <a:prstGeom prst="rect">
            <a:avLst/>
          </a:prstGeom>
          <a:noFill/>
          <a:ln/>
        </p:spPr>
        <p:txBody>
          <a:bodyPr wrap="square" lIns="0" tIns="0" rIns="0" bIns="0" rtlCol="0" anchor="ctr"/>
          <a:lstStyle/>
          <a:p>
            <a:pPr algn="l" indent="0" marL="0">
              <a:buNone/>
            </a:pPr>
            <a:r>
              <a:rPr lang="en-US" sz="1100" b="1" dirty="0">
                <a:solidFill>
                  <a:srgbClr val="1A2330"/>
                </a:solidFill>
                <a:latin typeface="Arial" pitchFamily="34" charset="0"/>
                <a:ea typeface="Arial" pitchFamily="34" charset="-122"/>
                <a:cs typeface="Arial" pitchFamily="34" charset="-120"/>
              </a:rPr>
              <a:t>Xám nền</a:t>
            </a:r>
            <a:endParaRPr lang="en-US" sz="1100" dirty="0"/>
          </a:p>
        </p:txBody>
      </p:sp>
      <p:sp>
        <p:nvSpPr>
          <p:cNvPr id="13" name="Text 11"/>
          <p:cNvSpPr txBox="1"/>
          <p:nvPr/>
        </p:nvSpPr>
        <p:spPr>
          <a:xfrm>
            <a:off x="3200400" y="2715768"/>
            <a:ext cx="12801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#F5F7F9 · Nền làm việc</a:t>
            </a:r>
            <a:endParaRPr lang="en-US" sz="900" dirty="0"/>
          </a:p>
        </p:txBody>
      </p:sp>
      <p:sp>
        <p:nvSpPr>
          <p:cNvPr id="14" name="Shape 12"/>
          <p:cNvSpPr/>
          <p:nvPr/>
        </p:nvSpPr>
        <p:spPr>
          <a:xfrm>
            <a:off x="4572000" y="1737360"/>
            <a:ext cx="1188720" cy="685800"/>
          </a:xfrm>
          <a:prstGeom prst="roundRect">
            <a:avLst>
              <a:gd name="adj" fmla="val 8000"/>
            </a:avLst>
          </a:prstGeom>
          <a:solidFill>
            <a:srgbClr val="6B7785"/>
          </a:solidFill>
          <a:ln w="6350">
            <a:solidFill>
              <a:srgbClr val="D5DCE3"/>
            </a:solidFill>
            <a:prstDash val="solid"/>
          </a:ln>
        </p:spPr>
      </p:sp>
      <p:sp>
        <p:nvSpPr>
          <p:cNvPr id="15" name="Text 13"/>
          <p:cNvSpPr txBox="1"/>
          <p:nvPr/>
        </p:nvSpPr>
        <p:spPr>
          <a:xfrm>
            <a:off x="4572000" y="2487168"/>
            <a:ext cx="1188720" cy="228600"/>
          </a:xfrm>
          <a:prstGeom prst="rect">
            <a:avLst/>
          </a:prstGeom>
          <a:noFill/>
          <a:ln/>
        </p:spPr>
        <p:txBody>
          <a:bodyPr wrap="square" lIns="0" tIns="0" rIns="0" bIns="0" rtlCol="0" anchor="ctr"/>
          <a:lstStyle/>
          <a:p>
            <a:pPr algn="l" indent="0" marL="0">
              <a:buNone/>
            </a:pPr>
            <a:r>
              <a:rPr lang="en-US" sz="1100" b="1" dirty="0">
                <a:solidFill>
                  <a:srgbClr val="1A2330"/>
                </a:solidFill>
                <a:latin typeface="Arial" pitchFamily="34" charset="0"/>
                <a:ea typeface="Arial" pitchFamily="34" charset="-122"/>
                <a:cs typeface="Arial" pitchFamily="34" charset="-120"/>
              </a:rPr>
              <a:t>Xám chữ</a:t>
            </a:r>
            <a:endParaRPr lang="en-US" sz="1100" dirty="0"/>
          </a:p>
        </p:txBody>
      </p:sp>
      <p:sp>
        <p:nvSpPr>
          <p:cNvPr id="16" name="Text 14"/>
          <p:cNvSpPr txBox="1"/>
          <p:nvPr/>
        </p:nvSpPr>
        <p:spPr>
          <a:xfrm>
            <a:off x="4572000" y="2715768"/>
            <a:ext cx="12801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#6B7785 · Chữ phụ, nhãn</a:t>
            </a:r>
            <a:endParaRPr lang="en-US" sz="900" dirty="0"/>
          </a:p>
        </p:txBody>
      </p:sp>
      <p:sp>
        <p:nvSpPr>
          <p:cNvPr id="17" name="Text 15"/>
          <p:cNvSpPr txBox="1"/>
          <p:nvPr/>
        </p:nvSpPr>
        <p:spPr>
          <a:xfrm>
            <a:off x="457200" y="3291840"/>
            <a:ext cx="5486400" cy="27432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Mức cảnh báo (chỉ dùng khi có bất thường)</a:t>
            </a:r>
            <a:endParaRPr lang="en-US" sz="1300" dirty="0"/>
          </a:p>
        </p:txBody>
      </p:sp>
      <p:sp>
        <p:nvSpPr>
          <p:cNvPr id="18" name="Shape 16"/>
          <p:cNvSpPr/>
          <p:nvPr/>
        </p:nvSpPr>
        <p:spPr>
          <a:xfrm>
            <a:off x="457200" y="3657600"/>
            <a:ext cx="960120" cy="457200"/>
          </a:xfrm>
          <a:prstGeom prst="roundRect">
            <a:avLst>
              <a:gd name="adj" fmla="val 12000"/>
            </a:avLst>
          </a:prstGeom>
          <a:solidFill>
            <a:srgbClr val="D64545"/>
          </a:solidFill>
          <a:ln/>
        </p:spPr>
      </p:sp>
      <p:sp>
        <p:nvSpPr>
          <p:cNvPr id="19" name="Text 17"/>
          <p:cNvSpPr txBox="1"/>
          <p:nvPr/>
        </p:nvSpPr>
        <p:spPr>
          <a:xfrm>
            <a:off x="457200" y="4160520"/>
            <a:ext cx="1005840" cy="228600"/>
          </a:xfrm>
          <a:prstGeom prst="rect">
            <a:avLst/>
          </a:prstGeom>
          <a:noFill/>
          <a:ln/>
        </p:spPr>
        <p:txBody>
          <a:bodyPr wrap="square" lIns="0" tIns="0" rIns="0" bIns="0" rtlCol="0" anchor="ctr"/>
          <a:lstStyle/>
          <a:p>
            <a:pPr algn="l" indent="0" marL="0">
              <a:buNone/>
            </a:pPr>
            <a:r>
              <a:rPr lang="en-US" sz="1050" b="1" dirty="0">
                <a:solidFill>
                  <a:srgbClr val="1A2330"/>
                </a:solidFill>
                <a:latin typeface="Arial" pitchFamily="34" charset="0"/>
                <a:ea typeface="Arial" pitchFamily="34" charset="-122"/>
                <a:cs typeface="Arial" pitchFamily="34" charset="-120"/>
              </a:rPr>
              <a:t>Khẩn</a:t>
            </a:r>
            <a:endParaRPr lang="en-US" sz="1050" dirty="0"/>
          </a:p>
        </p:txBody>
      </p:sp>
      <p:sp>
        <p:nvSpPr>
          <p:cNvPr id="20" name="Text 18"/>
          <p:cNvSpPr txBox="1"/>
          <p:nvPr/>
        </p:nvSpPr>
        <p:spPr>
          <a:xfrm>
            <a:off x="457200" y="4389120"/>
            <a:ext cx="10515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Xử lý ngay · âm thanh</a:t>
            </a:r>
            <a:endParaRPr lang="en-US" sz="900" dirty="0"/>
          </a:p>
        </p:txBody>
      </p:sp>
      <p:sp>
        <p:nvSpPr>
          <p:cNvPr id="21" name="Shape 19"/>
          <p:cNvSpPr/>
          <p:nvPr/>
        </p:nvSpPr>
        <p:spPr>
          <a:xfrm>
            <a:off x="1554480" y="3657600"/>
            <a:ext cx="960120" cy="457200"/>
          </a:xfrm>
          <a:prstGeom prst="roundRect">
            <a:avLst>
              <a:gd name="adj" fmla="val 12000"/>
            </a:avLst>
          </a:prstGeom>
          <a:solidFill>
            <a:srgbClr val="E8833A"/>
          </a:solidFill>
          <a:ln/>
        </p:spPr>
      </p:sp>
      <p:sp>
        <p:nvSpPr>
          <p:cNvPr id="22" name="Text 20"/>
          <p:cNvSpPr txBox="1"/>
          <p:nvPr/>
        </p:nvSpPr>
        <p:spPr>
          <a:xfrm>
            <a:off x="1554480" y="4160520"/>
            <a:ext cx="1005840" cy="228600"/>
          </a:xfrm>
          <a:prstGeom prst="rect">
            <a:avLst/>
          </a:prstGeom>
          <a:noFill/>
          <a:ln/>
        </p:spPr>
        <p:txBody>
          <a:bodyPr wrap="square" lIns="0" tIns="0" rIns="0" bIns="0" rtlCol="0" anchor="ctr"/>
          <a:lstStyle/>
          <a:p>
            <a:pPr algn="l" indent="0" marL="0">
              <a:buNone/>
            </a:pPr>
            <a:r>
              <a:rPr lang="en-US" sz="1050" b="1" dirty="0">
                <a:solidFill>
                  <a:srgbClr val="1A2330"/>
                </a:solidFill>
                <a:latin typeface="Arial" pitchFamily="34" charset="0"/>
                <a:ea typeface="Arial" pitchFamily="34" charset="-122"/>
                <a:cs typeface="Arial" pitchFamily="34" charset="-120"/>
              </a:rPr>
              <a:t>Cao</a:t>
            </a:r>
            <a:endParaRPr lang="en-US" sz="1050" dirty="0"/>
          </a:p>
        </p:txBody>
      </p:sp>
      <p:sp>
        <p:nvSpPr>
          <p:cNvPr id="23" name="Text 21"/>
          <p:cNvSpPr txBox="1"/>
          <p:nvPr/>
        </p:nvSpPr>
        <p:spPr>
          <a:xfrm>
            <a:off x="1554480" y="4389120"/>
            <a:ext cx="10515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 30 phút</a:t>
            </a:r>
            <a:endParaRPr lang="en-US" sz="900" dirty="0"/>
          </a:p>
        </p:txBody>
      </p:sp>
      <p:sp>
        <p:nvSpPr>
          <p:cNvPr id="24" name="Shape 22"/>
          <p:cNvSpPr/>
          <p:nvPr/>
        </p:nvSpPr>
        <p:spPr>
          <a:xfrm>
            <a:off x="2651760" y="3657600"/>
            <a:ext cx="960120" cy="457200"/>
          </a:xfrm>
          <a:prstGeom prst="roundRect">
            <a:avLst>
              <a:gd name="adj" fmla="val 12000"/>
            </a:avLst>
          </a:prstGeom>
          <a:solidFill>
            <a:srgbClr val="D9A21B"/>
          </a:solidFill>
          <a:ln/>
        </p:spPr>
      </p:sp>
      <p:sp>
        <p:nvSpPr>
          <p:cNvPr id="25" name="Text 23"/>
          <p:cNvSpPr txBox="1"/>
          <p:nvPr/>
        </p:nvSpPr>
        <p:spPr>
          <a:xfrm>
            <a:off x="2651760" y="4160520"/>
            <a:ext cx="1005840" cy="228600"/>
          </a:xfrm>
          <a:prstGeom prst="rect">
            <a:avLst/>
          </a:prstGeom>
          <a:noFill/>
          <a:ln/>
        </p:spPr>
        <p:txBody>
          <a:bodyPr wrap="square" lIns="0" tIns="0" rIns="0" bIns="0" rtlCol="0" anchor="ctr"/>
          <a:lstStyle/>
          <a:p>
            <a:pPr algn="l" indent="0" marL="0">
              <a:buNone/>
            </a:pPr>
            <a:r>
              <a:rPr lang="en-US" sz="1050" b="1" dirty="0">
                <a:solidFill>
                  <a:srgbClr val="1A2330"/>
                </a:solidFill>
                <a:latin typeface="Arial" pitchFamily="34" charset="0"/>
                <a:ea typeface="Arial" pitchFamily="34" charset="-122"/>
                <a:cs typeface="Arial" pitchFamily="34" charset="-120"/>
              </a:rPr>
              <a:t>Trung bình</a:t>
            </a:r>
            <a:endParaRPr lang="en-US" sz="1050" dirty="0"/>
          </a:p>
        </p:txBody>
      </p:sp>
      <p:sp>
        <p:nvSpPr>
          <p:cNvPr id="26" name="Text 24"/>
          <p:cNvSpPr txBox="1"/>
          <p:nvPr/>
        </p:nvSpPr>
        <p:spPr>
          <a:xfrm>
            <a:off x="2651760" y="4389120"/>
            <a:ext cx="10515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Trong ca</a:t>
            </a:r>
            <a:endParaRPr lang="en-US" sz="900" dirty="0"/>
          </a:p>
        </p:txBody>
      </p:sp>
      <p:sp>
        <p:nvSpPr>
          <p:cNvPr id="27" name="Shape 25"/>
          <p:cNvSpPr/>
          <p:nvPr/>
        </p:nvSpPr>
        <p:spPr>
          <a:xfrm>
            <a:off x="3749040" y="3657600"/>
            <a:ext cx="960120" cy="457200"/>
          </a:xfrm>
          <a:prstGeom prst="roundRect">
            <a:avLst>
              <a:gd name="adj" fmla="val 12000"/>
            </a:avLst>
          </a:prstGeom>
          <a:solidFill>
            <a:srgbClr val="3B82C4"/>
          </a:solidFill>
          <a:ln/>
        </p:spPr>
      </p:sp>
      <p:sp>
        <p:nvSpPr>
          <p:cNvPr id="28" name="Text 26"/>
          <p:cNvSpPr txBox="1"/>
          <p:nvPr/>
        </p:nvSpPr>
        <p:spPr>
          <a:xfrm>
            <a:off x="3749040" y="4160520"/>
            <a:ext cx="1005840" cy="228600"/>
          </a:xfrm>
          <a:prstGeom prst="rect">
            <a:avLst/>
          </a:prstGeom>
          <a:noFill/>
          <a:ln/>
        </p:spPr>
        <p:txBody>
          <a:bodyPr wrap="square" lIns="0" tIns="0" rIns="0" bIns="0" rtlCol="0" anchor="ctr"/>
          <a:lstStyle/>
          <a:p>
            <a:pPr algn="l" indent="0" marL="0">
              <a:buNone/>
            </a:pPr>
            <a:r>
              <a:rPr lang="en-US" sz="1050" b="1" dirty="0">
                <a:solidFill>
                  <a:srgbClr val="1A2330"/>
                </a:solidFill>
                <a:latin typeface="Arial" pitchFamily="34" charset="0"/>
                <a:ea typeface="Arial" pitchFamily="34" charset="-122"/>
                <a:cs typeface="Arial" pitchFamily="34" charset="-120"/>
              </a:rPr>
              <a:t>Thông tin</a:t>
            </a:r>
            <a:endParaRPr lang="en-US" sz="1050" dirty="0"/>
          </a:p>
        </p:txBody>
      </p:sp>
      <p:sp>
        <p:nvSpPr>
          <p:cNvPr id="29" name="Text 27"/>
          <p:cNvSpPr txBox="1"/>
          <p:nvPr/>
        </p:nvSpPr>
        <p:spPr>
          <a:xfrm>
            <a:off x="3749040" y="4389120"/>
            <a:ext cx="10515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Không cần xử lý</a:t>
            </a:r>
            <a:endParaRPr lang="en-US" sz="900" dirty="0"/>
          </a:p>
        </p:txBody>
      </p:sp>
      <p:sp>
        <p:nvSpPr>
          <p:cNvPr id="30" name="Shape 28"/>
          <p:cNvSpPr/>
          <p:nvPr/>
        </p:nvSpPr>
        <p:spPr>
          <a:xfrm>
            <a:off x="4846320" y="3657600"/>
            <a:ext cx="960120" cy="457200"/>
          </a:xfrm>
          <a:prstGeom prst="roundRect">
            <a:avLst>
              <a:gd name="adj" fmla="val 12000"/>
            </a:avLst>
          </a:prstGeom>
          <a:solidFill>
            <a:srgbClr val="2E9E5B"/>
          </a:solidFill>
          <a:ln/>
        </p:spPr>
      </p:sp>
      <p:sp>
        <p:nvSpPr>
          <p:cNvPr id="31" name="Text 29"/>
          <p:cNvSpPr txBox="1"/>
          <p:nvPr/>
        </p:nvSpPr>
        <p:spPr>
          <a:xfrm>
            <a:off x="4846320" y="4160520"/>
            <a:ext cx="1005840" cy="228600"/>
          </a:xfrm>
          <a:prstGeom prst="rect">
            <a:avLst/>
          </a:prstGeom>
          <a:noFill/>
          <a:ln/>
        </p:spPr>
        <p:txBody>
          <a:bodyPr wrap="square" lIns="0" tIns="0" rIns="0" bIns="0" rtlCol="0" anchor="ctr"/>
          <a:lstStyle/>
          <a:p>
            <a:pPr algn="l" indent="0" marL="0">
              <a:buNone/>
            </a:pPr>
            <a:r>
              <a:rPr lang="en-US" sz="1050" b="1" dirty="0">
                <a:solidFill>
                  <a:srgbClr val="1A2330"/>
                </a:solidFill>
                <a:latin typeface="Arial" pitchFamily="34" charset="0"/>
                <a:ea typeface="Arial" pitchFamily="34" charset="-122"/>
                <a:cs typeface="Arial" pitchFamily="34" charset="-120"/>
              </a:rPr>
              <a:t>Bình thường</a:t>
            </a:r>
            <a:endParaRPr lang="en-US" sz="1050" dirty="0"/>
          </a:p>
        </p:txBody>
      </p:sp>
      <p:sp>
        <p:nvSpPr>
          <p:cNvPr id="32" name="Text 30"/>
          <p:cNvSpPr txBox="1"/>
          <p:nvPr/>
        </p:nvSpPr>
        <p:spPr>
          <a:xfrm>
            <a:off x="4846320" y="4389120"/>
            <a:ext cx="1051560" cy="411480"/>
          </a:xfrm>
          <a:prstGeom prst="rect">
            <a:avLst/>
          </a:prstGeom>
          <a:noFill/>
          <a:ln/>
        </p:spPr>
        <p:txBody>
          <a:bodyPr wrap="square" lIns="0" tIns="0" rIns="0" bIns="0" rtlCol="0" anchor="t"/>
          <a:lstStyle/>
          <a:p>
            <a:pPr algn="l" indent="0" marL="0">
              <a:buNone/>
            </a:pPr>
            <a:r>
              <a:rPr lang="en-US" sz="900" dirty="0">
                <a:solidFill>
                  <a:srgbClr val="6B7785"/>
                </a:solidFill>
                <a:latin typeface="Arial" pitchFamily="34" charset="0"/>
                <a:ea typeface="Arial" pitchFamily="34" charset="-122"/>
                <a:cs typeface="Arial" pitchFamily="34" charset="-120"/>
              </a:rPr>
              <a:t>Chỉ dùng để xác nhận</a:t>
            </a:r>
            <a:endParaRPr lang="en-US" sz="900" dirty="0"/>
          </a:p>
        </p:txBody>
      </p:sp>
      <p:sp>
        <p:nvSpPr>
          <p:cNvPr id="33" name="Text 31"/>
          <p:cNvSpPr txBox="1"/>
          <p:nvPr/>
        </p:nvSpPr>
        <p:spPr>
          <a:xfrm>
            <a:off x="457200" y="4983480"/>
            <a:ext cx="5486400" cy="27432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Thành phần dùng chung</a:t>
            </a:r>
            <a:endParaRPr lang="en-US" sz="1300" dirty="0"/>
          </a:p>
        </p:txBody>
      </p:sp>
      <p:sp>
        <p:nvSpPr>
          <p:cNvPr id="34" name="Shape 32"/>
          <p:cNvSpPr/>
          <p:nvPr/>
        </p:nvSpPr>
        <p:spPr>
          <a:xfrm>
            <a:off x="457200" y="5349240"/>
            <a:ext cx="1188720" cy="347472"/>
          </a:xfrm>
          <a:prstGeom prst="roundRect">
            <a:avLst>
              <a:gd name="adj" fmla="val 21053"/>
            </a:avLst>
          </a:prstGeom>
          <a:solidFill>
            <a:srgbClr val="1B7F79"/>
          </a:solidFill>
          <a:ln/>
        </p:spPr>
      </p:sp>
      <p:sp>
        <p:nvSpPr>
          <p:cNvPr id="35" name="Text 33"/>
          <p:cNvSpPr txBox="1"/>
          <p:nvPr/>
        </p:nvSpPr>
        <p:spPr>
          <a:xfrm>
            <a:off x="457200" y="5349240"/>
            <a:ext cx="118872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Phê duyệt</a:t>
            </a:r>
            <a:endParaRPr lang="en-US" sz="800" dirty="0"/>
          </a:p>
        </p:txBody>
      </p:sp>
      <p:sp>
        <p:nvSpPr>
          <p:cNvPr id="36" name="Shape 34"/>
          <p:cNvSpPr/>
          <p:nvPr/>
        </p:nvSpPr>
        <p:spPr>
          <a:xfrm>
            <a:off x="1783080" y="5349240"/>
            <a:ext cx="1005840" cy="347472"/>
          </a:xfrm>
          <a:prstGeom prst="roundRect">
            <a:avLst>
              <a:gd name="adj" fmla="val 21053"/>
            </a:avLst>
          </a:prstGeom>
          <a:solidFill>
            <a:srgbClr val="FFFFFF"/>
          </a:solidFill>
          <a:ln w="9525">
            <a:solidFill>
              <a:srgbClr val="1B7F79"/>
            </a:solidFill>
            <a:prstDash val="solid"/>
          </a:ln>
        </p:spPr>
      </p:sp>
      <p:sp>
        <p:nvSpPr>
          <p:cNvPr id="37" name="Text 35"/>
          <p:cNvSpPr txBox="1"/>
          <p:nvPr/>
        </p:nvSpPr>
        <p:spPr>
          <a:xfrm>
            <a:off x="1783080" y="5349240"/>
            <a:ext cx="1005840" cy="347472"/>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Từ chối</a:t>
            </a:r>
            <a:endParaRPr lang="en-US" sz="800" dirty="0"/>
          </a:p>
        </p:txBody>
      </p:sp>
      <p:sp>
        <p:nvSpPr>
          <p:cNvPr id="38" name="Shape 36"/>
          <p:cNvSpPr/>
          <p:nvPr/>
        </p:nvSpPr>
        <p:spPr>
          <a:xfrm>
            <a:off x="457200" y="5897880"/>
            <a:ext cx="640080" cy="237744"/>
          </a:xfrm>
          <a:prstGeom prst="roundRect">
            <a:avLst>
              <a:gd name="adj" fmla="val 38462"/>
            </a:avLst>
          </a:prstGeom>
          <a:solidFill>
            <a:srgbClr val="D64545"/>
          </a:solidFill>
          <a:ln/>
        </p:spPr>
      </p:sp>
      <p:sp>
        <p:nvSpPr>
          <p:cNvPr id="39" name="Text 37"/>
          <p:cNvSpPr txBox="1"/>
          <p:nvPr/>
        </p:nvSpPr>
        <p:spPr>
          <a:xfrm>
            <a:off x="457200" y="5897880"/>
            <a:ext cx="6400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KHẨN</a:t>
            </a:r>
            <a:endParaRPr lang="en-US" sz="800" dirty="0"/>
          </a:p>
        </p:txBody>
      </p:sp>
      <p:sp>
        <p:nvSpPr>
          <p:cNvPr id="40" name="Shape 38"/>
          <p:cNvSpPr/>
          <p:nvPr/>
        </p:nvSpPr>
        <p:spPr>
          <a:xfrm>
            <a:off x="1188720" y="5897880"/>
            <a:ext cx="1005840" cy="237744"/>
          </a:xfrm>
          <a:prstGeom prst="roundRect">
            <a:avLst>
              <a:gd name="adj" fmla="val 38462"/>
            </a:avLst>
          </a:prstGeom>
          <a:solidFill>
            <a:srgbClr val="E8F3F2"/>
          </a:solidFill>
          <a:ln/>
        </p:spPr>
      </p:sp>
      <p:sp>
        <p:nvSpPr>
          <p:cNvPr id="41" name="Text 39"/>
          <p:cNvSpPr txBox="1"/>
          <p:nvPr/>
        </p:nvSpPr>
        <p:spPr>
          <a:xfrm>
            <a:off x="1188720" y="5897880"/>
            <a:ext cx="1005840" cy="237744"/>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ĐANG XỬ LÝ</a:t>
            </a:r>
            <a:endParaRPr lang="en-US" sz="800" dirty="0"/>
          </a:p>
        </p:txBody>
      </p:sp>
      <p:sp>
        <p:nvSpPr>
          <p:cNvPr id="42" name="Shape 40"/>
          <p:cNvSpPr/>
          <p:nvPr/>
        </p:nvSpPr>
        <p:spPr>
          <a:xfrm>
            <a:off x="3108960" y="5349240"/>
            <a:ext cx="2103120" cy="868680"/>
          </a:xfrm>
          <a:prstGeom prst="roundRect">
            <a:avLst>
              <a:gd name="adj" fmla="val 6316"/>
            </a:avLst>
          </a:prstGeom>
          <a:solidFill>
            <a:srgbClr val="FFFFFF"/>
          </a:solidFill>
          <a:ln w="6350">
            <a:solidFill>
              <a:srgbClr val="D5DCE3"/>
            </a:solidFill>
            <a:prstDash val="solid"/>
          </a:ln>
        </p:spPr>
      </p:sp>
      <p:sp>
        <p:nvSpPr>
          <p:cNvPr id="43" name="Shape 41"/>
          <p:cNvSpPr/>
          <p:nvPr/>
        </p:nvSpPr>
        <p:spPr>
          <a:xfrm>
            <a:off x="4828032" y="5440680"/>
            <a:ext cx="274320" cy="274320"/>
          </a:xfrm>
          <a:prstGeom prst="ellipse">
            <a:avLst/>
          </a:prstGeom>
          <a:solidFill>
            <a:srgbClr val="E8F3F2"/>
          </a:solidFill>
          <a:ln/>
        </p:spPr>
      </p:sp>
      <p:pic>
        <p:nvPicPr>
          <p:cNvPr id="44" name="Image 0" descr="preencoded.png">    </p:cNvPr>
          <p:cNvPicPr>
            <a:picLocks noChangeAspect="1"/>
          </p:cNvPicPr>
          <p:nvPr/>
        </p:nvPicPr>
        <p:blipFill>
          <a:blip r:embed="rId1"/>
          <a:stretch>
            <a:fillRect/>
          </a:stretch>
        </p:blipFill>
        <p:spPr>
          <a:xfrm>
            <a:off x="4887468" y="5500116"/>
            <a:ext cx="155448" cy="155448"/>
          </a:xfrm>
          <a:prstGeom prst="rect">
            <a:avLst/>
          </a:prstGeom>
        </p:spPr>
      </p:pic>
      <p:sp>
        <p:nvSpPr>
          <p:cNvPr id="45" name="Text 42"/>
          <p:cNvSpPr txBox="1"/>
          <p:nvPr/>
        </p:nvSpPr>
        <p:spPr>
          <a:xfrm>
            <a:off x="3218688" y="5422392"/>
            <a:ext cx="1600200" cy="22860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Điện năng tháng</a:t>
            </a:r>
            <a:endParaRPr lang="en-US" sz="750" dirty="0"/>
          </a:p>
        </p:txBody>
      </p:sp>
      <p:sp>
        <p:nvSpPr>
          <p:cNvPr id="46" name="Text 43"/>
          <p:cNvSpPr txBox="1"/>
          <p:nvPr/>
        </p:nvSpPr>
        <p:spPr>
          <a:xfrm>
            <a:off x="3218688" y="5623560"/>
            <a:ext cx="1920240" cy="347472"/>
          </a:xfrm>
          <a:prstGeom prst="rect">
            <a:avLst/>
          </a:prstGeom>
          <a:noFill/>
          <a:ln/>
        </p:spPr>
        <p:txBody>
          <a:bodyPr wrap="square" lIns="0" tIns="0" rIns="0" bIns="0" rtlCol="0" anchor="ctr"/>
          <a:lstStyle/>
          <a:p>
            <a:pPr algn="l" indent="0" marL="0">
              <a:buNone/>
            </a:pPr>
            <a:r>
              <a:rPr lang="en-US" sz="1500" b="1" dirty="0">
                <a:solidFill>
                  <a:srgbClr val="1A2330"/>
                </a:solidFill>
                <a:latin typeface="Arial" pitchFamily="34" charset="0"/>
                <a:ea typeface="Arial" pitchFamily="34" charset="-122"/>
                <a:cs typeface="Arial" pitchFamily="34" charset="-120"/>
              </a:rPr>
              <a:t>48,2 MWh</a:t>
            </a:r>
            <a:endParaRPr lang="en-US" sz="1500" dirty="0"/>
          </a:p>
        </p:txBody>
      </p:sp>
      <p:sp>
        <p:nvSpPr>
          <p:cNvPr id="47" name="Text 44"/>
          <p:cNvSpPr txBox="1"/>
          <p:nvPr/>
        </p:nvSpPr>
        <p:spPr>
          <a:xfrm>
            <a:off x="3218688" y="5971032"/>
            <a:ext cx="1920240" cy="182880"/>
          </a:xfrm>
          <a:prstGeom prst="rect">
            <a:avLst/>
          </a:prstGeom>
          <a:noFill/>
          <a:ln/>
        </p:spPr>
        <p:txBody>
          <a:bodyPr wrap="square" lIns="0" tIns="0" rIns="0" bIns="0" rtlCol="0" anchor="ctr"/>
          <a:lstStyle/>
          <a:p>
            <a:pPr algn="l" indent="0" marL="0">
              <a:buNone/>
            </a:pPr>
            <a:r>
              <a:rPr lang="en-US" sz="700" b="1" dirty="0">
                <a:solidFill>
                  <a:srgbClr val="2E9E5B"/>
                </a:solidFill>
                <a:latin typeface="Arial" pitchFamily="34" charset="0"/>
                <a:ea typeface="Arial" pitchFamily="34" charset="-122"/>
                <a:cs typeface="Arial" pitchFamily="34" charset="-120"/>
              </a:rPr>
              <a:t>▼ 6% so dự báo</a:t>
            </a:r>
            <a:endParaRPr lang="en-US" sz="700" dirty="0"/>
          </a:p>
        </p:txBody>
      </p:sp>
      <p:sp>
        <p:nvSpPr>
          <p:cNvPr id="48" name="Shape 45"/>
          <p:cNvSpPr/>
          <p:nvPr/>
        </p:nvSpPr>
        <p:spPr>
          <a:xfrm>
            <a:off x="6675120" y="1371600"/>
            <a:ext cx="5074920" cy="5074920"/>
          </a:xfrm>
          <a:prstGeom prst="roundRect">
            <a:avLst>
              <a:gd name="adj" fmla="val 901"/>
            </a:avLst>
          </a:prstGeom>
          <a:solidFill>
            <a:srgbClr val="E8F3F2"/>
          </a:solidFill>
          <a:ln/>
        </p:spPr>
      </p:sp>
      <p:sp>
        <p:nvSpPr>
          <p:cNvPr id="49" name="Text 46"/>
          <p:cNvSpPr txBox="1"/>
          <p:nvPr/>
        </p:nvSpPr>
        <p:spPr>
          <a:xfrm>
            <a:off x="6903720" y="1481328"/>
            <a:ext cx="457200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Năm nguyên tắc UX</a:t>
            </a:r>
            <a:endParaRPr lang="en-US" sz="1300" dirty="0"/>
          </a:p>
        </p:txBody>
      </p:sp>
      <p:sp>
        <p:nvSpPr>
          <p:cNvPr id="50" name="Shape 47"/>
          <p:cNvSpPr/>
          <p:nvPr/>
        </p:nvSpPr>
        <p:spPr>
          <a:xfrm>
            <a:off x="6903720" y="1920240"/>
            <a:ext cx="457200" cy="457200"/>
          </a:xfrm>
          <a:prstGeom prst="ellipse">
            <a:avLst/>
          </a:prstGeom>
          <a:solidFill>
            <a:srgbClr val="FFFFFF"/>
          </a:solidFill>
          <a:ln/>
        </p:spPr>
      </p:sp>
      <p:pic>
        <p:nvPicPr>
          <p:cNvPr id="51" name="Image 1" descr="preencoded.png">    </p:cNvPr>
          <p:cNvPicPr>
            <a:picLocks noChangeAspect="1"/>
          </p:cNvPicPr>
          <p:nvPr/>
        </p:nvPicPr>
        <p:blipFill>
          <a:blip r:embed="rId2"/>
          <a:stretch>
            <a:fillRect/>
          </a:stretch>
        </p:blipFill>
        <p:spPr>
          <a:xfrm>
            <a:off x="7013448" y="2029968"/>
            <a:ext cx="237744" cy="237744"/>
          </a:xfrm>
          <a:prstGeom prst="rect">
            <a:avLst/>
          </a:prstGeom>
        </p:spPr>
      </p:pic>
      <p:sp>
        <p:nvSpPr>
          <p:cNvPr id="52" name="Text 48"/>
          <p:cNvSpPr txBox="1"/>
          <p:nvPr/>
        </p:nvSpPr>
        <p:spPr>
          <a:xfrm>
            <a:off x="7498080" y="1901952"/>
            <a:ext cx="4114800" cy="274320"/>
          </a:xfrm>
          <a:prstGeom prst="rect">
            <a:avLst/>
          </a:prstGeom>
          <a:noFill/>
          <a:ln/>
        </p:spPr>
        <p:txBody>
          <a:bodyPr wrap="square" lIns="0" tIns="0" rIns="0" bIns="0" rtlCol="0" anchor="ctr"/>
          <a:lstStyle/>
          <a:p>
            <a:pPr algn="l" indent="0" marL="0">
              <a:buNone/>
            </a:pPr>
            <a:r>
              <a:rPr lang="en-US" sz="1200" b="1" dirty="0">
                <a:solidFill>
                  <a:srgbClr val="12324A"/>
                </a:solidFill>
                <a:latin typeface="Arial" pitchFamily="34" charset="0"/>
                <a:ea typeface="Arial" pitchFamily="34" charset="-122"/>
                <a:cs typeface="Arial" pitchFamily="34" charset="-120"/>
              </a:rPr>
              <a:t>Xám trước, màu sau</a:t>
            </a:r>
            <a:endParaRPr lang="en-US" sz="1200" dirty="0"/>
          </a:p>
        </p:txBody>
      </p:sp>
      <p:sp>
        <p:nvSpPr>
          <p:cNvPr id="53" name="Text 49"/>
          <p:cNvSpPr txBox="1"/>
          <p:nvPr/>
        </p:nvSpPr>
        <p:spPr>
          <a:xfrm>
            <a:off x="7498080" y="2167128"/>
            <a:ext cx="4114800" cy="502920"/>
          </a:xfrm>
          <a:prstGeom prst="rect">
            <a:avLst/>
          </a:prstGeom>
          <a:noFill/>
          <a:ln/>
        </p:spPr>
        <p:txBody>
          <a:bodyPr wrap="square" lIns="0" tIns="0" rIns="0" bIns="0" rtlCol="0" anchor="t"/>
          <a:lstStyle/>
          <a:p>
            <a:pPr algn="l" indent="0" marL="0">
              <a:buNone/>
            </a:pPr>
            <a:r>
              <a:rPr lang="en-US" sz="1050" dirty="0">
                <a:solidFill>
                  <a:srgbClr val="3A4654"/>
                </a:solidFill>
                <a:latin typeface="Arial" pitchFamily="34" charset="0"/>
                <a:ea typeface="Arial" pitchFamily="34" charset="-122"/>
                <a:cs typeface="Arial" pitchFamily="34" charset="-120"/>
              </a:rPr>
              <a:t>Màn hình bình thường gần như xám; mắt người trực sẽ bắt ngay điểm có màu</a:t>
            </a:r>
            <a:endParaRPr lang="en-US" sz="1050" dirty="0"/>
          </a:p>
        </p:txBody>
      </p:sp>
      <p:sp>
        <p:nvSpPr>
          <p:cNvPr id="54" name="Shape 50"/>
          <p:cNvSpPr/>
          <p:nvPr/>
        </p:nvSpPr>
        <p:spPr>
          <a:xfrm>
            <a:off x="6903720" y="2816352"/>
            <a:ext cx="457200" cy="457200"/>
          </a:xfrm>
          <a:prstGeom prst="ellipse">
            <a:avLst/>
          </a:prstGeom>
          <a:solidFill>
            <a:srgbClr val="FFFFFF"/>
          </a:solidFill>
          <a:ln/>
        </p:spPr>
      </p:sp>
      <p:pic>
        <p:nvPicPr>
          <p:cNvPr id="55" name="Image 2" descr="preencoded.png">    </p:cNvPr>
          <p:cNvPicPr>
            <a:picLocks noChangeAspect="1"/>
          </p:cNvPicPr>
          <p:nvPr/>
        </p:nvPicPr>
        <p:blipFill>
          <a:blip r:embed="rId3"/>
          <a:stretch>
            <a:fillRect/>
          </a:stretch>
        </p:blipFill>
        <p:spPr>
          <a:xfrm>
            <a:off x="7013448" y="2926080"/>
            <a:ext cx="237744" cy="237744"/>
          </a:xfrm>
          <a:prstGeom prst="rect">
            <a:avLst/>
          </a:prstGeom>
        </p:spPr>
      </p:pic>
      <p:sp>
        <p:nvSpPr>
          <p:cNvPr id="56" name="Text 51"/>
          <p:cNvSpPr txBox="1"/>
          <p:nvPr/>
        </p:nvSpPr>
        <p:spPr>
          <a:xfrm>
            <a:off x="7498080" y="2798064"/>
            <a:ext cx="4114800" cy="274320"/>
          </a:xfrm>
          <a:prstGeom prst="rect">
            <a:avLst/>
          </a:prstGeom>
          <a:noFill/>
          <a:ln/>
        </p:spPr>
        <p:txBody>
          <a:bodyPr wrap="square" lIns="0" tIns="0" rIns="0" bIns="0" rtlCol="0" anchor="ctr"/>
          <a:lstStyle/>
          <a:p>
            <a:pPr algn="l" indent="0" marL="0">
              <a:buNone/>
            </a:pPr>
            <a:r>
              <a:rPr lang="en-US" sz="1200" b="1" dirty="0">
                <a:solidFill>
                  <a:srgbClr val="12324A"/>
                </a:solidFill>
                <a:latin typeface="Arial" pitchFamily="34" charset="0"/>
                <a:ea typeface="Arial" pitchFamily="34" charset="-122"/>
                <a:cs typeface="Arial" pitchFamily="34" charset="-120"/>
              </a:rPr>
              <a:t>Không chỉ dựa vào màu</a:t>
            </a:r>
            <a:endParaRPr lang="en-US" sz="1200" dirty="0"/>
          </a:p>
        </p:txBody>
      </p:sp>
      <p:sp>
        <p:nvSpPr>
          <p:cNvPr id="57" name="Text 52"/>
          <p:cNvSpPr txBox="1"/>
          <p:nvPr/>
        </p:nvSpPr>
        <p:spPr>
          <a:xfrm>
            <a:off x="7498080" y="3063240"/>
            <a:ext cx="4114800" cy="502920"/>
          </a:xfrm>
          <a:prstGeom prst="rect">
            <a:avLst/>
          </a:prstGeom>
          <a:noFill/>
          <a:ln/>
        </p:spPr>
        <p:txBody>
          <a:bodyPr wrap="square" lIns="0" tIns="0" rIns="0" bIns="0" rtlCol="0" anchor="t"/>
          <a:lstStyle/>
          <a:p>
            <a:pPr algn="l" indent="0" marL="0">
              <a:buNone/>
            </a:pPr>
            <a:r>
              <a:rPr lang="en-US" sz="1050" dirty="0">
                <a:solidFill>
                  <a:srgbClr val="3A4654"/>
                </a:solidFill>
                <a:latin typeface="Arial" pitchFamily="34" charset="0"/>
                <a:ea typeface="Arial" pitchFamily="34" charset="-122"/>
                <a:cs typeface="Arial" pitchFamily="34" charset="-120"/>
              </a:rPr>
              <a:t>Mức cảnh báo luôn có chữ và vị trí, người mù màu vẫn đọc được</a:t>
            </a:r>
            <a:endParaRPr lang="en-US" sz="1050" dirty="0"/>
          </a:p>
        </p:txBody>
      </p:sp>
      <p:sp>
        <p:nvSpPr>
          <p:cNvPr id="58" name="Shape 53"/>
          <p:cNvSpPr/>
          <p:nvPr/>
        </p:nvSpPr>
        <p:spPr>
          <a:xfrm>
            <a:off x="6903720" y="3712464"/>
            <a:ext cx="457200" cy="457200"/>
          </a:xfrm>
          <a:prstGeom prst="ellipse">
            <a:avLst/>
          </a:prstGeom>
          <a:solidFill>
            <a:srgbClr val="FFFFFF"/>
          </a:solidFill>
          <a:ln/>
        </p:spPr>
      </p:sp>
      <p:pic>
        <p:nvPicPr>
          <p:cNvPr id="59" name="Image 3" descr="preencoded.png">    </p:cNvPr>
          <p:cNvPicPr>
            <a:picLocks noChangeAspect="1"/>
          </p:cNvPicPr>
          <p:nvPr/>
        </p:nvPicPr>
        <p:blipFill>
          <a:blip r:embed="rId4"/>
          <a:stretch>
            <a:fillRect/>
          </a:stretch>
        </p:blipFill>
        <p:spPr>
          <a:xfrm>
            <a:off x="7013448" y="3822192"/>
            <a:ext cx="237744" cy="237744"/>
          </a:xfrm>
          <a:prstGeom prst="rect">
            <a:avLst/>
          </a:prstGeom>
        </p:spPr>
      </p:pic>
      <p:sp>
        <p:nvSpPr>
          <p:cNvPr id="60" name="Text 54"/>
          <p:cNvSpPr txBox="1"/>
          <p:nvPr/>
        </p:nvSpPr>
        <p:spPr>
          <a:xfrm>
            <a:off x="7498080" y="3694176"/>
            <a:ext cx="4114800" cy="274320"/>
          </a:xfrm>
          <a:prstGeom prst="rect">
            <a:avLst/>
          </a:prstGeom>
          <a:noFill/>
          <a:ln/>
        </p:spPr>
        <p:txBody>
          <a:bodyPr wrap="square" lIns="0" tIns="0" rIns="0" bIns="0" rtlCol="0" anchor="ctr"/>
          <a:lstStyle/>
          <a:p>
            <a:pPr algn="l" indent="0" marL="0">
              <a:buNone/>
            </a:pPr>
            <a:r>
              <a:rPr lang="en-US" sz="1200" b="1" dirty="0">
                <a:solidFill>
                  <a:srgbClr val="12324A"/>
                </a:solidFill>
                <a:latin typeface="Arial" pitchFamily="34" charset="0"/>
                <a:ea typeface="Arial" pitchFamily="34" charset="-122"/>
                <a:cs typeface="Arial" pitchFamily="34" charset="-120"/>
              </a:rPr>
              <a:t>AI đề xuất, người quyết</a:t>
            </a:r>
            <a:endParaRPr lang="en-US" sz="1200" dirty="0"/>
          </a:p>
        </p:txBody>
      </p:sp>
      <p:sp>
        <p:nvSpPr>
          <p:cNvPr id="61" name="Text 55"/>
          <p:cNvSpPr txBox="1"/>
          <p:nvPr/>
        </p:nvSpPr>
        <p:spPr>
          <a:xfrm>
            <a:off x="7498080" y="3959352"/>
            <a:ext cx="4114800" cy="502920"/>
          </a:xfrm>
          <a:prstGeom prst="rect">
            <a:avLst/>
          </a:prstGeom>
          <a:noFill/>
          <a:ln/>
        </p:spPr>
        <p:txBody>
          <a:bodyPr wrap="square" lIns="0" tIns="0" rIns="0" bIns="0" rtlCol="0" anchor="t"/>
          <a:lstStyle/>
          <a:p>
            <a:pPr algn="l" indent="0" marL="0">
              <a:buNone/>
            </a:pPr>
            <a:r>
              <a:rPr lang="en-US" sz="1050" dirty="0">
                <a:solidFill>
                  <a:srgbClr val="3A4654"/>
                </a:solidFill>
                <a:latin typeface="Arial" pitchFamily="34" charset="0"/>
                <a:ea typeface="Arial" pitchFamily="34" charset="-122"/>
                <a:cs typeface="Arial" pitchFamily="34" charset="-120"/>
              </a:rPr>
              <a:t>Mọi lệnh điều khiển hiện lý do, dữ liệu căn cứ và nút duyệt</a:t>
            </a:r>
            <a:endParaRPr lang="en-US" sz="1050" dirty="0"/>
          </a:p>
        </p:txBody>
      </p:sp>
      <p:sp>
        <p:nvSpPr>
          <p:cNvPr id="62" name="Shape 56"/>
          <p:cNvSpPr/>
          <p:nvPr/>
        </p:nvSpPr>
        <p:spPr>
          <a:xfrm>
            <a:off x="6903720" y="4608576"/>
            <a:ext cx="457200" cy="457200"/>
          </a:xfrm>
          <a:prstGeom prst="ellipse">
            <a:avLst/>
          </a:prstGeom>
          <a:solidFill>
            <a:srgbClr val="FFFFFF"/>
          </a:solidFill>
          <a:ln/>
        </p:spPr>
      </p:sp>
      <p:pic>
        <p:nvPicPr>
          <p:cNvPr id="63" name="Image 4" descr="preencoded.png">    </p:cNvPr>
          <p:cNvPicPr>
            <a:picLocks noChangeAspect="1"/>
          </p:cNvPicPr>
          <p:nvPr/>
        </p:nvPicPr>
        <p:blipFill>
          <a:blip r:embed="rId5"/>
          <a:stretch>
            <a:fillRect/>
          </a:stretch>
        </p:blipFill>
        <p:spPr>
          <a:xfrm>
            <a:off x="7013448" y="4718304"/>
            <a:ext cx="237744" cy="237744"/>
          </a:xfrm>
          <a:prstGeom prst="rect">
            <a:avLst/>
          </a:prstGeom>
        </p:spPr>
      </p:pic>
      <p:sp>
        <p:nvSpPr>
          <p:cNvPr id="64" name="Text 57"/>
          <p:cNvSpPr txBox="1"/>
          <p:nvPr/>
        </p:nvSpPr>
        <p:spPr>
          <a:xfrm>
            <a:off x="7498080" y="4590288"/>
            <a:ext cx="4114800" cy="274320"/>
          </a:xfrm>
          <a:prstGeom prst="rect">
            <a:avLst/>
          </a:prstGeom>
          <a:noFill/>
          <a:ln/>
        </p:spPr>
        <p:txBody>
          <a:bodyPr wrap="square" lIns="0" tIns="0" rIns="0" bIns="0" rtlCol="0" anchor="ctr"/>
          <a:lstStyle/>
          <a:p>
            <a:pPr algn="l" indent="0" marL="0">
              <a:buNone/>
            </a:pPr>
            <a:r>
              <a:rPr lang="en-US" sz="1200" b="1" dirty="0">
                <a:solidFill>
                  <a:srgbClr val="12324A"/>
                </a:solidFill>
                <a:latin typeface="Arial" pitchFamily="34" charset="0"/>
                <a:ea typeface="Arial" pitchFamily="34" charset="-122"/>
                <a:cs typeface="Arial" pitchFamily="34" charset="-120"/>
              </a:rPr>
              <a:t>Riêng tư theo thiết kế</a:t>
            </a:r>
            <a:endParaRPr lang="en-US" sz="1200" dirty="0"/>
          </a:p>
        </p:txBody>
      </p:sp>
      <p:sp>
        <p:nvSpPr>
          <p:cNvPr id="65" name="Text 58"/>
          <p:cNvSpPr txBox="1"/>
          <p:nvPr/>
        </p:nvSpPr>
        <p:spPr>
          <a:xfrm>
            <a:off x="7498080" y="4855464"/>
            <a:ext cx="4114800" cy="502920"/>
          </a:xfrm>
          <a:prstGeom prst="rect">
            <a:avLst/>
          </a:prstGeom>
          <a:noFill/>
          <a:ln/>
        </p:spPr>
        <p:txBody>
          <a:bodyPr wrap="square" lIns="0" tIns="0" rIns="0" bIns="0" rtlCol="0" anchor="t"/>
          <a:lstStyle/>
          <a:p>
            <a:pPr algn="l" indent="0" marL="0">
              <a:buNone/>
            </a:pPr>
            <a:r>
              <a:rPr lang="en-US" sz="1050" dirty="0">
                <a:solidFill>
                  <a:srgbClr val="3A4654"/>
                </a:solidFill>
                <a:latin typeface="Arial" pitchFamily="34" charset="0"/>
                <a:ea typeface="Arial" pitchFamily="34" charset="-122"/>
                <a:cs typeface="Arial" pitchFamily="34" charset="-120"/>
              </a:rPr>
              <a:t>Ảnh khuôn mặt làm mờ mặc định, chỉ vai trò được phép mới xem</a:t>
            </a:r>
            <a:endParaRPr lang="en-US" sz="1050" dirty="0"/>
          </a:p>
        </p:txBody>
      </p:sp>
      <p:sp>
        <p:nvSpPr>
          <p:cNvPr id="66" name="Shape 59"/>
          <p:cNvSpPr/>
          <p:nvPr/>
        </p:nvSpPr>
        <p:spPr>
          <a:xfrm>
            <a:off x="6903720" y="5504688"/>
            <a:ext cx="457200" cy="457200"/>
          </a:xfrm>
          <a:prstGeom prst="ellipse">
            <a:avLst/>
          </a:prstGeom>
          <a:solidFill>
            <a:srgbClr val="FFFFFF"/>
          </a:solidFill>
          <a:ln/>
        </p:spPr>
      </p:sp>
      <p:pic>
        <p:nvPicPr>
          <p:cNvPr id="67" name="Image 5" descr="preencoded.png">    </p:cNvPr>
          <p:cNvPicPr>
            <a:picLocks noChangeAspect="1"/>
          </p:cNvPicPr>
          <p:nvPr/>
        </p:nvPicPr>
        <p:blipFill>
          <a:blip r:embed="rId6"/>
          <a:stretch>
            <a:fillRect/>
          </a:stretch>
        </p:blipFill>
        <p:spPr>
          <a:xfrm>
            <a:off x="7013448" y="5614416"/>
            <a:ext cx="237744" cy="237744"/>
          </a:xfrm>
          <a:prstGeom prst="rect">
            <a:avLst/>
          </a:prstGeom>
        </p:spPr>
      </p:pic>
      <p:sp>
        <p:nvSpPr>
          <p:cNvPr id="68" name="Text 60"/>
          <p:cNvSpPr txBox="1"/>
          <p:nvPr/>
        </p:nvSpPr>
        <p:spPr>
          <a:xfrm>
            <a:off x="7498080" y="5486400"/>
            <a:ext cx="4114800" cy="274320"/>
          </a:xfrm>
          <a:prstGeom prst="rect">
            <a:avLst/>
          </a:prstGeom>
          <a:noFill/>
          <a:ln/>
        </p:spPr>
        <p:txBody>
          <a:bodyPr wrap="square" lIns="0" tIns="0" rIns="0" bIns="0" rtlCol="0" anchor="ctr"/>
          <a:lstStyle/>
          <a:p>
            <a:pPr algn="l" indent="0" marL="0">
              <a:buNone/>
            </a:pPr>
            <a:r>
              <a:rPr lang="en-US" sz="1200" b="1" dirty="0">
                <a:solidFill>
                  <a:srgbClr val="12324A"/>
                </a:solidFill>
                <a:latin typeface="Arial" pitchFamily="34" charset="0"/>
                <a:ea typeface="Arial" pitchFamily="34" charset="-122"/>
                <a:cs typeface="Arial" pitchFamily="34" charset="-120"/>
              </a:rPr>
              <a:t>Ưu tiên một tay trên điện thoại</a:t>
            </a:r>
            <a:endParaRPr lang="en-US" sz="1200" dirty="0"/>
          </a:p>
        </p:txBody>
      </p:sp>
      <p:sp>
        <p:nvSpPr>
          <p:cNvPr id="69" name="Text 61"/>
          <p:cNvSpPr txBox="1"/>
          <p:nvPr/>
        </p:nvSpPr>
        <p:spPr>
          <a:xfrm>
            <a:off x="7498080" y="5751576"/>
            <a:ext cx="4114800" cy="502920"/>
          </a:xfrm>
          <a:prstGeom prst="rect">
            <a:avLst/>
          </a:prstGeom>
          <a:noFill/>
          <a:ln/>
        </p:spPr>
        <p:txBody>
          <a:bodyPr wrap="square" lIns="0" tIns="0" rIns="0" bIns="0" rtlCol="0" anchor="t"/>
          <a:lstStyle/>
          <a:p>
            <a:pPr algn="l" indent="0" marL="0">
              <a:buNone/>
            </a:pPr>
            <a:r>
              <a:rPr lang="en-US" sz="1050" dirty="0">
                <a:solidFill>
                  <a:srgbClr val="3A4654"/>
                </a:solidFill>
                <a:latin typeface="Arial" pitchFamily="34" charset="0"/>
                <a:ea typeface="Arial" pitchFamily="34" charset="-122"/>
                <a:cs typeface="Arial" pitchFamily="34" charset="-120"/>
              </a:rPr>
              <a:t>Nút chính trong vùng ngón cái, cỡ chữ thân tối thiểu 16px</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Dashboard Chủ đầu tư: tình trạng tòa nhà trong một màn hình</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Chủ đầu tư · Thiết bị: máy tính, màn hình lớn · Cập nhật 1–5 phút</a:t>
            </a:r>
            <a:endParaRPr lang="en-US" sz="1300" dirty="0"/>
          </a:p>
        </p:txBody>
      </p:sp>
      <p:sp>
        <p:nvSpPr>
          <p:cNvPr id="4" name="Shape 2"/>
          <p:cNvSpPr/>
          <p:nvPr/>
        </p:nvSpPr>
        <p:spPr>
          <a:xfrm>
            <a:off x="457200" y="1325880"/>
            <a:ext cx="8549640" cy="5120640"/>
          </a:xfrm>
          <a:prstGeom prst="roundRect">
            <a:avLst>
              <a:gd name="adj" fmla="val 714"/>
            </a:avLst>
          </a:prstGeom>
          <a:solidFill>
            <a:srgbClr val="FFFFFF"/>
          </a:solidFill>
          <a:ln w="9525">
            <a:solidFill>
              <a:srgbClr val="B9C3CC"/>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457200" y="1325880"/>
            <a:ext cx="8549640" cy="274320"/>
          </a:xfrm>
          <a:prstGeom prst="roundRect">
            <a:avLst>
              <a:gd name="adj" fmla="val 13333"/>
            </a:avLst>
          </a:prstGeom>
          <a:solidFill>
            <a:srgbClr val="E9EDF1"/>
          </a:solidFill>
          <a:ln/>
        </p:spPr>
      </p:sp>
      <p:sp>
        <p:nvSpPr>
          <p:cNvPr id="6" name="Shape 4"/>
          <p:cNvSpPr/>
          <p:nvPr/>
        </p:nvSpPr>
        <p:spPr>
          <a:xfrm>
            <a:off x="457200" y="1463040"/>
            <a:ext cx="8549640" cy="137160"/>
          </a:xfrm>
          <a:prstGeom prst="rect">
            <a:avLst/>
          </a:prstGeom>
          <a:solidFill>
            <a:srgbClr val="E9EDF1"/>
          </a:solidFill>
          <a:ln/>
        </p:spPr>
      </p:sp>
      <p:sp>
        <p:nvSpPr>
          <p:cNvPr id="7" name="Shape 5"/>
          <p:cNvSpPr/>
          <p:nvPr/>
        </p:nvSpPr>
        <p:spPr>
          <a:xfrm>
            <a:off x="566928" y="1408176"/>
            <a:ext cx="100584" cy="100584"/>
          </a:xfrm>
          <a:prstGeom prst="ellipse">
            <a:avLst/>
          </a:prstGeom>
          <a:solidFill>
            <a:srgbClr val="E0605A"/>
          </a:solidFill>
          <a:ln/>
        </p:spPr>
      </p:sp>
      <p:sp>
        <p:nvSpPr>
          <p:cNvPr id="8" name="Shape 6"/>
          <p:cNvSpPr/>
          <p:nvPr/>
        </p:nvSpPr>
        <p:spPr>
          <a:xfrm>
            <a:off x="713232" y="1408176"/>
            <a:ext cx="100584" cy="100584"/>
          </a:xfrm>
          <a:prstGeom prst="ellipse">
            <a:avLst/>
          </a:prstGeom>
          <a:solidFill>
            <a:srgbClr val="E8B341"/>
          </a:solidFill>
          <a:ln/>
        </p:spPr>
      </p:sp>
      <p:sp>
        <p:nvSpPr>
          <p:cNvPr id="9" name="Shape 7"/>
          <p:cNvSpPr/>
          <p:nvPr/>
        </p:nvSpPr>
        <p:spPr>
          <a:xfrm>
            <a:off x="859536" y="1408176"/>
            <a:ext cx="100584" cy="100584"/>
          </a:xfrm>
          <a:prstGeom prst="ellipse">
            <a:avLst/>
          </a:prstGeom>
          <a:solidFill>
            <a:srgbClr val="5DB85C"/>
          </a:solidFill>
          <a:ln/>
        </p:spPr>
      </p:sp>
      <p:sp>
        <p:nvSpPr>
          <p:cNvPr id="10" name="Shape 8"/>
          <p:cNvSpPr/>
          <p:nvPr/>
        </p:nvSpPr>
        <p:spPr>
          <a:xfrm>
            <a:off x="1143000" y="1380744"/>
            <a:ext cx="7635240" cy="173736"/>
          </a:xfrm>
          <a:prstGeom prst="roundRect">
            <a:avLst>
              <a:gd name="adj" fmla="val 42105"/>
            </a:avLst>
          </a:prstGeom>
          <a:solidFill>
            <a:srgbClr val="FFFFFF"/>
          </a:solidFill>
          <a:ln/>
        </p:spPr>
      </p:sp>
      <p:sp>
        <p:nvSpPr>
          <p:cNvPr id="11" name="Text 9"/>
          <p:cNvSpPr txBox="1"/>
          <p:nvPr/>
        </p:nvSpPr>
        <p:spPr>
          <a:xfrm>
            <a:off x="1234440" y="1380744"/>
            <a:ext cx="7452360" cy="173736"/>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ops.tnv-building.vn/tong-quan</a:t>
            </a:r>
            <a:endParaRPr lang="en-US" sz="700" dirty="0"/>
          </a:p>
        </p:txBody>
      </p:sp>
      <p:sp>
        <p:nvSpPr>
          <p:cNvPr id="12" name="Shape 10"/>
          <p:cNvSpPr/>
          <p:nvPr/>
        </p:nvSpPr>
        <p:spPr>
          <a:xfrm>
            <a:off x="457200" y="1600200"/>
            <a:ext cx="1325880" cy="4846320"/>
          </a:xfrm>
          <a:prstGeom prst="rect">
            <a:avLst/>
          </a:prstGeom>
          <a:solidFill>
            <a:srgbClr val="12324A"/>
          </a:solidFill>
          <a:ln/>
        </p:spPr>
      </p:sp>
      <p:sp>
        <p:nvSpPr>
          <p:cNvPr id="13" name="Text 11"/>
          <p:cNvSpPr txBox="1"/>
          <p:nvPr/>
        </p:nvSpPr>
        <p:spPr>
          <a:xfrm>
            <a:off x="594360" y="1691640"/>
            <a:ext cx="1143000" cy="27432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TNV · Smart Ops</a:t>
            </a:r>
            <a:endParaRPr lang="en-US" sz="850" dirty="0"/>
          </a:p>
        </p:txBody>
      </p:sp>
      <p:sp>
        <p:nvSpPr>
          <p:cNvPr id="14" name="Shape 12"/>
          <p:cNvSpPr/>
          <p:nvPr/>
        </p:nvSpPr>
        <p:spPr>
          <a:xfrm>
            <a:off x="521208" y="2066544"/>
            <a:ext cx="1197864" cy="274320"/>
          </a:xfrm>
          <a:prstGeom prst="roundRect">
            <a:avLst>
              <a:gd name="adj" fmla="val 26667"/>
            </a:avLst>
          </a:prstGeom>
          <a:solidFill>
            <a:srgbClr val="1B7F79"/>
          </a:solidFill>
          <a:ln/>
        </p:spPr>
      </p:sp>
      <p:pic>
        <p:nvPicPr>
          <p:cNvPr id="15" name="Image 0" descr="preencoded.png">    </p:cNvPr>
          <p:cNvPicPr>
            <a:picLocks noChangeAspect="1"/>
          </p:cNvPicPr>
          <p:nvPr/>
        </p:nvPicPr>
        <p:blipFill>
          <a:blip r:embed="rId1"/>
          <a:stretch>
            <a:fillRect/>
          </a:stretch>
        </p:blipFill>
        <p:spPr>
          <a:xfrm>
            <a:off x="603504" y="2130552"/>
            <a:ext cx="146304" cy="146304"/>
          </a:xfrm>
          <a:prstGeom prst="rect">
            <a:avLst/>
          </a:prstGeom>
        </p:spPr>
      </p:pic>
      <p:sp>
        <p:nvSpPr>
          <p:cNvPr id="16" name="Text 13"/>
          <p:cNvSpPr txBox="1"/>
          <p:nvPr/>
        </p:nvSpPr>
        <p:spPr>
          <a:xfrm>
            <a:off x="822960" y="2075688"/>
            <a:ext cx="914400" cy="256032"/>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Tổng quan</a:t>
            </a:r>
            <a:endParaRPr lang="en-US" sz="750" dirty="0"/>
          </a:p>
        </p:txBody>
      </p:sp>
      <p:pic>
        <p:nvPicPr>
          <p:cNvPr id="17" name="Image 1" descr="preencoded.png">    </p:cNvPr>
          <p:cNvPicPr>
            <a:picLocks noChangeAspect="1"/>
          </p:cNvPicPr>
          <p:nvPr/>
        </p:nvPicPr>
        <p:blipFill>
          <a:blip r:embed="rId2"/>
          <a:stretch>
            <a:fillRect/>
          </a:stretch>
        </p:blipFill>
        <p:spPr>
          <a:xfrm>
            <a:off x="603504" y="2459736"/>
            <a:ext cx="146304" cy="146304"/>
          </a:xfrm>
          <a:prstGeom prst="rect">
            <a:avLst/>
          </a:prstGeom>
        </p:spPr>
      </p:pic>
      <p:sp>
        <p:nvSpPr>
          <p:cNvPr id="18" name="Text 14"/>
          <p:cNvSpPr txBox="1"/>
          <p:nvPr/>
        </p:nvSpPr>
        <p:spPr>
          <a:xfrm>
            <a:off x="822960" y="240487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Cảnh báo</a:t>
            </a:r>
            <a:endParaRPr lang="en-US" sz="750" dirty="0"/>
          </a:p>
        </p:txBody>
      </p:sp>
      <p:pic>
        <p:nvPicPr>
          <p:cNvPr id="19" name="Image 2" descr="preencoded.png">    </p:cNvPr>
          <p:cNvPicPr>
            <a:picLocks noChangeAspect="1"/>
          </p:cNvPicPr>
          <p:nvPr/>
        </p:nvPicPr>
        <p:blipFill>
          <a:blip r:embed="rId3"/>
          <a:stretch>
            <a:fillRect/>
          </a:stretch>
        </p:blipFill>
        <p:spPr>
          <a:xfrm>
            <a:off x="603504" y="2788920"/>
            <a:ext cx="146304" cy="146304"/>
          </a:xfrm>
          <a:prstGeom prst="rect">
            <a:avLst/>
          </a:prstGeom>
        </p:spPr>
      </p:pic>
      <p:sp>
        <p:nvSpPr>
          <p:cNvPr id="20" name="Text 15"/>
          <p:cNvSpPr txBox="1"/>
          <p:nvPr/>
        </p:nvSpPr>
        <p:spPr>
          <a:xfrm>
            <a:off x="822960" y="273405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Điện &amp; nước</a:t>
            </a:r>
            <a:endParaRPr lang="en-US" sz="750" dirty="0"/>
          </a:p>
        </p:txBody>
      </p:sp>
      <p:pic>
        <p:nvPicPr>
          <p:cNvPr id="21" name="Image 3" descr="preencoded.png">    </p:cNvPr>
          <p:cNvPicPr>
            <a:picLocks noChangeAspect="1"/>
          </p:cNvPicPr>
          <p:nvPr/>
        </p:nvPicPr>
        <p:blipFill>
          <a:blip r:embed="rId4"/>
          <a:stretch>
            <a:fillRect/>
          </a:stretch>
        </p:blipFill>
        <p:spPr>
          <a:xfrm>
            <a:off x="603504" y="3118104"/>
            <a:ext cx="146304" cy="146304"/>
          </a:xfrm>
          <a:prstGeom prst="rect">
            <a:avLst/>
          </a:prstGeom>
        </p:spPr>
      </p:pic>
      <p:sp>
        <p:nvSpPr>
          <p:cNvPr id="22" name="Text 16"/>
          <p:cNvSpPr txBox="1"/>
          <p:nvPr/>
        </p:nvSpPr>
        <p:spPr>
          <a:xfrm>
            <a:off x="822960" y="3063240"/>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Thiết bị</a:t>
            </a:r>
            <a:endParaRPr lang="en-US" sz="750" dirty="0"/>
          </a:p>
        </p:txBody>
      </p:sp>
      <p:pic>
        <p:nvPicPr>
          <p:cNvPr id="23" name="Image 4" descr="preencoded.png">    </p:cNvPr>
          <p:cNvPicPr>
            <a:picLocks noChangeAspect="1"/>
          </p:cNvPicPr>
          <p:nvPr/>
        </p:nvPicPr>
        <p:blipFill>
          <a:blip r:embed="rId5"/>
          <a:stretch>
            <a:fillRect/>
          </a:stretch>
        </p:blipFill>
        <p:spPr>
          <a:xfrm>
            <a:off x="603504" y="3447288"/>
            <a:ext cx="146304" cy="146304"/>
          </a:xfrm>
          <a:prstGeom prst="rect">
            <a:avLst/>
          </a:prstGeom>
        </p:spPr>
      </p:pic>
      <p:sp>
        <p:nvSpPr>
          <p:cNvPr id="24" name="Text 17"/>
          <p:cNvSpPr txBox="1"/>
          <p:nvPr/>
        </p:nvSpPr>
        <p:spPr>
          <a:xfrm>
            <a:off x="822960" y="3392424"/>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An ninh &amp; vào ra</a:t>
            </a:r>
            <a:endParaRPr lang="en-US" sz="750" dirty="0"/>
          </a:p>
        </p:txBody>
      </p:sp>
      <p:pic>
        <p:nvPicPr>
          <p:cNvPr id="25" name="Image 5" descr="preencoded.png">    </p:cNvPr>
          <p:cNvPicPr>
            <a:picLocks noChangeAspect="1"/>
          </p:cNvPicPr>
          <p:nvPr/>
        </p:nvPicPr>
        <p:blipFill>
          <a:blip r:embed="rId6"/>
          <a:stretch>
            <a:fillRect/>
          </a:stretch>
        </p:blipFill>
        <p:spPr>
          <a:xfrm>
            <a:off x="603504" y="3776472"/>
            <a:ext cx="146304" cy="146304"/>
          </a:xfrm>
          <a:prstGeom prst="rect">
            <a:avLst/>
          </a:prstGeom>
        </p:spPr>
      </p:pic>
      <p:sp>
        <p:nvSpPr>
          <p:cNvPr id="26" name="Text 18"/>
          <p:cNvSpPr txBox="1"/>
          <p:nvPr/>
        </p:nvSpPr>
        <p:spPr>
          <a:xfrm>
            <a:off x="822960" y="372160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Trợ lý AI</a:t>
            </a:r>
            <a:endParaRPr lang="en-US" sz="750" dirty="0"/>
          </a:p>
        </p:txBody>
      </p:sp>
      <p:pic>
        <p:nvPicPr>
          <p:cNvPr id="27" name="Image 6" descr="preencoded.png">    </p:cNvPr>
          <p:cNvPicPr>
            <a:picLocks noChangeAspect="1"/>
          </p:cNvPicPr>
          <p:nvPr/>
        </p:nvPicPr>
        <p:blipFill>
          <a:blip r:embed="rId7"/>
          <a:stretch>
            <a:fillRect/>
          </a:stretch>
        </p:blipFill>
        <p:spPr>
          <a:xfrm>
            <a:off x="603504" y="4105656"/>
            <a:ext cx="146304" cy="146304"/>
          </a:xfrm>
          <a:prstGeom prst="rect">
            <a:avLst/>
          </a:prstGeom>
        </p:spPr>
      </p:pic>
      <p:sp>
        <p:nvSpPr>
          <p:cNvPr id="28" name="Text 19"/>
          <p:cNvSpPr txBox="1"/>
          <p:nvPr/>
        </p:nvSpPr>
        <p:spPr>
          <a:xfrm>
            <a:off x="822960" y="405079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Báo cáo</a:t>
            </a:r>
            <a:endParaRPr lang="en-US" sz="750" dirty="0"/>
          </a:p>
        </p:txBody>
      </p:sp>
      <p:pic>
        <p:nvPicPr>
          <p:cNvPr id="29" name="Image 7" descr="preencoded.png">    </p:cNvPr>
          <p:cNvPicPr>
            <a:picLocks noChangeAspect="1"/>
          </p:cNvPicPr>
          <p:nvPr/>
        </p:nvPicPr>
        <p:blipFill>
          <a:blip r:embed="rId8"/>
          <a:stretch>
            <a:fillRect/>
          </a:stretch>
        </p:blipFill>
        <p:spPr>
          <a:xfrm>
            <a:off x="603504" y="4434840"/>
            <a:ext cx="146304" cy="146304"/>
          </a:xfrm>
          <a:prstGeom prst="rect">
            <a:avLst/>
          </a:prstGeom>
        </p:spPr>
      </p:pic>
      <p:sp>
        <p:nvSpPr>
          <p:cNvPr id="30" name="Text 20"/>
          <p:cNvSpPr txBox="1"/>
          <p:nvPr/>
        </p:nvSpPr>
        <p:spPr>
          <a:xfrm>
            <a:off x="822960" y="437997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Cấu hình</a:t>
            </a:r>
            <a:endParaRPr lang="en-US" sz="750" dirty="0"/>
          </a:p>
        </p:txBody>
      </p:sp>
      <p:sp>
        <p:nvSpPr>
          <p:cNvPr id="31" name="Text 21"/>
          <p:cNvSpPr txBox="1"/>
          <p:nvPr/>
        </p:nvSpPr>
        <p:spPr>
          <a:xfrm>
            <a:off x="548640" y="6080760"/>
            <a:ext cx="1143000" cy="274320"/>
          </a:xfrm>
          <a:prstGeom prst="rect">
            <a:avLst/>
          </a:prstGeom>
          <a:noFill/>
          <a:ln/>
        </p:spPr>
        <p:txBody>
          <a:bodyPr wrap="square" lIns="0" tIns="0" rIns="0" bIns="0" rtlCol="0" anchor="ctr"/>
          <a:lstStyle/>
          <a:p>
            <a:pPr algn="l" indent="0" marL="0">
              <a:buNone/>
            </a:pPr>
            <a:r>
              <a:rPr lang="en-US" sz="600" dirty="0">
                <a:solidFill>
                  <a:srgbClr val="8FA6B8"/>
                </a:solidFill>
                <a:latin typeface="Arial" pitchFamily="34" charset="0"/>
                <a:ea typeface="Arial" pitchFamily="34" charset="-122"/>
                <a:cs typeface="Arial" pitchFamily="34" charset="-120"/>
              </a:rPr>
              <a:t>Claude · Gemini qua cổng AI Gimasys</a:t>
            </a:r>
            <a:endParaRPr lang="en-US" sz="600" dirty="0"/>
          </a:p>
        </p:txBody>
      </p:sp>
      <p:sp>
        <p:nvSpPr>
          <p:cNvPr id="32" name="Shape 22"/>
          <p:cNvSpPr/>
          <p:nvPr/>
        </p:nvSpPr>
        <p:spPr>
          <a:xfrm>
            <a:off x="1783080" y="1600200"/>
            <a:ext cx="7223760" cy="411480"/>
          </a:xfrm>
          <a:prstGeom prst="rect">
            <a:avLst/>
          </a:prstGeom>
          <a:solidFill>
            <a:srgbClr val="FFFFFF"/>
          </a:solidFill>
          <a:ln/>
        </p:spPr>
      </p:sp>
      <p:sp>
        <p:nvSpPr>
          <p:cNvPr id="33" name="Shape 23"/>
          <p:cNvSpPr/>
          <p:nvPr/>
        </p:nvSpPr>
        <p:spPr>
          <a:xfrm>
            <a:off x="1783080" y="2011680"/>
            <a:ext cx="7223760" cy="0"/>
          </a:xfrm>
          <a:prstGeom prst="line">
            <a:avLst/>
          </a:prstGeom>
          <a:noFill/>
          <a:ln w="9525">
            <a:solidFill>
              <a:srgbClr val="E4E8EC"/>
            </a:solidFill>
            <a:prstDash val="solid"/>
          </a:ln>
        </p:spPr>
      </p:sp>
      <p:sp>
        <p:nvSpPr>
          <p:cNvPr id="34" name="Text 24"/>
          <p:cNvSpPr txBox="1"/>
          <p:nvPr/>
        </p:nvSpPr>
        <p:spPr>
          <a:xfrm>
            <a:off x="1947672" y="1600200"/>
            <a:ext cx="3657600" cy="411480"/>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Tổng quan tòa nhà</a:t>
            </a:r>
            <a:endParaRPr lang="en-US" sz="1100" dirty="0"/>
          </a:p>
        </p:txBody>
      </p:sp>
      <p:sp>
        <p:nvSpPr>
          <p:cNvPr id="35" name="Text 25"/>
          <p:cNvSpPr txBox="1"/>
          <p:nvPr/>
        </p:nvSpPr>
        <p:spPr>
          <a:xfrm>
            <a:off x="5074920" y="1600200"/>
            <a:ext cx="3337560" cy="411480"/>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Tháng 10/2026 ▾ · VI | EN</a:t>
            </a:r>
            <a:endParaRPr lang="en-US" sz="750" dirty="0"/>
          </a:p>
        </p:txBody>
      </p:sp>
      <p:sp>
        <p:nvSpPr>
          <p:cNvPr id="36" name="Shape 26"/>
          <p:cNvSpPr/>
          <p:nvPr/>
        </p:nvSpPr>
        <p:spPr>
          <a:xfrm>
            <a:off x="8549640" y="1682496"/>
            <a:ext cx="246888" cy="246888"/>
          </a:xfrm>
          <a:prstGeom prst="ellipse">
            <a:avLst/>
          </a:prstGeom>
          <a:solidFill>
            <a:srgbClr val="1B7F79"/>
          </a:solidFill>
          <a:ln/>
        </p:spPr>
      </p:sp>
      <p:sp>
        <p:nvSpPr>
          <p:cNvPr id="37" name="Text 27"/>
          <p:cNvSpPr txBox="1"/>
          <p:nvPr/>
        </p:nvSpPr>
        <p:spPr>
          <a:xfrm>
            <a:off x="8549640" y="1682496"/>
            <a:ext cx="246888" cy="24688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BQL</a:t>
            </a:r>
            <a:endParaRPr lang="en-US" sz="600" dirty="0"/>
          </a:p>
        </p:txBody>
      </p:sp>
      <p:sp>
        <p:nvSpPr>
          <p:cNvPr id="38" name="Shape 28"/>
          <p:cNvSpPr/>
          <p:nvPr/>
        </p:nvSpPr>
        <p:spPr>
          <a:xfrm>
            <a:off x="1783080" y="2020824"/>
            <a:ext cx="7223760" cy="4416552"/>
          </a:xfrm>
          <a:prstGeom prst="rect">
            <a:avLst/>
          </a:prstGeom>
          <a:solidFill>
            <a:srgbClr val="F5F7F9"/>
          </a:solidFill>
          <a:ln/>
        </p:spPr>
      </p:sp>
      <p:sp>
        <p:nvSpPr>
          <p:cNvPr id="39" name="Shape 29"/>
          <p:cNvSpPr/>
          <p:nvPr/>
        </p:nvSpPr>
        <p:spPr>
          <a:xfrm>
            <a:off x="1920240" y="2130552"/>
            <a:ext cx="1316736" cy="777240"/>
          </a:xfrm>
          <a:prstGeom prst="roundRect">
            <a:avLst>
              <a:gd name="adj" fmla="val 7059"/>
            </a:avLst>
          </a:prstGeom>
          <a:solidFill>
            <a:srgbClr val="FFFFFF"/>
          </a:solidFill>
          <a:ln w="6350">
            <a:solidFill>
              <a:srgbClr val="D5DCE3"/>
            </a:solidFill>
            <a:prstDash val="solid"/>
          </a:ln>
        </p:spPr>
      </p:sp>
      <p:sp>
        <p:nvSpPr>
          <p:cNvPr id="40" name="Shape 30"/>
          <p:cNvSpPr/>
          <p:nvPr/>
        </p:nvSpPr>
        <p:spPr>
          <a:xfrm>
            <a:off x="2852928" y="2221992"/>
            <a:ext cx="274320" cy="274320"/>
          </a:xfrm>
          <a:prstGeom prst="ellipse">
            <a:avLst/>
          </a:prstGeom>
          <a:solidFill>
            <a:srgbClr val="E8F3F2"/>
          </a:solidFill>
          <a:ln/>
        </p:spPr>
      </p:sp>
      <p:pic>
        <p:nvPicPr>
          <p:cNvPr id="41" name="Image 8" descr="preencoded.png">    </p:cNvPr>
          <p:cNvPicPr>
            <a:picLocks noChangeAspect="1"/>
          </p:cNvPicPr>
          <p:nvPr/>
        </p:nvPicPr>
        <p:blipFill>
          <a:blip r:embed="rId9"/>
          <a:stretch>
            <a:fillRect/>
          </a:stretch>
        </p:blipFill>
        <p:spPr>
          <a:xfrm>
            <a:off x="2912364" y="2281428"/>
            <a:ext cx="155448" cy="155448"/>
          </a:xfrm>
          <a:prstGeom prst="rect">
            <a:avLst/>
          </a:prstGeom>
        </p:spPr>
      </p:pic>
      <p:sp>
        <p:nvSpPr>
          <p:cNvPr id="42" name="Text 31"/>
          <p:cNvSpPr txBox="1"/>
          <p:nvPr/>
        </p:nvSpPr>
        <p:spPr>
          <a:xfrm>
            <a:off x="2029968" y="2203704"/>
            <a:ext cx="813816" cy="22860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Điện năng tháng</a:t>
            </a:r>
            <a:endParaRPr lang="en-US" sz="750" dirty="0"/>
          </a:p>
        </p:txBody>
      </p:sp>
      <p:sp>
        <p:nvSpPr>
          <p:cNvPr id="43" name="Text 32"/>
          <p:cNvSpPr txBox="1"/>
          <p:nvPr/>
        </p:nvSpPr>
        <p:spPr>
          <a:xfrm>
            <a:off x="2029968" y="2404872"/>
            <a:ext cx="1133856" cy="347472"/>
          </a:xfrm>
          <a:prstGeom prst="rect">
            <a:avLst/>
          </a:prstGeom>
          <a:noFill/>
          <a:ln/>
        </p:spPr>
        <p:txBody>
          <a:bodyPr wrap="square" lIns="0" tIns="0" rIns="0" bIns="0" rtlCol="0" anchor="ctr"/>
          <a:lstStyle/>
          <a:p>
            <a:pPr algn="l" indent="0" marL="0">
              <a:buNone/>
            </a:pPr>
            <a:r>
              <a:rPr lang="en-US" sz="1500" b="1" dirty="0">
                <a:solidFill>
                  <a:srgbClr val="1A2330"/>
                </a:solidFill>
                <a:latin typeface="Arial" pitchFamily="34" charset="0"/>
                <a:ea typeface="Arial" pitchFamily="34" charset="-122"/>
                <a:cs typeface="Arial" pitchFamily="34" charset="-120"/>
              </a:rPr>
              <a:t>48,2 MWh</a:t>
            </a:r>
            <a:endParaRPr lang="en-US" sz="1500" dirty="0"/>
          </a:p>
        </p:txBody>
      </p:sp>
      <p:sp>
        <p:nvSpPr>
          <p:cNvPr id="44" name="Text 33"/>
          <p:cNvSpPr txBox="1"/>
          <p:nvPr/>
        </p:nvSpPr>
        <p:spPr>
          <a:xfrm>
            <a:off x="2029968" y="2660904"/>
            <a:ext cx="1133856" cy="182880"/>
          </a:xfrm>
          <a:prstGeom prst="rect">
            <a:avLst/>
          </a:prstGeom>
          <a:noFill/>
          <a:ln/>
        </p:spPr>
        <p:txBody>
          <a:bodyPr wrap="square" lIns="0" tIns="0" rIns="0" bIns="0" rtlCol="0" anchor="ctr"/>
          <a:lstStyle/>
          <a:p>
            <a:pPr algn="l" indent="0" marL="0">
              <a:buNone/>
            </a:pPr>
            <a:r>
              <a:rPr lang="en-US" sz="700" b="1" dirty="0">
                <a:solidFill>
                  <a:srgbClr val="2E9E5B"/>
                </a:solidFill>
                <a:latin typeface="Arial" pitchFamily="34" charset="0"/>
                <a:ea typeface="Arial" pitchFamily="34" charset="-122"/>
                <a:cs typeface="Arial" pitchFamily="34" charset="-120"/>
              </a:rPr>
              <a:t>▼ 6% so dự báo</a:t>
            </a:r>
            <a:endParaRPr lang="en-US" sz="700" dirty="0"/>
          </a:p>
        </p:txBody>
      </p:sp>
      <p:sp>
        <p:nvSpPr>
          <p:cNvPr id="45" name="Shape 34"/>
          <p:cNvSpPr/>
          <p:nvPr/>
        </p:nvSpPr>
        <p:spPr>
          <a:xfrm>
            <a:off x="3328416" y="2130552"/>
            <a:ext cx="1316736" cy="777240"/>
          </a:xfrm>
          <a:prstGeom prst="roundRect">
            <a:avLst>
              <a:gd name="adj" fmla="val 7059"/>
            </a:avLst>
          </a:prstGeom>
          <a:solidFill>
            <a:srgbClr val="FFFFFF"/>
          </a:solidFill>
          <a:ln w="6350">
            <a:solidFill>
              <a:srgbClr val="D5DCE3"/>
            </a:solidFill>
            <a:prstDash val="solid"/>
          </a:ln>
        </p:spPr>
      </p:sp>
      <p:sp>
        <p:nvSpPr>
          <p:cNvPr id="46" name="Shape 35"/>
          <p:cNvSpPr/>
          <p:nvPr/>
        </p:nvSpPr>
        <p:spPr>
          <a:xfrm>
            <a:off x="4261104" y="2221992"/>
            <a:ext cx="274320" cy="274320"/>
          </a:xfrm>
          <a:prstGeom prst="ellipse">
            <a:avLst/>
          </a:prstGeom>
          <a:solidFill>
            <a:srgbClr val="E8F3F2"/>
          </a:solidFill>
          <a:ln/>
        </p:spPr>
      </p:sp>
      <p:pic>
        <p:nvPicPr>
          <p:cNvPr id="47" name="Image 9" descr="preencoded.png">    </p:cNvPr>
          <p:cNvPicPr>
            <a:picLocks noChangeAspect="1"/>
          </p:cNvPicPr>
          <p:nvPr/>
        </p:nvPicPr>
        <p:blipFill>
          <a:blip r:embed="rId10"/>
          <a:stretch>
            <a:fillRect/>
          </a:stretch>
        </p:blipFill>
        <p:spPr>
          <a:xfrm>
            <a:off x="4320540" y="2281428"/>
            <a:ext cx="155448" cy="155448"/>
          </a:xfrm>
          <a:prstGeom prst="rect">
            <a:avLst/>
          </a:prstGeom>
        </p:spPr>
      </p:pic>
      <p:sp>
        <p:nvSpPr>
          <p:cNvPr id="48" name="Text 36"/>
          <p:cNvSpPr txBox="1"/>
          <p:nvPr/>
        </p:nvSpPr>
        <p:spPr>
          <a:xfrm>
            <a:off x="3438144" y="2203704"/>
            <a:ext cx="813816" cy="22860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Nước tháng</a:t>
            </a:r>
            <a:endParaRPr lang="en-US" sz="750" dirty="0"/>
          </a:p>
        </p:txBody>
      </p:sp>
      <p:sp>
        <p:nvSpPr>
          <p:cNvPr id="49" name="Text 37"/>
          <p:cNvSpPr txBox="1"/>
          <p:nvPr/>
        </p:nvSpPr>
        <p:spPr>
          <a:xfrm>
            <a:off x="3438144" y="2404872"/>
            <a:ext cx="1133856" cy="347472"/>
          </a:xfrm>
          <a:prstGeom prst="rect">
            <a:avLst/>
          </a:prstGeom>
          <a:noFill/>
          <a:ln/>
        </p:spPr>
        <p:txBody>
          <a:bodyPr wrap="square" lIns="0" tIns="0" rIns="0" bIns="0" rtlCol="0" anchor="ctr"/>
          <a:lstStyle/>
          <a:p>
            <a:pPr algn="l" indent="0" marL="0">
              <a:buNone/>
            </a:pPr>
            <a:r>
              <a:rPr lang="en-US" sz="1500" b="1" dirty="0">
                <a:solidFill>
                  <a:srgbClr val="1A2330"/>
                </a:solidFill>
                <a:latin typeface="Arial" pitchFamily="34" charset="0"/>
                <a:ea typeface="Arial" pitchFamily="34" charset="-122"/>
                <a:cs typeface="Arial" pitchFamily="34" charset="-120"/>
              </a:rPr>
              <a:t>1.240 m³</a:t>
            </a:r>
            <a:endParaRPr lang="en-US" sz="1500" dirty="0"/>
          </a:p>
        </p:txBody>
      </p:sp>
      <p:sp>
        <p:nvSpPr>
          <p:cNvPr id="50" name="Text 38"/>
          <p:cNvSpPr txBox="1"/>
          <p:nvPr/>
        </p:nvSpPr>
        <p:spPr>
          <a:xfrm>
            <a:off x="3438144" y="2660904"/>
            <a:ext cx="1133856" cy="182880"/>
          </a:xfrm>
          <a:prstGeom prst="rect">
            <a:avLst/>
          </a:prstGeom>
          <a:noFill/>
          <a:ln/>
        </p:spPr>
        <p:txBody>
          <a:bodyPr wrap="square" lIns="0" tIns="0" rIns="0" bIns="0" rtlCol="0" anchor="ctr"/>
          <a:lstStyle/>
          <a:p>
            <a:pPr algn="l" indent="0" marL="0">
              <a:buNone/>
            </a:pPr>
            <a:r>
              <a:rPr lang="en-US" sz="700" b="1" dirty="0">
                <a:solidFill>
                  <a:srgbClr val="2E9E5B"/>
                </a:solidFill>
                <a:latin typeface="Arial" pitchFamily="34" charset="0"/>
                <a:ea typeface="Arial" pitchFamily="34" charset="-122"/>
                <a:cs typeface="Arial" pitchFamily="34" charset="-120"/>
              </a:rPr>
              <a:t>▼ 3% so T9</a:t>
            </a:r>
            <a:endParaRPr lang="en-US" sz="700" dirty="0"/>
          </a:p>
        </p:txBody>
      </p:sp>
      <p:sp>
        <p:nvSpPr>
          <p:cNvPr id="51" name="Shape 39"/>
          <p:cNvSpPr/>
          <p:nvPr/>
        </p:nvSpPr>
        <p:spPr>
          <a:xfrm>
            <a:off x="4736592" y="2130552"/>
            <a:ext cx="1316736" cy="777240"/>
          </a:xfrm>
          <a:prstGeom prst="roundRect">
            <a:avLst>
              <a:gd name="adj" fmla="val 7059"/>
            </a:avLst>
          </a:prstGeom>
          <a:solidFill>
            <a:srgbClr val="FFFFFF"/>
          </a:solidFill>
          <a:ln w="6350">
            <a:solidFill>
              <a:srgbClr val="D5DCE3"/>
            </a:solidFill>
            <a:prstDash val="solid"/>
          </a:ln>
        </p:spPr>
      </p:sp>
      <p:sp>
        <p:nvSpPr>
          <p:cNvPr id="52" name="Shape 40"/>
          <p:cNvSpPr/>
          <p:nvPr/>
        </p:nvSpPr>
        <p:spPr>
          <a:xfrm>
            <a:off x="5669280" y="2221992"/>
            <a:ext cx="274320" cy="274320"/>
          </a:xfrm>
          <a:prstGeom prst="ellipse">
            <a:avLst/>
          </a:prstGeom>
          <a:solidFill>
            <a:srgbClr val="E8F3F2"/>
          </a:solidFill>
          <a:ln/>
        </p:spPr>
      </p:sp>
      <p:pic>
        <p:nvPicPr>
          <p:cNvPr id="53" name="Image 10" descr="preencoded.png">    </p:cNvPr>
          <p:cNvPicPr>
            <a:picLocks noChangeAspect="1"/>
          </p:cNvPicPr>
          <p:nvPr/>
        </p:nvPicPr>
        <p:blipFill>
          <a:blip r:embed="rId11"/>
          <a:stretch>
            <a:fillRect/>
          </a:stretch>
        </p:blipFill>
        <p:spPr>
          <a:xfrm>
            <a:off x="5728716" y="2281428"/>
            <a:ext cx="155448" cy="155448"/>
          </a:xfrm>
          <a:prstGeom prst="rect">
            <a:avLst/>
          </a:prstGeom>
        </p:spPr>
      </p:pic>
      <p:sp>
        <p:nvSpPr>
          <p:cNvPr id="54" name="Text 41"/>
          <p:cNvSpPr txBox="1"/>
          <p:nvPr/>
        </p:nvSpPr>
        <p:spPr>
          <a:xfrm>
            <a:off x="4846320" y="2203704"/>
            <a:ext cx="813816" cy="22860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Chi phí vận hành</a:t>
            </a:r>
            <a:endParaRPr lang="en-US" sz="750" dirty="0"/>
          </a:p>
        </p:txBody>
      </p:sp>
      <p:sp>
        <p:nvSpPr>
          <p:cNvPr id="55" name="Text 42"/>
          <p:cNvSpPr txBox="1"/>
          <p:nvPr/>
        </p:nvSpPr>
        <p:spPr>
          <a:xfrm>
            <a:off x="4846320" y="2404872"/>
            <a:ext cx="1133856" cy="347472"/>
          </a:xfrm>
          <a:prstGeom prst="rect">
            <a:avLst/>
          </a:prstGeom>
          <a:noFill/>
          <a:ln/>
        </p:spPr>
        <p:txBody>
          <a:bodyPr wrap="square" lIns="0" tIns="0" rIns="0" bIns="0" rtlCol="0" anchor="ctr"/>
          <a:lstStyle/>
          <a:p>
            <a:pPr algn="l" indent="0" marL="0">
              <a:buNone/>
            </a:pPr>
            <a:r>
              <a:rPr lang="en-US" sz="1500" b="1" dirty="0">
                <a:solidFill>
                  <a:srgbClr val="1A2330"/>
                </a:solidFill>
                <a:latin typeface="Arial" pitchFamily="34" charset="0"/>
                <a:ea typeface="Arial" pitchFamily="34" charset="-122"/>
                <a:cs typeface="Arial" pitchFamily="34" charset="-120"/>
              </a:rPr>
              <a:t>312 tr đ</a:t>
            </a:r>
            <a:endParaRPr lang="en-US" sz="1500" dirty="0"/>
          </a:p>
        </p:txBody>
      </p:sp>
      <p:sp>
        <p:nvSpPr>
          <p:cNvPr id="56" name="Text 43"/>
          <p:cNvSpPr txBox="1"/>
          <p:nvPr/>
        </p:nvSpPr>
        <p:spPr>
          <a:xfrm>
            <a:off x="4846320" y="2660904"/>
            <a:ext cx="1133856" cy="182880"/>
          </a:xfrm>
          <a:prstGeom prst="rect">
            <a:avLst/>
          </a:prstGeom>
          <a:noFill/>
          <a:ln/>
        </p:spPr>
        <p:txBody>
          <a:bodyPr wrap="square" lIns="0" tIns="0" rIns="0" bIns="0" rtlCol="0" anchor="ctr"/>
          <a:lstStyle/>
          <a:p>
            <a:pPr algn="l" indent="0" marL="0">
              <a:buNone/>
            </a:pPr>
            <a:r>
              <a:rPr lang="en-US" sz="700" b="1" dirty="0">
                <a:solidFill>
                  <a:srgbClr val="2E9E5B"/>
                </a:solidFill>
                <a:latin typeface="Arial" pitchFamily="34" charset="0"/>
                <a:ea typeface="Arial" pitchFamily="34" charset="-122"/>
                <a:cs typeface="Arial" pitchFamily="34" charset="-120"/>
              </a:rPr>
              <a:t>▼ 4% so kế hoạch</a:t>
            </a:r>
            <a:endParaRPr lang="en-US" sz="700" dirty="0"/>
          </a:p>
        </p:txBody>
      </p:sp>
      <p:sp>
        <p:nvSpPr>
          <p:cNvPr id="57" name="Shape 44"/>
          <p:cNvSpPr/>
          <p:nvPr/>
        </p:nvSpPr>
        <p:spPr>
          <a:xfrm>
            <a:off x="6144768" y="2130552"/>
            <a:ext cx="1316736" cy="777240"/>
          </a:xfrm>
          <a:prstGeom prst="roundRect">
            <a:avLst>
              <a:gd name="adj" fmla="val 7059"/>
            </a:avLst>
          </a:prstGeom>
          <a:solidFill>
            <a:srgbClr val="FFFFFF"/>
          </a:solidFill>
          <a:ln w="6350">
            <a:solidFill>
              <a:srgbClr val="D5DCE3"/>
            </a:solidFill>
            <a:prstDash val="solid"/>
          </a:ln>
        </p:spPr>
      </p:sp>
      <p:sp>
        <p:nvSpPr>
          <p:cNvPr id="58" name="Shape 45"/>
          <p:cNvSpPr/>
          <p:nvPr/>
        </p:nvSpPr>
        <p:spPr>
          <a:xfrm>
            <a:off x="7077456" y="2221992"/>
            <a:ext cx="274320" cy="274320"/>
          </a:xfrm>
          <a:prstGeom prst="ellipse">
            <a:avLst/>
          </a:prstGeom>
          <a:solidFill>
            <a:srgbClr val="E8F3F2"/>
          </a:solidFill>
          <a:ln/>
        </p:spPr>
      </p:sp>
      <p:pic>
        <p:nvPicPr>
          <p:cNvPr id="59" name="Image 11" descr="preencoded.png">    </p:cNvPr>
          <p:cNvPicPr>
            <a:picLocks noChangeAspect="1"/>
          </p:cNvPicPr>
          <p:nvPr/>
        </p:nvPicPr>
        <p:blipFill>
          <a:blip r:embed="rId12"/>
          <a:stretch>
            <a:fillRect/>
          </a:stretch>
        </p:blipFill>
        <p:spPr>
          <a:xfrm>
            <a:off x="7136892" y="2281428"/>
            <a:ext cx="155448" cy="155448"/>
          </a:xfrm>
          <a:prstGeom prst="rect">
            <a:avLst/>
          </a:prstGeom>
        </p:spPr>
      </p:pic>
      <p:sp>
        <p:nvSpPr>
          <p:cNvPr id="60" name="Text 46"/>
          <p:cNvSpPr txBox="1"/>
          <p:nvPr/>
        </p:nvSpPr>
        <p:spPr>
          <a:xfrm>
            <a:off x="6254496" y="2203704"/>
            <a:ext cx="813816" cy="22860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Cảnh báo đang mở</a:t>
            </a:r>
            <a:endParaRPr lang="en-US" sz="750" dirty="0"/>
          </a:p>
        </p:txBody>
      </p:sp>
      <p:sp>
        <p:nvSpPr>
          <p:cNvPr id="61" name="Text 47"/>
          <p:cNvSpPr txBox="1"/>
          <p:nvPr/>
        </p:nvSpPr>
        <p:spPr>
          <a:xfrm>
            <a:off x="6254496" y="2404872"/>
            <a:ext cx="1133856" cy="347472"/>
          </a:xfrm>
          <a:prstGeom prst="rect">
            <a:avLst/>
          </a:prstGeom>
          <a:noFill/>
          <a:ln/>
        </p:spPr>
        <p:txBody>
          <a:bodyPr wrap="square" lIns="0" tIns="0" rIns="0" bIns="0" rtlCol="0" anchor="ctr"/>
          <a:lstStyle/>
          <a:p>
            <a:pPr algn="l" indent="0" marL="0">
              <a:buNone/>
            </a:pPr>
            <a:r>
              <a:rPr lang="en-US" sz="1500" b="1" dirty="0">
                <a:solidFill>
                  <a:srgbClr val="1A2330"/>
                </a:solidFill>
                <a:latin typeface="Arial" pitchFamily="34" charset="0"/>
                <a:ea typeface="Arial" pitchFamily="34" charset="-122"/>
                <a:cs typeface="Arial" pitchFamily="34" charset="-120"/>
              </a:rPr>
              <a:t>7</a:t>
            </a:r>
            <a:endParaRPr lang="en-US" sz="1500" dirty="0"/>
          </a:p>
        </p:txBody>
      </p:sp>
      <p:sp>
        <p:nvSpPr>
          <p:cNvPr id="62" name="Text 48"/>
          <p:cNvSpPr txBox="1"/>
          <p:nvPr/>
        </p:nvSpPr>
        <p:spPr>
          <a:xfrm>
            <a:off x="6254496" y="2660904"/>
            <a:ext cx="1133856" cy="182880"/>
          </a:xfrm>
          <a:prstGeom prst="rect">
            <a:avLst/>
          </a:prstGeom>
          <a:noFill/>
          <a:ln/>
        </p:spPr>
        <p:txBody>
          <a:bodyPr wrap="square" lIns="0" tIns="0" rIns="0" bIns="0" rtlCol="0" anchor="ctr"/>
          <a:lstStyle/>
          <a:p>
            <a:pPr algn="l" indent="0" marL="0">
              <a:buNone/>
            </a:pPr>
            <a:r>
              <a:rPr lang="en-US" sz="700" b="1" dirty="0">
                <a:solidFill>
                  <a:srgbClr val="D64545"/>
                </a:solidFill>
                <a:latin typeface="Arial" pitchFamily="34" charset="0"/>
                <a:ea typeface="Arial" pitchFamily="34" charset="-122"/>
                <a:cs typeface="Arial" pitchFamily="34" charset="-120"/>
              </a:rPr>
              <a:t>1 khẩn · 2 cao</a:t>
            </a:r>
            <a:endParaRPr lang="en-US" sz="700" dirty="0"/>
          </a:p>
        </p:txBody>
      </p:sp>
      <p:sp>
        <p:nvSpPr>
          <p:cNvPr id="63" name="Shape 49"/>
          <p:cNvSpPr/>
          <p:nvPr/>
        </p:nvSpPr>
        <p:spPr>
          <a:xfrm>
            <a:off x="7552944" y="2130552"/>
            <a:ext cx="1316736" cy="777240"/>
          </a:xfrm>
          <a:prstGeom prst="roundRect">
            <a:avLst>
              <a:gd name="adj" fmla="val 7059"/>
            </a:avLst>
          </a:prstGeom>
          <a:solidFill>
            <a:srgbClr val="FFFFFF"/>
          </a:solidFill>
          <a:ln w="6350">
            <a:solidFill>
              <a:srgbClr val="D5DCE3"/>
            </a:solidFill>
            <a:prstDash val="solid"/>
          </a:ln>
        </p:spPr>
      </p:sp>
      <p:sp>
        <p:nvSpPr>
          <p:cNvPr id="64" name="Shape 50"/>
          <p:cNvSpPr/>
          <p:nvPr/>
        </p:nvSpPr>
        <p:spPr>
          <a:xfrm>
            <a:off x="8485632" y="2221992"/>
            <a:ext cx="274320" cy="274320"/>
          </a:xfrm>
          <a:prstGeom prst="ellipse">
            <a:avLst/>
          </a:prstGeom>
          <a:solidFill>
            <a:srgbClr val="E8F3F2"/>
          </a:solidFill>
          <a:ln/>
        </p:spPr>
      </p:sp>
      <p:pic>
        <p:nvPicPr>
          <p:cNvPr id="65" name="Image 12" descr="preencoded.png">    </p:cNvPr>
          <p:cNvPicPr>
            <a:picLocks noChangeAspect="1"/>
          </p:cNvPicPr>
          <p:nvPr/>
        </p:nvPicPr>
        <p:blipFill>
          <a:blip r:embed="rId13"/>
          <a:stretch>
            <a:fillRect/>
          </a:stretch>
        </p:blipFill>
        <p:spPr>
          <a:xfrm>
            <a:off x="8545068" y="2281428"/>
            <a:ext cx="155448" cy="155448"/>
          </a:xfrm>
          <a:prstGeom prst="rect">
            <a:avLst/>
          </a:prstGeom>
        </p:spPr>
      </p:pic>
      <p:sp>
        <p:nvSpPr>
          <p:cNvPr id="66" name="Text 51"/>
          <p:cNvSpPr txBox="1"/>
          <p:nvPr/>
        </p:nvSpPr>
        <p:spPr>
          <a:xfrm>
            <a:off x="7662672" y="2203704"/>
            <a:ext cx="813816" cy="22860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Thiết bị sẵn sàng</a:t>
            </a:r>
            <a:endParaRPr lang="en-US" sz="750" dirty="0"/>
          </a:p>
        </p:txBody>
      </p:sp>
      <p:sp>
        <p:nvSpPr>
          <p:cNvPr id="67" name="Text 52"/>
          <p:cNvSpPr txBox="1"/>
          <p:nvPr/>
        </p:nvSpPr>
        <p:spPr>
          <a:xfrm>
            <a:off x="7662672" y="2404872"/>
            <a:ext cx="1133856" cy="347472"/>
          </a:xfrm>
          <a:prstGeom prst="rect">
            <a:avLst/>
          </a:prstGeom>
          <a:noFill/>
          <a:ln/>
        </p:spPr>
        <p:txBody>
          <a:bodyPr wrap="square" lIns="0" tIns="0" rIns="0" bIns="0" rtlCol="0" anchor="ctr"/>
          <a:lstStyle/>
          <a:p>
            <a:pPr algn="l" indent="0" marL="0">
              <a:buNone/>
            </a:pPr>
            <a:r>
              <a:rPr lang="en-US" sz="1500" b="1" dirty="0">
                <a:solidFill>
                  <a:srgbClr val="1A2330"/>
                </a:solidFill>
                <a:latin typeface="Arial" pitchFamily="34" charset="0"/>
                <a:ea typeface="Arial" pitchFamily="34" charset="-122"/>
                <a:cs typeface="Arial" pitchFamily="34" charset="-120"/>
              </a:rPr>
              <a:t>98,6%</a:t>
            </a:r>
            <a:endParaRPr lang="en-US" sz="1500" dirty="0"/>
          </a:p>
        </p:txBody>
      </p:sp>
      <p:sp>
        <p:nvSpPr>
          <p:cNvPr id="68" name="Text 53"/>
          <p:cNvSpPr txBox="1"/>
          <p:nvPr/>
        </p:nvSpPr>
        <p:spPr>
          <a:xfrm>
            <a:off x="7662672" y="2660904"/>
            <a:ext cx="1133856" cy="182880"/>
          </a:xfrm>
          <a:prstGeom prst="rect">
            <a:avLst/>
          </a:prstGeom>
          <a:noFill/>
          <a:ln/>
        </p:spPr>
        <p:txBody>
          <a:bodyPr wrap="square" lIns="0" tIns="0" rIns="0" bIns="0" rtlCol="0" anchor="ctr"/>
          <a:lstStyle/>
          <a:p>
            <a:pPr algn="l" indent="0" marL="0">
              <a:buNone/>
            </a:pPr>
            <a:r>
              <a:rPr lang="en-US" sz="700" b="1" dirty="0">
                <a:solidFill>
                  <a:srgbClr val="E8833A"/>
                </a:solidFill>
                <a:latin typeface="Arial" pitchFamily="34" charset="0"/>
                <a:ea typeface="Arial" pitchFamily="34" charset="-122"/>
                <a:cs typeface="Arial" pitchFamily="34" charset="-120"/>
              </a:rPr>
              <a:t>2 thiết bị cần kiểm tra</a:t>
            </a:r>
            <a:endParaRPr lang="en-US" sz="700" dirty="0"/>
          </a:p>
        </p:txBody>
      </p:sp>
      <p:sp>
        <p:nvSpPr>
          <p:cNvPr id="69" name="Shape 54"/>
          <p:cNvSpPr/>
          <p:nvPr/>
        </p:nvSpPr>
        <p:spPr>
          <a:xfrm>
            <a:off x="1920240" y="2999232"/>
            <a:ext cx="4343400" cy="1691640"/>
          </a:xfrm>
          <a:prstGeom prst="roundRect">
            <a:avLst>
              <a:gd name="adj" fmla="val 3243"/>
            </a:avLst>
          </a:prstGeom>
          <a:solidFill>
            <a:srgbClr val="FFFFFF"/>
          </a:solidFill>
          <a:ln w="6350">
            <a:solidFill>
              <a:srgbClr val="D5DCE3"/>
            </a:solidFill>
            <a:prstDash val="solid"/>
          </a:ln>
        </p:spPr>
      </p:sp>
      <p:sp>
        <p:nvSpPr>
          <p:cNvPr id="70" name="Text 55"/>
          <p:cNvSpPr txBox="1"/>
          <p:nvPr/>
        </p:nvSpPr>
        <p:spPr>
          <a:xfrm>
            <a:off x="2029968" y="3054096"/>
            <a:ext cx="412394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Điện năng theo ngày: thực tế và dự báo AI (MWh)</a:t>
            </a:r>
            <a:endParaRPr lang="en-US" sz="850" dirty="0"/>
          </a:p>
        </p:txBody>
      </p:sp>
      <p:graphicFrame>
        <p:nvGraphicFramePr>
          <p:cNvPr id="71" name="Chart 0" descr=""/>
          <p:cNvGraphicFramePr/>
          <p:nvPr/>
        </p:nvGraphicFramePr>
        <p:xfrm>
          <a:off x="1965960" y="3236976"/>
          <a:ext cx="4251960" cy="1435608"/>
        </p:xfrm>
        <a:graphic xmlns:a="http://schemas.openxmlformats.org/drawingml/2006/main">
          <a:graphicData uri="http://schemas.openxmlformats.org/drawingml/2006/chart">
            <c:chart xmlns:c="http://schemas.openxmlformats.org/drawingml/2006/chart" r:id="rId14"/>
          </a:graphicData>
        </a:graphic>
      </p:graphicFrame>
      <p:sp>
        <p:nvSpPr>
          <p:cNvPr id="72" name="Shape 56"/>
          <p:cNvSpPr/>
          <p:nvPr/>
        </p:nvSpPr>
        <p:spPr>
          <a:xfrm>
            <a:off x="6355080" y="2999232"/>
            <a:ext cx="2514600" cy="1691640"/>
          </a:xfrm>
          <a:prstGeom prst="roundRect">
            <a:avLst>
              <a:gd name="adj" fmla="val 3243"/>
            </a:avLst>
          </a:prstGeom>
          <a:solidFill>
            <a:srgbClr val="FFFFFF"/>
          </a:solidFill>
          <a:ln w="6350">
            <a:solidFill>
              <a:srgbClr val="D5DCE3"/>
            </a:solidFill>
            <a:prstDash val="solid"/>
          </a:ln>
        </p:spPr>
      </p:sp>
      <p:sp>
        <p:nvSpPr>
          <p:cNvPr id="73" name="Text 57"/>
          <p:cNvSpPr txBox="1"/>
          <p:nvPr/>
        </p:nvSpPr>
        <p:spPr>
          <a:xfrm>
            <a:off x="6464808" y="3054096"/>
            <a:ext cx="229514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Cảnh báo cần quyết định</a:t>
            </a:r>
            <a:endParaRPr lang="en-US" sz="850" dirty="0"/>
          </a:p>
        </p:txBody>
      </p:sp>
      <p:sp>
        <p:nvSpPr>
          <p:cNvPr id="74" name="Shape 58"/>
          <p:cNvSpPr/>
          <p:nvPr/>
        </p:nvSpPr>
        <p:spPr>
          <a:xfrm>
            <a:off x="6464808" y="3374136"/>
            <a:ext cx="457200" cy="182880"/>
          </a:xfrm>
          <a:prstGeom prst="roundRect">
            <a:avLst>
              <a:gd name="adj" fmla="val 50000"/>
            </a:avLst>
          </a:prstGeom>
          <a:solidFill>
            <a:srgbClr val="D64545"/>
          </a:solidFill>
          <a:ln/>
        </p:spPr>
      </p:sp>
      <p:sp>
        <p:nvSpPr>
          <p:cNvPr id="75" name="Text 59"/>
          <p:cNvSpPr txBox="1"/>
          <p:nvPr/>
        </p:nvSpPr>
        <p:spPr>
          <a:xfrm>
            <a:off x="6464808" y="3374136"/>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KHẨN</a:t>
            </a:r>
            <a:endParaRPr lang="en-US" sz="700" dirty="0"/>
          </a:p>
        </p:txBody>
      </p:sp>
      <p:sp>
        <p:nvSpPr>
          <p:cNvPr id="76" name="Text 60"/>
          <p:cNvSpPr txBox="1"/>
          <p:nvPr/>
        </p:nvSpPr>
        <p:spPr>
          <a:xfrm>
            <a:off x="6995160" y="3310128"/>
            <a:ext cx="1325880" cy="310896"/>
          </a:xfrm>
          <a:prstGeom prst="rect">
            <a:avLst/>
          </a:prstGeom>
          <a:noFill/>
          <a:ln/>
        </p:spPr>
        <p:txBody>
          <a:bodyPr wrap="square" lIns="0" tIns="0" rIns="0" bIns="0" rtlCol="0" anchor="ctr"/>
          <a:lstStyle/>
          <a:p>
            <a:pPr algn="l" indent="0" marL="0">
              <a:buNone/>
            </a:pPr>
            <a:r>
              <a:rPr lang="en-US" sz="780" dirty="0">
                <a:solidFill>
                  <a:srgbClr val="1A2330"/>
                </a:solidFill>
                <a:latin typeface="Arial" pitchFamily="34" charset="0"/>
                <a:ea typeface="Arial" pitchFamily="34" charset="-122"/>
                <a:cs typeface="Arial" pitchFamily="34" charset="-120"/>
              </a:rPr>
              <a:t>Rò rỉ nước tầng 3 – nhánh căn 3B</a:t>
            </a:r>
            <a:endParaRPr lang="en-US" sz="780" dirty="0"/>
          </a:p>
        </p:txBody>
      </p:sp>
      <p:sp>
        <p:nvSpPr>
          <p:cNvPr id="77" name="Text 61"/>
          <p:cNvSpPr txBox="1"/>
          <p:nvPr/>
        </p:nvSpPr>
        <p:spPr>
          <a:xfrm>
            <a:off x="8366760" y="3310128"/>
            <a:ext cx="411480" cy="310896"/>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02:31</a:t>
            </a:r>
            <a:endParaRPr lang="en-US" sz="750" dirty="0"/>
          </a:p>
        </p:txBody>
      </p:sp>
      <p:sp>
        <p:nvSpPr>
          <p:cNvPr id="78" name="Shape 62"/>
          <p:cNvSpPr/>
          <p:nvPr/>
        </p:nvSpPr>
        <p:spPr>
          <a:xfrm>
            <a:off x="6464808" y="3712464"/>
            <a:ext cx="457200" cy="182880"/>
          </a:xfrm>
          <a:prstGeom prst="roundRect">
            <a:avLst>
              <a:gd name="adj" fmla="val 50000"/>
            </a:avLst>
          </a:prstGeom>
          <a:solidFill>
            <a:srgbClr val="E8833A"/>
          </a:solidFill>
          <a:ln/>
        </p:spPr>
      </p:sp>
      <p:sp>
        <p:nvSpPr>
          <p:cNvPr id="79" name="Text 63"/>
          <p:cNvSpPr txBox="1"/>
          <p:nvPr/>
        </p:nvSpPr>
        <p:spPr>
          <a:xfrm>
            <a:off x="6464808" y="3712464"/>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CAO</a:t>
            </a:r>
            <a:endParaRPr lang="en-US" sz="700" dirty="0"/>
          </a:p>
        </p:txBody>
      </p:sp>
      <p:sp>
        <p:nvSpPr>
          <p:cNvPr id="80" name="Text 64"/>
          <p:cNvSpPr txBox="1"/>
          <p:nvPr/>
        </p:nvSpPr>
        <p:spPr>
          <a:xfrm>
            <a:off x="6995160" y="3648456"/>
            <a:ext cx="1325880" cy="310896"/>
          </a:xfrm>
          <a:prstGeom prst="rect">
            <a:avLst/>
          </a:prstGeom>
          <a:noFill/>
          <a:ln/>
        </p:spPr>
        <p:txBody>
          <a:bodyPr wrap="square" lIns="0" tIns="0" rIns="0" bIns="0" rtlCol="0" anchor="ctr"/>
          <a:lstStyle/>
          <a:p>
            <a:pPr algn="l" indent="0" marL="0">
              <a:buNone/>
            </a:pPr>
            <a:r>
              <a:rPr lang="en-US" sz="780" dirty="0">
                <a:solidFill>
                  <a:srgbClr val="1A2330"/>
                </a:solidFill>
                <a:latin typeface="Arial" pitchFamily="34" charset="0"/>
                <a:ea typeface="Arial" pitchFamily="34" charset="-122"/>
                <a:cs typeface="Arial" pitchFamily="34" charset="-120"/>
              </a:rPr>
              <a:t>Bơm tăng áp 02 khởi động dày</a:t>
            </a:r>
            <a:endParaRPr lang="en-US" sz="780" dirty="0"/>
          </a:p>
        </p:txBody>
      </p:sp>
      <p:sp>
        <p:nvSpPr>
          <p:cNvPr id="81" name="Text 65"/>
          <p:cNvSpPr txBox="1"/>
          <p:nvPr/>
        </p:nvSpPr>
        <p:spPr>
          <a:xfrm>
            <a:off x="8366760" y="3648456"/>
            <a:ext cx="411480" cy="310896"/>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09:30</a:t>
            </a:r>
            <a:endParaRPr lang="en-US" sz="750" dirty="0"/>
          </a:p>
        </p:txBody>
      </p:sp>
      <p:sp>
        <p:nvSpPr>
          <p:cNvPr id="82" name="Shape 66"/>
          <p:cNvSpPr/>
          <p:nvPr/>
        </p:nvSpPr>
        <p:spPr>
          <a:xfrm>
            <a:off x="6464808" y="4050792"/>
            <a:ext cx="457200" cy="182880"/>
          </a:xfrm>
          <a:prstGeom prst="roundRect">
            <a:avLst>
              <a:gd name="adj" fmla="val 50000"/>
            </a:avLst>
          </a:prstGeom>
          <a:solidFill>
            <a:srgbClr val="E8833A"/>
          </a:solidFill>
          <a:ln/>
        </p:spPr>
      </p:sp>
      <p:sp>
        <p:nvSpPr>
          <p:cNvPr id="83" name="Text 67"/>
          <p:cNvSpPr txBox="1"/>
          <p:nvPr/>
        </p:nvSpPr>
        <p:spPr>
          <a:xfrm>
            <a:off x="6464808" y="4050792"/>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CAO</a:t>
            </a:r>
            <a:endParaRPr lang="en-US" sz="700" dirty="0"/>
          </a:p>
        </p:txBody>
      </p:sp>
      <p:sp>
        <p:nvSpPr>
          <p:cNvPr id="84" name="Text 68"/>
          <p:cNvSpPr txBox="1"/>
          <p:nvPr/>
        </p:nvSpPr>
        <p:spPr>
          <a:xfrm>
            <a:off x="6995160" y="3986784"/>
            <a:ext cx="1325880" cy="310896"/>
          </a:xfrm>
          <a:prstGeom prst="rect">
            <a:avLst/>
          </a:prstGeom>
          <a:noFill/>
          <a:ln/>
        </p:spPr>
        <p:txBody>
          <a:bodyPr wrap="square" lIns="0" tIns="0" rIns="0" bIns="0" rtlCol="0" anchor="ctr"/>
          <a:lstStyle/>
          <a:p>
            <a:pPr algn="l" indent="0" marL="0">
              <a:buNone/>
            </a:pPr>
            <a:r>
              <a:rPr lang="en-US" sz="780" dirty="0">
                <a:solidFill>
                  <a:srgbClr val="1A2330"/>
                </a:solidFill>
                <a:latin typeface="Arial" pitchFamily="34" charset="0"/>
                <a:ea typeface="Arial" pitchFamily="34" charset="-122"/>
                <a:cs typeface="Arial" pitchFamily="34" charset="-120"/>
              </a:rPr>
              <a:t>Trạm sạc 03 hầm B2 mất kết nối</a:t>
            </a:r>
            <a:endParaRPr lang="en-US" sz="780" dirty="0"/>
          </a:p>
        </p:txBody>
      </p:sp>
      <p:sp>
        <p:nvSpPr>
          <p:cNvPr id="85" name="Text 69"/>
          <p:cNvSpPr txBox="1"/>
          <p:nvPr/>
        </p:nvSpPr>
        <p:spPr>
          <a:xfrm>
            <a:off x="8366760" y="3986784"/>
            <a:ext cx="411480" cy="310896"/>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10:05</a:t>
            </a:r>
            <a:endParaRPr lang="en-US" sz="750" dirty="0"/>
          </a:p>
        </p:txBody>
      </p:sp>
      <p:sp>
        <p:nvSpPr>
          <p:cNvPr id="86" name="Shape 70"/>
          <p:cNvSpPr/>
          <p:nvPr/>
        </p:nvSpPr>
        <p:spPr>
          <a:xfrm>
            <a:off x="6464808" y="4389120"/>
            <a:ext cx="457200" cy="182880"/>
          </a:xfrm>
          <a:prstGeom prst="roundRect">
            <a:avLst>
              <a:gd name="adj" fmla="val 50000"/>
            </a:avLst>
          </a:prstGeom>
          <a:solidFill>
            <a:srgbClr val="D9A21B"/>
          </a:solidFill>
          <a:ln/>
        </p:spPr>
      </p:sp>
      <p:sp>
        <p:nvSpPr>
          <p:cNvPr id="87" name="Text 71"/>
          <p:cNvSpPr txBox="1"/>
          <p:nvPr/>
        </p:nvSpPr>
        <p:spPr>
          <a:xfrm>
            <a:off x="6464808" y="4389120"/>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TB</a:t>
            </a:r>
            <a:endParaRPr lang="en-US" sz="700" dirty="0"/>
          </a:p>
        </p:txBody>
      </p:sp>
      <p:sp>
        <p:nvSpPr>
          <p:cNvPr id="88" name="Text 72"/>
          <p:cNvSpPr txBox="1"/>
          <p:nvPr/>
        </p:nvSpPr>
        <p:spPr>
          <a:xfrm>
            <a:off x="6995160" y="4325112"/>
            <a:ext cx="1325880" cy="310896"/>
          </a:xfrm>
          <a:prstGeom prst="rect">
            <a:avLst/>
          </a:prstGeom>
          <a:noFill/>
          <a:ln/>
        </p:spPr>
        <p:txBody>
          <a:bodyPr wrap="square" lIns="0" tIns="0" rIns="0" bIns="0" rtlCol="0" anchor="ctr"/>
          <a:lstStyle/>
          <a:p>
            <a:pPr algn="l" indent="0" marL="0">
              <a:buNone/>
            </a:pPr>
            <a:r>
              <a:rPr lang="en-US" sz="780" dirty="0">
                <a:solidFill>
                  <a:srgbClr val="1A2330"/>
                </a:solidFill>
                <a:latin typeface="Arial" pitchFamily="34" charset="0"/>
                <a:ea typeface="Arial" pitchFamily="34" charset="-122"/>
                <a:cs typeface="Arial" pitchFamily="34" charset="-120"/>
              </a:rPr>
              <a:t>Lọc gió FAF-02 cần vệ sinh</a:t>
            </a:r>
            <a:endParaRPr lang="en-US" sz="780" dirty="0"/>
          </a:p>
        </p:txBody>
      </p:sp>
      <p:sp>
        <p:nvSpPr>
          <p:cNvPr id="89" name="Text 73"/>
          <p:cNvSpPr txBox="1"/>
          <p:nvPr/>
        </p:nvSpPr>
        <p:spPr>
          <a:xfrm>
            <a:off x="8366760" y="4325112"/>
            <a:ext cx="411480" cy="310896"/>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11:12</a:t>
            </a:r>
            <a:endParaRPr lang="en-US" sz="750" dirty="0"/>
          </a:p>
        </p:txBody>
      </p:sp>
      <p:sp>
        <p:nvSpPr>
          <p:cNvPr id="90" name="Shape 74"/>
          <p:cNvSpPr/>
          <p:nvPr/>
        </p:nvSpPr>
        <p:spPr>
          <a:xfrm>
            <a:off x="1920240" y="4782312"/>
            <a:ext cx="3108960" cy="1554480"/>
          </a:xfrm>
          <a:prstGeom prst="roundRect">
            <a:avLst>
              <a:gd name="adj" fmla="val 3529"/>
            </a:avLst>
          </a:prstGeom>
          <a:solidFill>
            <a:srgbClr val="FFFFFF"/>
          </a:solidFill>
          <a:ln w="6350">
            <a:solidFill>
              <a:srgbClr val="D5DCE3"/>
            </a:solidFill>
            <a:prstDash val="solid"/>
          </a:ln>
        </p:spPr>
      </p:sp>
      <p:sp>
        <p:nvSpPr>
          <p:cNvPr id="91" name="Text 75"/>
          <p:cNvSpPr txBox="1"/>
          <p:nvPr/>
        </p:nvSpPr>
        <p:spPr>
          <a:xfrm>
            <a:off x="2029968" y="4837176"/>
            <a:ext cx="288950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Điện theo khu vực (MWh)</a:t>
            </a:r>
            <a:endParaRPr lang="en-US" sz="850" dirty="0"/>
          </a:p>
        </p:txBody>
      </p:sp>
      <p:graphicFrame>
        <p:nvGraphicFramePr>
          <p:cNvPr id="92" name="Chart 1" descr=""/>
          <p:cNvGraphicFramePr/>
          <p:nvPr/>
        </p:nvGraphicFramePr>
        <p:xfrm>
          <a:off x="1965960" y="5010912"/>
          <a:ext cx="3017520" cy="1280160"/>
        </p:xfrm>
        <a:graphic xmlns:a="http://schemas.openxmlformats.org/drawingml/2006/main">
          <a:graphicData uri="http://schemas.openxmlformats.org/drawingml/2006/chart">
            <c:chart xmlns:c="http://schemas.openxmlformats.org/drawingml/2006/chart" r:id="rId15"/>
          </a:graphicData>
        </a:graphic>
      </p:graphicFrame>
      <p:sp>
        <p:nvSpPr>
          <p:cNvPr id="93" name="Shape 76"/>
          <p:cNvSpPr/>
          <p:nvPr/>
        </p:nvSpPr>
        <p:spPr>
          <a:xfrm>
            <a:off x="5120640" y="4782312"/>
            <a:ext cx="2011680" cy="1554480"/>
          </a:xfrm>
          <a:prstGeom prst="roundRect">
            <a:avLst>
              <a:gd name="adj" fmla="val 3529"/>
            </a:avLst>
          </a:prstGeom>
          <a:solidFill>
            <a:srgbClr val="FFFFFF"/>
          </a:solidFill>
          <a:ln w="6350">
            <a:solidFill>
              <a:srgbClr val="D5DCE3"/>
            </a:solidFill>
            <a:prstDash val="solid"/>
          </a:ln>
        </p:spPr>
      </p:sp>
      <p:sp>
        <p:nvSpPr>
          <p:cNvPr id="94" name="Text 77"/>
          <p:cNvSpPr txBox="1"/>
          <p:nvPr/>
        </p:nvSpPr>
        <p:spPr>
          <a:xfrm>
            <a:off x="5230368" y="4837176"/>
            <a:ext cx="179222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Khách đang có mặt</a:t>
            </a:r>
            <a:endParaRPr lang="en-US" sz="850" dirty="0"/>
          </a:p>
        </p:txBody>
      </p:sp>
      <p:sp>
        <p:nvSpPr>
          <p:cNvPr id="95" name="Text 78"/>
          <p:cNvSpPr txBox="1"/>
          <p:nvPr/>
        </p:nvSpPr>
        <p:spPr>
          <a:xfrm>
            <a:off x="5230368" y="5129784"/>
            <a:ext cx="1097280" cy="182880"/>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Nhà hàng B1</a:t>
            </a:r>
            <a:endParaRPr lang="en-US" sz="750" dirty="0"/>
          </a:p>
        </p:txBody>
      </p:sp>
      <p:sp>
        <p:nvSpPr>
          <p:cNvPr id="96" name="Text 79"/>
          <p:cNvSpPr txBox="1"/>
          <p:nvPr/>
        </p:nvSpPr>
        <p:spPr>
          <a:xfrm>
            <a:off x="6309360" y="5129784"/>
            <a:ext cx="731520" cy="182880"/>
          </a:xfrm>
          <a:prstGeom prst="rect">
            <a:avLst/>
          </a:prstGeom>
          <a:noFill/>
          <a:ln/>
        </p:spPr>
        <p:txBody>
          <a:bodyPr wrap="square" lIns="0" tIns="0" rIns="0" bIns="0" rtlCol="0" anchor="ctr"/>
          <a:lstStyle/>
          <a:p>
            <a:pPr algn="r" indent="0" marL="0">
              <a:buNone/>
            </a:pPr>
            <a:r>
              <a:rPr lang="en-US" sz="750" b="1" dirty="0">
                <a:solidFill>
                  <a:srgbClr val="1A2330"/>
                </a:solidFill>
                <a:latin typeface="Arial" pitchFamily="34" charset="0"/>
                <a:ea typeface="Arial" pitchFamily="34" charset="-122"/>
                <a:cs typeface="Arial" pitchFamily="34" charset="-120"/>
              </a:rPr>
              <a:t>86 / 150</a:t>
            </a:r>
            <a:endParaRPr lang="en-US" sz="750" dirty="0"/>
          </a:p>
        </p:txBody>
      </p:sp>
      <p:sp>
        <p:nvSpPr>
          <p:cNvPr id="97" name="Shape 80"/>
          <p:cNvSpPr/>
          <p:nvPr/>
        </p:nvSpPr>
        <p:spPr>
          <a:xfrm>
            <a:off x="5230368" y="5340096"/>
            <a:ext cx="1792224" cy="82296"/>
          </a:xfrm>
          <a:prstGeom prst="roundRect">
            <a:avLst>
              <a:gd name="adj" fmla="val 44444"/>
            </a:avLst>
          </a:prstGeom>
          <a:solidFill>
            <a:srgbClr val="E4E8EC"/>
          </a:solidFill>
          <a:ln/>
        </p:spPr>
      </p:sp>
      <p:sp>
        <p:nvSpPr>
          <p:cNvPr id="98" name="Shape 81"/>
          <p:cNvSpPr/>
          <p:nvPr/>
        </p:nvSpPr>
        <p:spPr>
          <a:xfrm>
            <a:off x="5230368" y="5340096"/>
            <a:ext cx="1027542" cy="82296"/>
          </a:xfrm>
          <a:prstGeom prst="roundRect">
            <a:avLst>
              <a:gd name="adj" fmla="val 44444"/>
            </a:avLst>
          </a:prstGeom>
          <a:solidFill>
            <a:srgbClr val="1B7F79"/>
          </a:solidFill>
          <a:ln/>
        </p:spPr>
      </p:sp>
      <p:sp>
        <p:nvSpPr>
          <p:cNvPr id="99" name="Text 82"/>
          <p:cNvSpPr txBox="1"/>
          <p:nvPr/>
        </p:nvSpPr>
        <p:spPr>
          <a:xfrm>
            <a:off x="5230368" y="5513832"/>
            <a:ext cx="1097280" cy="182880"/>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Rooftop</a:t>
            </a:r>
            <a:endParaRPr lang="en-US" sz="750" dirty="0"/>
          </a:p>
        </p:txBody>
      </p:sp>
      <p:sp>
        <p:nvSpPr>
          <p:cNvPr id="100" name="Text 83"/>
          <p:cNvSpPr txBox="1"/>
          <p:nvPr/>
        </p:nvSpPr>
        <p:spPr>
          <a:xfrm>
            <a:off x="6309360" y="5513832"/>
            <a:ext cx="731520" cy="182880"/>
          </a:xfrm>
          <a:prstGeom prst="rect">
            <a:avLst/>
          </a:prstGeom>
          <a:noFill/>
          <a:ln/>
        </p:spPr>
        <p:txBody>
          <a:bodyPr wrap="square" lIns="0" tIns="0" rIns="0" bIns="0" rtlCol="0" anchor="ctr"/>
          <a:lstStyle/>
          <a:p>
            <a:pPr algn="r" indent="0" marL="0">
              <a:buNone/>
            </a:pPr>
            <a:r>
              <a:rPr lang="en-US" sz="750" b="1" dirty="0">
                <a:solidFill>
                  <a:srgbClr val="1A2330"/>
                </a:solidFill>
                <a:latin typeface="Arial" pitchFamily="34" charset="0"/>
                <a:ea typeface="Arial" pitchFamily="34" charset="-122"/>
                <a:cs typeface="Arial" pitchFamily="34" charset="-120"/>
              </a:rPr>
              <a:t>108 / 120</a:t>
            </a:r>
            <a:endParaRPr lang="en-US" sz="750" dirty="0"/>
          </a:p>
        </p:txBody>
      </p:sp>
      <p:sp>
        <p:nvSpPr>
          <p:cNvPr id="101" name="Shape 84"/>
          <p:cNvSpPr/>
          <p:nvPr/>
        </p:nvSpPr>
        <p:spPr>
          <a:xfrm>
            <a:off x="5230368" y="5724144"/>
            <a:ext cx="1792224" cy="82296"/>
          </a:xfrm>
          <a:prstGeom prst="roundRect">
            <a:avLst>
              <a:gd name="adj" fmla="val 44444"/>
            </a:avLst>
          </a:prstGeom>
          <a:solidFill>
            <a:srgbClr val="E4E8EC"/>
          </a:solidFill>
          <a:ln/>
        </p:spPr>
      </p:sp>
      <p:sp>
        <p:nvSpPr>
          <p:cNvPr id="102" name="Shape 85"/>
          <p:cNvSpPr/>
          <p:nvPr/>
        </p:nvSpPr>
        <p:spPr>
          <a:xfrm>
            <a:off x="5230368" y="5724144"/>
            <a:ext cx="1613002" cy="82296"/>
          </a:xfrm>
          <a:prstGeom prst="roundRect">
            <a:avLst>
              <a:gd name="adj" fmla="val 44444"/>
            </a:avLst>
          </a:prstGeom>
          <a:solidFill>
            <a:srgbClr val="E8833A"/>
          </a:solidFill>
          <a:ln/>
        </p:spPr>
      </p:sp>
      <p:sp>
        <p:nvSpPr>
          <p:cNvPr id="103" name="Text 86"/>
          <p:cNvSpPr txBox="1"/>
          <p:nvPr/>
        </p:nvSpPr>
        <p:spPr>
          <a:xfrm>
            <a:off x="5230368" y="5897880"/>
            <a:ext cx="1097280" cy="182880"/>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Sảnh T1</a:t>
            </a:r>
            <a:endParaRPr lang="en-US" sz="750" dirty="0"/>
          </a:p>
        </p:txBody>
      </p:sp>
      <p:sp>
        <p:nvSpPr>
          <p:cNvPr id="104" name="Text 87"/>
          <p:cNvSpPr txBox="1"/>
          <p:nvPr/>
        </p:nvSpPr>
        <p:spPr>
          <a:xfrm>
            <a:off x="6309360" y="5897880"/>
            <a:ext cx="731520" cy="182880"/>
          </a:xfrm>
          <a:prstGeom prst="rect">
            <a:avLst/>
          </a:prstGeom>
          <a:noFill/>
          <a:ln/>
        </p:spPr>
        <p:txBody>
          <a:bodyPr wrap="square" lIns="0" tIns="0" rIns="0" bIns="0" rtlCol="0" anchor="ctr"/>
          <a:lstStyle/>
          <a:p>
            <a:pPr algn="r" indent="0" marL="0">
              <a:buNone/>
            </a:pPr>
            <a:r>
              <a:rPr lang="en-US" sz="750" b="1" dirty="0">
                <a:solidFill>
                  <a:srgbClr val="1A2330"/>
                </a:solidFill>
                <a:latin typeface="Arial" pitchFamily="34" charset="0"/>
                <a:ea typeface="Arial" pitchFamily="34" charset="-122"/>
                <a:cs typeface="Arial" pitchFamily="34" charset="-120"/>
              </a:rPr>
              <a:t>12 / 60</a:t>
            </a:r>
            <a:endParaRPr lang="en-US" sz="750" dirty="0"/>
          </a:p>
        </p:txBody>
      </p:sp>
      <p:sp>
        <p:nvSpPr>
          <p:cNvPr id="105" name="Shape 88"/>
          <p:cNvSpPr/>
          <p:nvPr/>
        </p:nvSpPr>
        <p:spPr>
          <a:xfrm>
            <a:off x="5230368" y="6108192"/>
            <a:ext cx="1792224" cy="82296"/>
          </a:xfrm>
          <a:prstGeom prst="roundRect">
            <a:avLst>
              <a:gd name="adj" fmla="val 44444"/>
            </a:avLst>
          </a:prstGeom>
          <a:solidFill>
            <a:srgbClr val="E4E8EC"/>
          </a:solidFill>
          <a:ln/>
        </p:spPr>
      </p:sp>
      <p:sp>
        <p:nvSpPr>
          <p:cNvPr id="106" name="Shape 89"/>
          <p:cNvSpPr/>
          <p:nvPr/>
        </p:nvSpPr>
        <p:spPr>
          <a:xfrm>
            <a:off x="5230368" y="6108192"/>
            <a:ext cx="358445" cy="82296"/>
          </a:xfrm>
          <a:prstGeom prst="roundRect">
            <a:avLst>
              <a:gd name="adj" fmla="val 44444"/>
            </a:avLst>
          </a:prstGeom>
          <a:solidFill>
            <a:srgbClr val="1B7F79"/>
          </a:solidFill>
          <a:ln/>
        </p:spPr>
      </p:sp>
      <p:sp>
        <p:nvSpPr>
          <p:cNvPr id="107" name="Shape 90"/>
          <p:cNvSpPr/>
          <p:nvPr/>
        </p:nvSpPr>
        <p:spPr>
          <a:xfrm>
            <a:off x="7223760" y="4782312"/>
            <a:ext cx="1645920" cy="1554480"/>
          </a:xfrm>
          <a:prstGeom prst="roundRect">
            <a:avLst>
              <a:gd name="adj" fmla="val 3529"/>
            </a:avLst>
          </a:prstGeom>
          <a:solidFill>
            <a:srgbClr val="FFFFFF"/>
          </a:solidFill>
          <a:ln w="6350">
            <a:solidFill>
              <a:srgbClr val="D5DCE3"/>
            </a:solidFill>
            <a:prstDash val="solid"/>
          </a:ln>
        </p:spPr>
      </p:sp>
      <p:sp>
        <p:nvSpPr>
          <p:cNvPr id="108" name="Text 91"/>
          <p:cNvSpPr txBox="1"/>
          <p:nvPr/>
        </p:nvSpPr>
        <p:spPr>
          <a:xfrm>
            <a:off x="7333488" y="4837176"/>
            <a:ext cx="142646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Hiệu quả AI tháng này</a:t>
            </a:r>
            <a:endParaRPr lang="en-US" sz="850" dirty="0"/>
          </a:p>
        </p:txBody>
      </p:sp>
      <p:pic>
        <p:nvPicPr>
          <p:cNvPr id="109" name="Image 13" descr="preencoded.png">    </p:cNvPr>
          <p:cNvPicPr>
            <a:picLocks noChangeAspect="1"/>
          </p:cNvPicPr>
          <p:nvPr/>
        </p:nvPicPr>
        <p:blipFill>
          <a:blip r:embed="rId16"/>
          <a:stretch>
            <a:fillRect/>
          </a:stretch>
        </p:blipFill>
        <p:spPr>
          <a:xfrm>
            <a:off x="7333488" y="5148072"/>
            <a:ext cx="182880" cy="182880"/>
          </a:xfrm>
          <a:prstGeom prst="rect">
            <a:avLst/>
          </a:prstGeom>
        </p:spPr>
      </p:pic>
      <p:sp>
        <p:nvSpPr>
          <p:cNvPr id="110" name="Text 92"/>
          <p:cNvSpPr txBox="1"/>
          <p:nvPr/>
        </p:nvSpPr>
        <p:spPr>
          <a:xfrm>
            <a:off x="7589520" y="5093208"/>
            <a:ext cx="1234440"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−22% nước tưới</a:t>
            </a:r>
            <a:endParaRPr lang="en-US" sz="800" dirty="0"/>
          </a:p>
        </p:txBody>
      </p:sp>
      <p:sp>
        <p:nvSpPr>
          <p:cNvPr id="111" name="Text 93"/>
          <p:cNvSpPr txBox="1"/>
          <p:nvPr/>
        </p:nvSpPr>
        <p:spPr>
          <a:xfrm>
            <a:off x="7589520" y="5285232"/>
            <a:ext cx="12344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so lịch tưới cố định</a:t>
            </a:r>
            <a:endParaRPr lang="en-US" sz="700" dirty="0"/>
          </a:p>
        </p:txBody>
      </p:sp>
      <p:pic>
        <p:nvPicPr>
          <p:cNvPr id="112" name="Image 14" descr="preencoded.png">    </p:cNvPr>
          <p:cNvPicPr>
            <a:picLocks noChangeAspect="1"/>
          </p:cNvPicPr>
          <p:nvPr/>
        </p:nvPicPr>
        <p:blipFill>
          <a:blip r:embed="rId17"/>
          <a:stretch>
            <a:fillRect/>
          </a:stretch>
        </p:blipFill>
        <p:spPr>
          <a:xfrm>
            <a:off x="7333488" y="5541264"/>
            <a:ext cx="182880" cy="182880"/>
          </a:xfrm>
          <a:prstGeom prst="rect">
            <a:avLst/>
          </a:prstGeom>
        </p:spPr>
      </p:pic>
      <p:sp>
        <p:nvSpPr>
          <p:cNvPr id="113" name="Text 94"/>
          <p:cNvSpPr txBox="1"/>
          <p:nvPr/>
        </p:nvSpPr>
        <p:spPr>
          <a:xfrm>
            <a:off x="7589520" y="5486400"/>
            <a:ext cx="1234440"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−310 kWh quạt hầm</a:t>
            </a:r>
            <a:endParaRPr lang="en-US" sz="800" dirty="0"/>
          </a:p>
        </p:txBody>
      </p:sp>
      <p:sp>
        <p:nvSpPr>
          <p:cNvPr id="114" name="Text 95"/>
          <p:cNvSpPr txBox="1"/>
          <p:nvPr/>
        </p:nvSpPr>
        <p:spPr>
          <a:xfrm>
            <a:off x="7589520" y="5678424"/>
            <a:ext cx="12344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chạy theo CO và lượt xe</a:t>
            </a:r>
            <a:endParaRPr lang="en-US" sz="700" dirty="0"/>
          </a:p>
        </p:txBody>
      </p:sp>
      <p:pic>
        <p:nvPicPr>
          <p:cNvPr id="115" name="Image 15" descr="preencoded.png">    </p:cNvPr>
          <p:cNvPicPr>
            <a:picLocks noChangeAspect="1"/>
          </p:cNvPicPr>
          <p:nvPr/>
        </p:nvPicPr>
        <p:blipFill>
          <a:blip r:embed="rId18"/>
          <a:stretch>
            <a:fillRect/>
          </a:stretch>
        </p:blipFill>
        <p:spPr>
          <a:xfrm>
            <a:off x="7333488" y="5934456"/>
            <a:ext cx="182880" cy="182880"/>
          </a:xfrm>
          <a:prstGeom prst="rect">
            <a:avLst/>
          </a:prstGeom>
        </p:spPr>
      </p:pic>
      <p:sp>
        <p:nvSpPr>
          <p:cNvPr id="116" name="Text 96"/>
          <p:cNvSpPr txBox="1"/>
          <p:nvPr/>
        </p:nvSpPr>
        <p:spPr>
          <a:xfrm>
            <a:off x="7589520" y="5879592"/>
            <a:ext cx="1234440"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1 rò rỉ phát hiện sớm</a:t>
            </a:r>
            <a:endParaRPr lang="en-US" sz="800" dirty="0"/>
          </a:p>
        </p:txBody>
      </p:sp>
      <p:sp>
        <p:nvSpPr>
          <p:cNvPr id="117" name="Text 97"/>
          <p:cNvSpPr txBox="1"/>
          <p:nvPr/>
        </p:nvSpPr>
        <p:spPr>
          <a:xfrm>
            <a:off x="7589520" y="6071616"/>
            <a:ext cx="12344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ước tính tránh mất 3,5 m³</a:t>
            </a:r>
            <a:endParaRPr lang="en-US" sz="700" dirty="0"/>
          </a:p>
        </p:txBody>
      </p:sp>
      <p:sp>
        <p:nvSpPr>
          <p:cNvPr id="118" name="Shape 98"/>
          <p:cNvSpPr/>
          <p:nvPr/>
        </p:nvSpPr>
        <p:spPr>
          <a:xfrm>
            <a:off x="1764792" y="1975104"/>
            <a:ext cx="274320" cy="274320"/>
          </a:xfrm>
          <a:prstGeom prst="ellipse">
            <a:avLst/>
          </a:prstGeom>
          <a:solidFill>
            <a:srgbClr val="E8833A"/>
          </a:solidFill>
          <a:ln w="19050">
            <a:solidFill>
              <a:srgbClr val="FFFFFF"/>
            </a:solidFill>
            <a:prstDash val="solid"/>
          </a:ln>
        </p:spPr>
      </p:sp>
      <p:sp>
        <p:nvSpPr>
          <p:cNvPr id="119" name="Text 99"/>
          <p:cNvSpPr txBox="1"/>
          <p:nvPr/>
        </p:nvSpPr>
        <p:spPr>
          <a:xfrm>
            <a:off x="1764792" y="1975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0" name="Shape 100"/>
          <p:cNvSpPr/>
          <p:nvPr/>
        </p:nvSpPr>
        <p:spPr>
          <a:xfrm>
            <a:off x="5943600" y="3017520"/>
            <a:ext cx="274320" cy="274320"/>
          </a:xfrm>
          <a:prstGeom prst="ellipse">
            <a:avLst/>
          </a:prstGeom>
          <a:solidFill>
            <a:srgbClr val="E8833A"/>
          </a:solidFill>
          <a:ln w="19050">
            <a:solidFill>
              <a:srgbClr val="FFFFFF"/>
            </a:solidFill>
            <a:prstDash val="solid"/>
          </a:ln>
        </p:spPr>
      </p:sp>
      <p:sp>
        <p:nvSpPr>
          <p:cNvPr id="121" name="Text 101"/>
          <p:cNvSpPr txBox="1"/>
          <p:nvPr/>
        </p:nvSpPr>
        <p:spPr>
          <a:xfrm>
            <a:off x="5943600" y="3017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2" name="Shape 102"/>
          <p:cNvSpPr/>
          <p:nvPr/>
        </p:nvSpPr>
        <p:spPr>
          <a:xfrm>
            <a:off x="8549640" y="3017520"/>
            <a:ext cx="274320" cy="274320"/>
          </a:xfrm>
          <a:prstGeom prst="ellipse">
            <a:avLst/>
          </a:prstGeom>
          <a:solidFill>
            <a:srgbClr val="E8833A"/>
          </a:solidFill>
          <a:ln w="19050">
            <a:solidFill>
              <a:srgbClr val="FFFFFF"/>
            </a:solidFill>
            <a:prstDash val="solid"/>
          </a:ln>
        </p:spPr>
      </p:sp>
      <p:sp>
        <p:nvSpPr>
          <p:cNvPr id="123" name="Text 103"/>
          <p:cNvSpPr txBox="1"/>
          <p:nvPr/>
        </p:nvSpPr>
        <p:spPr>
          <a:xfrm>
            <a:off x="8549640" y="3017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24" name="Shape 104"/>
          <p:cNvSpPr/>
          <p:nvPr/>
        </p:nvSpPr>
        <p:spPr>
          <a:xfrm>
            <a:off x="8549640" y="4800600"/>
            <a:ext cx="274320" cy="274320"/>
          </a:xfrm>
          <a:prstGeom prst="ellipse">
            <a:avLst/>
          </a:prstGeom>
          <a:solidFill>
            <a:srgbClr val="E8833A"/>
          </a:solidFill>
          <a:ln w="19050">
            <a:solidFill>
              <a:srgbClr val="FFFFFF"/>
            </a:solidFill>
            <a:prstDash val="solid"/>
          </a:ln>
        </p:spPr>
      </p:sp>
      <p:sp>
        <p:nvSpPr>
          <p:cNvPr id="125" name="Text 105"/>
          <p:cNvSpPr txBox="1"/>
          <p:nvPr/>
        </p:nvSpPr>
        <p:spPr>
          <a:xfrm>
            <a:off x="8549640" y="48006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26" name="Shape 106"/>
          <p:cNvSpPr/>
          <p:nvPr/>
        </p:nvSpPr>
        <p:spPr>
          <a:xfrm>
            <a:off x="9189720" y="1325880"/>
            <a:ext cx="2560320" cy="5120640"/>
          </a:xfrm>
          <a:prstGeom prst="roundRect">
            <a:avLst>
              <a:gd name="adj" fmla="val 1786"/>
            </a:avLst>
          </a:prstGeom>
          <a:solidFill>
            <a:srgbClr val="E8F3F2"/>
          </a:solidFill>
          <a:ln/>
        </p:spPr>
      </p:sp>
      <p:sp>
        <p:nvSpPr>
          <p:cNvPr id="127" name="Text 107"/>
          <p:cNvSpPr txBox="1"/>
          <p:nvPr/>
        </p:nvSpPr>
        <p:spPr>
          <a:xfrm>
            <a:off x="9372600" y="1435608"/>
            <a:ext cx="219456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128" name="Shape 108"/>
          <p:cNvSpPr/>
          <p:nvPr/>
        </p:nvSpPr>
        <p:spPr>
          <a:xfrm>
            <a:off x="9372600" y="1892808"/>
            <a:ext cx="274320" cy="274320"/>
          </a:xfrm>
          <a:prstGeom prst="ellipse">
            <a:avLst/>
          </a:prstGeom>
          <a:solidFill>
            <a:srgbClr val="E8833A"/>
          </a:solidFill>
          <a:ln w="19050">
            <a:solidFill>
              <a:srgbClr val="FFFFFF"/>
            </a:solidFill>
            <a:prstDash val="solid"/>
          </a:ln>
        </p:spPr>
      </p:sp>
      <p:sp>
        <p:nvSpPr>
          <p:cNvPr id="129" name="Text 109"/>
          <p:cNvSpPr txBox="1"/>
          <p:nvPr/>
        </p:nvSpPr>
        <p:spPr>
          <a:xfrm>
            <a:off x="937260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30" name="Text 110"/>
          <p:cNvSpPr txBox="1"/>
          <p:nvPr/>
        </p:nvSpPr>
        <p:spPr>
          <a:xfrm>
            <a:off x="9738360" y="187452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Năm chỉ số đầu trang</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Trả lời “tòa nhà có ổn không” trong 5 giây, trước khi đọc chi tiết</a:t>
            </a:r>
            <a:endParaRPr lang="en-US" sz="1050" dirty="0"/>
          </a:p>
        </p:txBody>
      </p:sp>
      <p:sp>
        <p:nvSpPr>
          <p:cNvPr id="131" name="Shape 111"/>
          <p:cNvSpPr/>
          <p:nvPr/>
        </p:nvSpPr>
        <p:spPr>
          <a:xfrm>
            <a:off x="9372600" y="3012948"/>
            <a:ext cx="274320" cy="274320"/>
          </a:xfrm>
          <a:prstGeom prst="ellipse">
            <a:avLst/>
          </a:prstGeom>
          <a:solidFill>
            <a:srgbClr val="E8833A"/>
          </a:solidFill>
          <a:ln w="19050">
            <a:solidFill>
              <a:srgbClr val="FFFFFF"/>
            </a:solidFill>
            <a:prstDash val="solid"/>
          </a:ln>
        </p:spPr>
      </p:sp>
      <p:sp>
        <p:nvSpPr>
          <p:cNvPr id="132" name="Text 112"/>
          <p:cNvSpPr txBox="1"/>
          <p:nvPr/>
        </p:nvSpPr>
        <p:spPr>
          <a:xfrm>
            <a:off x="9372600" y="3012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3" name="Text 113"/>
          <p:cNvSpPr txBox="1"/>
          <p:nvPr/>
        </p:nvSpPr>
        <p:spPr>
          <a:xfrm>
            <a:off x="9738360" y="299466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Luôn có ngữ cảnh</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Số liệu đặt cạnh dự báo AI hoặc kỳ trước; con số đứng một mình không nói lên điều gì</a:t>
            </a:r>
            <a:endParaRPr lang="en-US" sz="1050" dirty="0"/>
          </a:p>
        </p:txBody>
      </p:sp>
      <p:sp>
        <p:nvSpPr>
          <p:cNvPr id="134" name="Shape 114"/>
          <p:cNvSpPr/>
          <p:nvPr/>
        </p:nvSpPr>
        <p:spPr>
          <a:xfrm>
            <a:off x="9372600" y="4133088"/>
            <a:ext cx="274320" cy="274320"/>
          </a:xfrm>
          <a:prstGeom prst="ellipse">
            <a:avLst/>
          </a:prstGeom>
          <a:solidFill>
            <a:srgbClr val="E8833A"/>
          </a:solidFill>
          <a:ln w="19050">
            <a:solidFill>
              <a:srgbClr val="FFFFFF"/>
            </a:solidFill>
            <a:prstDash val="solid"/>
          </a:ln>
        </p:spPr>
      </p:sp>
      <p:sp>
        <p:nvSpPr>
          <p:cNvPr id="135" name="Text 115"/>
          <p:cNvSpPr txBox="1"/>
          <p:nvPr/>
        </p:nvSpPr>
        <p:spPr>
          <a:xfrm>
            <a:off x="937260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6" name="Text 116"/>
          <p:cNvSpPr txBox="1"/>
          <p:nvPr/>
        </p:nvSpPr>
        <p:spPr>
          <a:xfrm>
            <a:off x="9738360" y="411480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Chỉ hiện việc cần quyết</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CĐT chỉ thấy cảnh báo Khẩn/Cao; bấm vào để xem chi tiết</a:t>
            </a:r>
            <a:endParaRPr lang="en-US" sz="1050" dirty="0"/>
          </a:p>
        </p:txBody>
      </p:sp>
      <p:sp>
        <p:nvSpPr>
          <p:cNvPr id="137" name="Shape 117"/>
          <p:cNvSpPr/>
          <p:nvPr/>
        </p:nvSpPr>
        <p:spPr>
          <a:xfrm>
            <a:off x="9372600" y="5253228"/>
            <a:ext cx="274320" cy="274320"/>
          </a:xfrm>
          <a:prstGeom prst="ellipse">
            <a:avLst/>
          </a:prstGeom>
          <a:solidFill>
            <a:srgbClr val="E8833A"/>
          </a:solidFill>
          <a:ln w="19050">
            <a:solidFill>
              <a:srgbClr val="FFFFFF"/>
            </a:solidFill>
            <a:prstDash val="solid"/>
          </a:ln>
        </p:spPr>
      </p:sp>
      <p:sp>
        <p:nvSpPr>
          <p:cNvPr id="138" name="Text 118"/>
          <p:cNvSpPr txBox="1"/>
          <p:nvPr/>
        </p:nvSpPr>
        <p:spPr>
          <a:xfrm>
            <a:off x="9372600" y="52532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39" name="Text 119"/>
          <p:cNvSpPr txBox="1"/>
          <p:nvPr/>
        </p:nvSpPr>
        <p:spPr>
          <a:xfrm>
            <a:off x="9738360" y="523494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Định lượng giá trị AI</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Tiết kiệm nước, điện, sự cố tránh được: cơ sở đánh giá hiệu quả đầu tư</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Trung tâm cảnh báo: AI đề xuất, người vận hành quyết định</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BQL, bảo vệ, kỹ thuật · Màn hình 50″ phòng bảo vệ hầm B2 · Kịch bản rò rỉ nước lúc 02:31</a:t>
            </a:r>
            <a:endParaRPr lang="en-US" sz="1300" dirty="0"/>
          </a:p>
        </p:txBody>
      </p:sp>
      <p:sp>
        <p:nvSpPr>
          <p:cNvPr id="4" name="Shape 2"/>
          <p:cNvSpPr/>
          <p:nvPr/>
        </p:nvSpPr>
        <p:spPr>
          <a:xfrm>
            <a:off x="457200" y="1325880"/>
            <a:ext cx="8549640" cy="5120640"/>
          </a:xfrm>
          <a:prstGeom prst="roundRect">
            <a:avLst>
              <a:gd name="adj" fmla="val 714"/>
            </a:avLst>
          </a:prstGeom>
          <a:solidFill>
            <a:srgbClr val="FFFFFF"/>
          </a:solidFill>
          <a:ln w="9525">
            <a:solidFill>
              <a:srgbClr val="B9C3CC"/>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457200" y="1325880"/>
            <a:ext cx="8549640" cy="274320"/>
          </a:xfrm>
          <a:prstGeom prst="roundRect">
            <a:avLst>
              <a:gd name="adj" fmla="val 13333"/>
            </a:avLst>
          </a:prstGeom>
          <a:solidFill>
            <a:srgbClr val="E9EDF1"/>
          </a:solidFill>
          <a:ln/>
        </p:spPr>
      </p:sp>
      <p:sp>
        <p:nvSpPr>
          <p:cNvPr id="6" name="Shape 4"/>
          <p:cNvSpPr/>
          <p:nvPr/>
        </p:nvSpPr>
        <p:spPr>
          <a:xfrm>
            <a:off x="457200" y="1463040"/>
            <a:ext cx="8549640" cy="137160"/>
          </a:xfrm>
          <a:prstGeom prst="rect">
            <a:avLst/>
          </a:prstGeom>
          <a:solidFill>
            <a:srgbClr val="E9EDF1"/>
          </a:solidFill>
          <a:ln/>
        </p:spPr>
      </p:sp>
      <p:sp>
        <p:nvSpPr>
          <p:cNvPr id="7" name="Shape 5"/>
          <p:cNvSpPr/>
          <p:nvPr/>
        </p:nvSpPr>
        <p:spPr>
          <a:xfrm>
            <a:off x="566928" y="1408176"/>
            <a:ext cx="100584" cy="100584"/>
          </a:xfrm>
          <a:prstGeom prst="ellipse">
            <a:avLst/>
          </a:prstGeom>
          <a:solidFill>
            <a:srgbClr val="E0605A"/>
          </a:solidFill>
          <a:ln/>
        </p:spPr>
      </p:sp>
      <p:sp>
        <p:nvSpPr>
          <p:cNvPr id="8" name="Shape 6"/>
          <p:cNvSpPr/>
          <p:nvPr/>
        </p:nvSpPr>
        <p:spPr>
          <a:xfrm>
            <a:off x="713232" y="1408176"/>
            <a:ext cx="100584" cy="100584"/>
          </a:xfrm>
          <a:prstGeom prst="ellipse">
            <a:avLst/>
          </a:prstGeom>
          <a:solidFill>
            <a:srgbClr val="E8B341"/>
          </a:solidFill>
          <a:ln/>
        </p:spPr>
      </p:sp>
      <p:sp>
        <p:nvSpPr>
          <p:cNvPr id="9" name="Shape 7"/>
          <p:cNvSpPr/>
          <p:nvPr/>
        </p:nvSpPr>
        <p:spPr>
          <a:xfrm>
            <a:off x="859536" y="1408176"/>
            <a:ext cx="100584" cy="100584"/>
          </a:xfrm>
          <a:prstGeom prst="ellipse">
            <a:avLst/>
          </a:prstGeom>
          <a:solidFill>
            <a:srgbClr val="5DB85C"/>
          </a:solidFill>
          <a:ln/>
        </p:spPr>
      </p:sp>
      <p:sp>
        <p:nvSpPr>
          <p:cNvPr id="10" name="Shape 8"/>
          <p:cNvSpPr/>
          <p:nvPr/>
        </p:nvSpPr>
        <p:spPr>
          <a:xfrm>
            <a:off x="1143000" y="1380744"/>
            <a:ext cx="7635240" cy="173736"/>
          </a:xfrm>
          <a:prstGeom prst="roundRect">
            <a:avLst>
              <a:gd name="adj" fmla="val 42105"/>
            </a:avLst>
          </a:prstGeom>
          <a:solidFill>
            <a:srgbClr val="FFFFFF"/>
          </a:solidFill>
          <a:ln/>
        </p:spPr>
      </p:sp>
      <p:sp>
        <p:nvSpPr>
          <p:cNvPr id="11" name="Text 9"/>
          <p:cNvSpPr txBox="1"/>
          <p:nvPr/>
        </p:nvSpPr>
        <p:spPr>
          <a:xfrm>
            <a:off x="1234440" y="1380744"/>
            <a:ext cx="7452360" cy="173736"/>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ops.tnv-building.vn/canh-bao</a:t>
            </a:r>
            <a:endParaRPr lang="en-US" sz="700" dirty="0"/>
          </a:p>
        </p:txBody>
      </p:sp>
      <p:sp>
        <p:nvSpPr>
          <p:cNvPr id="12" name="Shape 10"/>
          <p:cNvSpPr/>
          <p:nvPr/>
        </p:nvSpPr>
        <p:spPr>
          <a:xfrm>
            <a:off x="457200" y="1600200"/>
            <a:ext cx="1325880" cy="4846320"/>
          </a:xfrm>
          <a:prstGeom prst="rect">
            <a:avLst/>
          </a:prstGeom>
          <a:solidFill>
            <a:srgbClr val="12324A"/>
          </a:solidFill>
          <a:ln/>
        </p:spPr>
      </p:sp>
      <p:sp>
        <p:nvSpPr>
          <p:cNvPr id="13" name="Text 11"/>
          <p:cNvSpPr txBox="1"/>
          <p:nvPr/>
        </p:nvSpPr>
        <p:spPr>
          <a:xfrm>
            <a:off x="594360" y="1691640"/>
            <a:ext cx="1143000" cy="27432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TNV · Smart Ops</a:t>
            </a:r>
            <a:endParaRPr lang="en-US" sz="850" dirty="0"/>
          </a:p>
        </p:txBody>
      </p:sp>
      <p:pic>
        <p:nvPicPr>
          <p:cNvPr id="14" name="Image 0" descr="preencoded.png">    </p:cNvPr>
          <p:cNvPicPr>
            <a:picLocks noChangeAspect="1"/>
          </p:cNvPicPr>
          <p:nvPr/>
        </p:nvPicPr>
        <p:blipFill>
          <a:blip r:embed="rId1"/>
          <a:stretch>
            <a:fillRect/>
          </a:stretch>
        </p:blipFill>
        <p:spPr>
          <a:xfrm>
            <a:off x="603504" y="2130552"/>
            <a:ext cx="146304" cy="146304"/>
          </a:xfrm>
          <a:prstGeom prst="rect">
            <a:avLst/>
          </a:prstGeom>
        </p:spPr>
      </p:pic>
      <p:sp>
        <p:nvSpPr>
          <p:cNvPr id="15" name="Text 12"/>
          <p:cNvSpPr txBox="1"/>
          <p:nvPr/>
        </p:nvSpPr>
        <p:spPr>
          <a:xfrm>
            <a:off x="822960" y="207568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Tổng quan</a:t>
            </a:r>
            <a:endParaRPr lang="en-US" sz="750" dirty="0"/>
          </a:p>
        </p:txBody>
      </p:sp>
      <p:sp>
        <p:nvSpPr>
          <p:cNvPr id="16" name="Shape 13"/>
          <p:cNvSpPr/>
          <p:nvPr/>
        </p:nvSpPr>
        <p:spPr>
          <a:xfrm>
            <a:off x="521208" y="2395728"/>
            <a:ext cx="1197864" cy="274320"/>
          </a:xfrm>
          <a:prstGeom prst="roundRect">
            <a:avLst>
              <a:gd name="adj" fmla="val 26667"/>
            </a:avLst>
          </a:prstGeom>
          <a:solidFill>
            <a:srgbClr val="1B7F79"/>
          </a:solidFill>
          <a:ln/>
        </p:spPr>
      </p:sp>
      <p:pic>
        <p:nvPicPr>
          <p:cNvPr id="17" name="Image 1" descr="preencoded.png">    </p:cNvPr>
          <p:cNvPicPr>
            <a:picLocks noChangeAspect="1"/>
          </p:cNvPicPr>
          <p:nvPr/>
        </p:nvPicPr>
        <p:blipFill>
          <a:blip r:embed="rId2"/>
          <a:stretch>
            <a:fillRect/>
          </a:stretch>
        </p:blipFill>
        <p:spPr>
          <a:xfrm>
            <a:off x="603504" y="2459736"/>
            <a:ext cx="146304" cy="146304"/>
          </a:xfrm>
          <a:prstGeom prst="rect">
            <a:avLst/>
          </a:prstGeom>
        </p:spPr>
      </p:pic>
      <p:sp>
        <p:nvSpPr>
          <p:cNvPr id="18" name="Text 14"/>
          <p:cNvSpPr txBox="1"/>
          <p:nvPr/>
        </p:nvSpPr>
        <p:spPr>
          <a:xfrm>
            <a:off x="822960" y="2404872"/>
            <a:ext cx="914400" cy="256032"/>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Cảnh báo</a:t>
            </a:r>
            <a:endParaRPr lang="en-US" sz="750" dirty="0"/>
          </a:p>
        </p:txBody>
      </p:sp>
      <p:pic>
        <p:nvPicPr>
          <p:cNvPr id="19" name="Image 2" descr="preencoded.png">    </p:cNvPr>
          <p:cNvPicPr>
            <a:picLocks noChangeAspect="1"/>
          </p:cNvPicPr>
          <p:nvPr/>
        </p:nvPicPr>
        <p:blipFill>
          <a:blip r:embed="rId3"/>
          <a:stretch>
            <a:fillRect/>
          </a:stretch>
        </p:blipFill>
        <p:spPr>
          <a:xfrm>
            <a:off x="603504" y="2788920"/>
            <a:ext cx="146304" cy="146304"/>
          </a:xfrm>
          <a:prstGeom prst="rect">
            <a:avLst/>
          </a:prstGeom>
        </p:spPr>
      </p:pic>
      <p:sp>
        <p:nvSpPr>
          <p:cNvPr id="20" name="Text 15"/>
          <p:cNvSpPr txBox="1"/>
          <p:nvPr/>
        </p:nvSpPr>
        <p:spPr>
          <a:xfrm>
            <a:off x="822960" y="273405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Điện &amp; nước</a:t>
            </a:r>
            <a:endParaRPr lang="en-US" sz="750" dirty="0"/>
          </a:p>
        </p:txBody>
      </p:sp>
      <p:pic>
        <p:nvPicPr>
          <p:cNvPr id="21" name="Image 3" descr="preencoded.png">    </p:cNvPr>
          <p:cNvPicPr>
            <a:picLocks noChangeAspect="1"/>
          </p:cNvPicPr>
          <p:nvPr/>
        </p:nvPicPr>
        <p:blipFill>
          <a:blip r:embed="rId4"/>
          <a:stretch>
            <a:fillRect/>
          </a:stretch>
        </p:blipFill>
        <p:spPr>
          <a:xfrm>
            <a:off x="603504" y="3118104"/>
            <a:ext cx="146304" cy="146304"/>
          </a:xfrm>
          <a:prstGeom prst="rect">
            <a:avLst/>
          </a:prstGeom>
        </p:spPr>
      </p:pic>
      <p:sp>
        <p:nvSpPr>
          <p:cNvPr id="22" name="Text 16"/>
          <p:cNvSpPr txBox="1"/>
          <p:nvPr/>
        </p:nvSpPr>
        <p:spPr>
          <a:xfrm>
            <a:off x="822960" y="3063240"/>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Thiết bị</a:t>
            </a:r>
            <a:endParaRPr lang="en-US" sz="750" dirty="0"/>
          </a:p>
        </p:txBody>
      </p:sp>
      <p:pic>
        <p:nvPicPr>
          <p:cNvPr id="23" name="Image 4" descr="preencoded.png">    </p:cNvPr>
          <p:cNvPicPr>
            <a:picLocks noChangeAspect="1"/>
          </p:cNvPicPr>
          <p:nvPr/>
        </p:nvPicPr>
        <p:blipFill>
          <a:blip r:embed="rId5"/>
          <a:stretch>
            <a:fillRect/>
          </a:stretch>
        </p:blipFill>
        <p:spPr>
          <a:xfrm>
            <a:off x="603504" y="3447288"/>
            <a:ext cx="146304" cy="146304"/>
          </a:xfrm>
          <a:prstGeom prst="rect">
            <a:avLst/>
          </a:prstGeom>
        </p:spPr>
      </p:pic>
      <p:sp>
        <p:nvSpPr>
          <p:cNvPr id="24" name="Text 17"/>
          <p:cNvSpPr txBox="1"/>
          <p:nvPr/>
        </p:nvSpPr>
        <p:spPr>
          <a:xfrm>
            <a:off x="822960" y="3392424"/>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An ninh &amp; vào ra</a:t>
            </a:r>
            <a:endParaRPr lang="en-US" sz="750" dirty="0"/>
          </a:p>
        </p:txBody>
      </p:sp>
      <p:pic>
        <p:nvPicPr>
          <p:cNvPr id="25" name="Image 5" descr="preencoded.png">    </p:cNvPr>
          <p:cNvPicPr>
            <a:picLocks noChangeAspect="1"/>
          </p:cNvPicPr>
          <p:nvPr/>
        </p:nvPicPr>
        <p:blipFill>
          <a:blip r:embed="rId6"/>
          <a:stretch>
            <a:fillRect/>
          </a:stretch>
        </p:blipFill>
        <p:spPr>
          <a:xfrm>
            <a:off x="603504" y="3776472"/>
            <a:ext cx="146304" cy="146304"/>
          </a:xfrm>
          <a:prstGeom prst="rect">
            <a:avLst/>
          </a:prstGeom>
        </p:spPr>
      </p:pic>
      <p:sp>
        <p:nvSpPr>
          <p:cNvPr id="26" name="Text 18"/>
          <p:cNvSpPr txBox="1"/>
          <p:nvPr/>
        </p:nvSpPr>
        <p:spPr>
          <a:xfrm>
            <a:off x="822960" y="372160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Trợ lý AI</a:t>
            </a:r>
            <a:endParaRPr lang="en-US" sz="750" dirty="0"/>
          </a:p>
        </p:txBody>
      </p:sp>
      <p:pic>
        <p:nvPicPr>
          <p:cNvPr id="27" name="Image 6" descr="preencoded.png">    </p:cNvPr>
          <p:cNvPicPr>
            <a:picLocks noChangeAspect="1"/>
          </p:cNvPicPr>
          <p:nvPr/>
        </p:nvPicPr>
        <p:blipFill>
          <a:blip r:embed="rId7"/>
          <a:stretch>
            <a:fillRect/>
          </a:stretch>
        </p:blipFill>
        <p:spPr>
          <a:xfrm>
            <a:off x="603504" y="4105656"/>
            <a:ext cx="146304" cy="146304"/>
          </a:xfrm>
          <a:prstGeom prst="rect">
            <a:avLst/>
          </a:prstGeom>
        </p:spPr>
      </p:pic>
      <p:sp>
        <p:nvSpPr>
          <p:cNvPr id="28" name="Text 19"/>
          <p:cNvSpPr txBox="1"/>
          <p:nvPr/>
        </p:nvSpPr>
        <p:spPr>
          <a:xfrm>
            <a:off x="822960" y="405079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Báo cáo</a:t>
            </a:r>
            <a:endParaRPr lang="en-US" sz="750" dirty="0"/>
          </a:p>
        </p:txBody>
      </p:sp>
      <p:pic>
        <p:nvPicPr>
          <p:cNvPr id="29" name="Image 7" descr="preencoded.png">    </p:cNvPr>
          <p:cNvPicPr>
            <a:picLocks noChangeAspect="1"/>
          </p:cNvPicPr>
          <p:nvPr/>
        </p:nvPicPr>
        <p:blipFill>
          <a:blip r:embed="rId8"/>
          <a:stretch>
            <a:fillRect/>
          </a:stretch>
        </p:blipFill>
        <p:spPr>
          <a:xfrm>
            <a:off x="603504" y="4434840"/>
            <a:ext cx="146304" cy="146304"/>
          </a:xfrm>
          <a:prstGeom prst="rect">
            <a:avLst/>
          </a:prstGeom>
        </p:spPr>
      </p:pic>
      <p:sp>
        <p:nvSpPr>
          <p:cNvPr id="30" name="Text 20"/>
          <p:cNvSpPr txBox="1"/>
          <p:nvPr/>
        </p:nvSpPr>
        <p:spPr>
          <a:xfrm>
            <a:off x="822960" y="437997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Cấu hình</a:t>
            </a:r>
            <a:endParaRPr lang="en-US" sz="750" dirty="0"/>
          </a:p>
        </p:txBody>
      </p:sp>
      <p:sp>
        <p:nvSpPr>
          <p:cNvPr id="31" name="Text 21"/>
          <p:cNvSpPr txBox="1"/>
          <p:nvPr/>
        </p:nvSpPr>
        <p:spPr>
          <a:xfrm>
            <a:off x="548640" y="6080760"/>
            <a:ext cx="1143000" cy="274320"/>
          </a:xfrm>
          <a:prstGeom prst="rect">
            <a:avLst/>
          </a:prstGeom>
          <a:noFill/>
          <a:ln/>
        </p:spPr>
        <p:txBody>
          <a:bodyPr wrap="square" lIns="0" tIns="0" rIns="0" bIns="0" rtlCol="0" anchor="ctr"/>
          <a:lstStyle/>
          <a:p>
            <a:pPr algn="l" indent="0" marL="0">
              <a:buNone/>
            </a:pPr>
            <a:r>
              <a:rPr lang="en-US" sz="600" dirty="0">
                <a:solidFill>
                  <a:srgbClr val="8FA6B8"/>
                </a:solidFill>
                <a:latin typeface="Arial" pitchFamily="34" charset="0"/>
                <a:ea typeface="Arial" pitchFamily="34" charset="-122"/>
                <a:cs typeface="Arial" pitchFamily="34" charset="-120"/>
              </a:rPr>
              <a:t>Claude · Gemini qua cổng AI Gimasys</a:t>
            </a:r>
            <a:endParaRPr lang="en-US" sz="600" dirty="0"/>
          </a:p>
        </p:txBody>
      </p:sp>
      <p:sp>
        <p:nvSpPr>
          <p:cNvPr id="32" name="Shape 22"/>
          <p:cNvSpPr/>
          <p:nvPr/>
        </p:nvSpPr>
        <p:spPr>
          <a:xfrm>
            <a:off x="1783080" y="1600200"/>
            <a:ext cx="7223760" cy="411480"/>
          </a:xfrm>
          <a:prstGeom prst="rect">
            <a:avLst/>
          </a:prstGeom>
          <a:solidFill>
            <a:srgbClr val="FFFFFF"/>
          </a:solidFill>
          <a:ln/>
        </p:spPr>
      </p:sp>
      <p:sp>
        <p:nvSpPr>
          <p:cNvPr id="33" name="Shape 23"/>
          <p:cNvSpPr/>
          <p:nvPr/>
        </p:nvSpPr>
        <p:spPr>
          <a:xfrm>
            <a:off x="1783080" y="2011680"/>
            <a:ext cx="7223760" cy="0"/>
          </a:xfrm>
          <a:prstGeom prst="line">
            <a:avLst/>
          </a:prstGeom>
          <a:noFill/>
          <a:ln w="9525">
            <a:solidFill>
              <a:srgbClr val="E4E8EC"/>
            </a:solidFill>
            <a:prstDash val="solid"/>
          </a:ln>
        </p:spPr>
      </p:sp>
      <p:sp>
        <p:nvSpPr>
          <p:cNvPr id="34" name="Text 24"/>
          <p:cNvSpPr txBox="1"/>
          <p:nvPr/>
        </p:nvSpPr>
        <p:spPr>
          <a:xfrm>
            <a:off x="1947672" y="1600200"/>
            <a:ext cx="3657600" cy="411480"/>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Trung tâm cảnh báo</a:t>
            </a:r>
            <a:endParaRPr lang="en-US" sz="1100" dirty="0"/>
          </a:p>
        </p:txBody>
      </p:sp>
      <p:sp>
        <p:nvSpPr>
          <p:cNvPr id="35" name="Text 25"/>
          <p:cNvSpPr txBox="1"/>
          <p:nvPr/>
        </p:nvSpPr>
        <p:spPr>
          <a:xfrm>
            <a:off x="5074920" y="1600200"/>
            <a:ext cx="3337560" cy="411480"/>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Ca đêm · Bảo vệ: Tuấn · KT: Hùng</a:t>
            </a:r>
            <a:endParaRPr lang="en-US" sz="750" dirty="0"/>
          </a:p>
        </p:txBody>
      </p:sp>
      <p:sp>
        <p:nvSpPr>
          <p:cNvPr id="36" name="Shape 26"/>
          <p:cNvSpPr/>
          <p:nvPr/>
        </p:nvSpPr>
        <p:spPr>
          <a:xfrm>
            <a:off x="8549640" y="1682496"/>
            <a:ext cx="246888" cy="246888"/>
          </a:xfrm>
          <a:prstGeom prst="ellipse">
            <a:avLst/>
          </a:prstGeom>
          <a:solidFill>
            <a:srgbClr val="1B7F79"/>
          </a:solidFill>
          <a:ln/>
        </p:spPr>
      </p:sp>
      <p:sp>
        <p:nvSpPr>
          <p:cNvPr id="37" name="Text 27"/>
          <p:cNvSpPr txBox="1"/>
          <p:nvPr/>
        </p:nvSpPr>
        <p:spPr>
          <a:xfrm>
            <a:off x="8549640" y="1682496"/>
            <a:ext cx="246888" cy="24688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BQL</a:t>
            </a:r>
            <a:endParaRPr lang="en-US" sz="600" dirty="0"/>
          </a:p>
        </p:txBody>
      </p:sp>
      <p:sp>
        <p:nvSpPr>
          <p:cNvPr id="38" name="Shape 28"/>
          <p:cNvSpPr/>
          <p:nvPr/>
        </p:nvSpPr>
        <p:spPr>
          <a:xfrm>
            <a:off x="1783080" y="2020824"/>
            <a:ext cx="7223760" cy="4416552"/>
          </a:xfrm>
          <a:prstGeom prst="rect">
            <a:avLst/>
          </a:prstGeom>
          <a:solidFill>
            <a:srgbClr val="F5F7F9"/>
          </a:solidFill>
          <a:ln/>
        </p:spPr>
      </p:sp>
      <p:sp>
        <p:nvSpPr>
          <p:cNvPr id="39" name="Shape 29"/>
          <p:cNvSpPr/>
          <p:nvPr/>
        </p:nvSpPr>
        <p:spPr>
          <a:xfrm>
            <a:off x="1920240" y="2130552"/>
            <a:ext cx="640080" cy="219456"/>
          </a:xfrm>
          <a:prstGeom prst="roundRect">
            <a:avLst>
              <a:gd name="adj" fmla="val 41667"/>
            </a:avLst>
          </a:prstGeom>
          <a:solidFill>
            <a:srgbClr val="12324A"/>
          </a:solidFill>
          <a:ln/>
        </p:spPr>
      </p:sp>
      <p:sp>
        <p:nvSpPr>
          <p:cNvPr id="40" name="Text 30"/>
          <p:cNvSpPr txBox="1"/>
          <p:nvPr/>
        </p:nvSpPr>
        <p:spPr>
          <a:xfrm>
            <a:off x="1920240" y="2130552"/>
            <a:ext cx="6400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Tất cả 7</a:t>
            </a:r>
            <a:endParaRPr lang="en-US" sz="750" dirty="0"/>
          </a:p>
        </p:txBody>
      </p:sp>
      <p:sp>
        <p:nvSpPr>
          <p:cNvPr id="41" name="Shape 31"/>
          <p:cNvSpPr/>
          <p:nvPr/>
        </p:nvSpPr>
        <p:spPr>
          <a:xfrm>
            <a:off x="2633472" y="2130552"/>
            <a:ext cx="640080" cy="219456"/>
          </a:xfrm>
          <a:prstGeom prst="roundRect">
            <a:avLst>
              <a:gd name="adj" fmla="val 41667"/>
            </a:avLst>
          </a:prstGeom>
          <a:solidFill>
            <a:srgbClr val="D64545"/>
          </a:solidFill>
          <a:ln/>
        </p:spPr>
      </p:sp>
      <p:sp>
        <p:nvSpPr>
          <p:cNvPr id="42" name="Text 32"/>
          <p:cNvSpPr txBox="1"/>
          <p:nvPr/>
        </p:nvSpPr>
        <p:spPr>
          <a:xfrm>
            <a:off x="2633472" y="2130552"/>
            <a:ext cx="6400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Khẩn 1</a:t>
            </a:r>
            <a:endParaRPr lang="en-US" sz="750" dirty="0"/>
          </a:p>
        </p:txBody>
      </p:sp>
      <p:sp>
        <p:nvSpPr>
          <p:cNvPr id="43" name="Shape 33"/>
          <p:cNvSpPr/>
          <p:nvPr/>
        </p:nvSpPr>
        <p:spPr>
          <a:xfrm>
            <a:off x="3346704" y="2130552"/>
            <a:ext cx="640080" cy="219456"/>
          </a:xfrm>
          <a:prstGeom prst="roundRect">
            <a:avLst>
              <a:gd name="adj" fmla="val 41667"/>
            </a:avLst>
          </a:prstGeom>
          <a:solidFill>
            <a:srgbClr val="E8833A"/>
          </a:solidFill>
          <a:ln/>
        </p:spPr>
      </p:sp>
      <p:sp>
        <p:nvSpPr>
          <p:cNvPr id="44" name="Text 34"/>
          <p:cNvSpPr txBox="1"/>
          <p:nvPr/>
        </p:nvSpPr>
        <p:spPr>
          <a:xfrm>
            <a:off x="3346704" y="2130552"/>
            <a:ext cx="6400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Cao 2</a:t>
            </a:r>
            <a:endParaRPr lang="en-US" sz="750" dirty="0"/>
          </a:p>
        </p:txBody>
      </p:sp>
      <p:sp>
        <p:nvSpPr>
          <p:cNvPr id="45" name="Shape 35"/>
          <p:cNvSpPr/>
          <p:nvPr/>
        </p:nvSpPr>
        <p:spPr>
          <a:xfrm>
            <a:off x="4059936" y="2130552"/>
            <a:ext cx="640080" cy="219456"/>
          </a:xfrm>
          <a:prstGeom prst="roundRect">
            <a:avLst>
              <a:gd name="adj" fmla="val 41667"/>
            </a:avLst>
          </a:prstGeom>
          <a:solidFill>
            <a:srgbClr val="D9A21B"/>
          </a:solidFill>
          <a:ln/>
        </p:spPr>
      </p:sp>
      <p:sp>
        <p:nvSpPr>
          <p:cNvPr id="46" name="Text 36"/>
          <p:cNvSpPr txBox="1"/>
          <p:nvPr/>
        </p:nvSpPr>
        <p:spPr>
          <a:xfrm>
            <a:off x="4059936" y="2130552"/>
            <a:ext cx="6400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TB 3</a:t>
            </a:r>
            <a:endParaRPr lang="en-US" sz="750" dirty="0"/>
          </a:p>
        </p:txBody>
      </p:sp>
      <p:sp>
        <p:nvSpPr>
          <p:cNvPr id="47" name="Shape 37"/>
          <p:cNvSpPr/>
          <p:nvPr/>
        </p:nvSpPr>
        <p:spPr>
          <a:xfrm>
            <a:off x="4773168" y="2130552"/>
            <a:ext cx="640080" cy="219456"/>
          </a:xfrm>
          <a:prstGeom prst="roundRect">
            <a:avLst>
              <a:gd name="adj" fmla="val 41667"/>
            </a:avLst>
          </a:prstGeom>
          <a:solidFill>
            <a:srgbClr val="3B82C4"/>
          </a:solidFill>
          <a:ln/>
        </p:spPr>
      </p:sp>
      <p:sp>
        <p:nvSpPr>
          <p:cNvPr id="48" name="Text 38"/>
          <p:cNvSpPr txBox="1"/>
          <p:nvPr/>
        </p:nvSpPr>
        <p:spPr>
          <a:xfrm>
            <a:off x="4773168" y="2130552"/>
            <a:ext cx="6400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Tin 1</a:t>
            </a:r>
            <a:endParaRPr lang="en-US" sz="750" dirty="0"/>
          </a:p>
        </p:txBody>
      </p:sp>
      <p:sp>
        <p:nvSpPr>
          <p:cNvPr id="49" name="Shape 39"/>
          <p:cNvSpPr/>
          <p:nvPr/>
        </p:nvSpPr>
        <p:spPr>
          <a:xfrm>
            <a:off x="1920240" y="2459736"/>
            <a:ext cx="4160520" cy="3877056"/>
          </a:xfrm>
          <a:prstGeom prst="roundRect">
            <a:avLst>
              <a:gd name="adj" fmla="val 1415"/>
            </a:avLst>
          </a:prstGeom>
          <a:solidFill>
            <a:srgbClr val="FFFFFF"/>
          </a:solidFill>
          <a:ln w="6350">
            <a:solidFill>
              <a:srgbClr val="D5DCE3"/>
            </a:solidFill>
            <a:prstDash val="solid"/>
          </a:ln>
        </p:spPr>
      </p:sp>
      <p:sp>
        <p:nvSpPr>
          <p:cNvPr id="50" name="Text 40"/>
          <p:cNvSpPr txBox="1"/>
          <p:nvPr/>
        </p:nvSpPr>
        <p:spPr>
          <a:xfrm>
            <a:off x="1993392" y="2514600"/>
            <a:ext cx="822960" cy="228600"/>
          </a:xfrm>
          <a:prstGeom prst="rect">
            <a:avLst/>
          </a:prstGeom>
          <a:noFill/>
          <a:ln/>
        </p:spPr>
        <p:txBody>
          <a:bodyPr wrap="square" lIns="0" tIns="0" rIns="0" bIns="0" rtlCol="0" anchor="ctr"/>
          <a:lstStyle/>
          <a:p>
            <a:pPr algn="l" indent="0" marL="0">
              <a:buNone/>
            </a:pPr>
            <a:r>
              <a:rPr lang="en-US" sz="700" b="1" dirty="0">
                <a:solidFill>
                  <a:srgbClr val="6B7785"/>
                </a:solidFill>
                <a:latin typeface="Arial" pitchFamily="34" charset="0"/>
                <a:ea typeface="Arial" pitchFamily="34" charset="-122"/>
                <a:cs typeface="Arial" pitchFamily="34" charset="-120"/>
              </a:rPr>
              <a:t>Mức</a:t>
            </a:r>
            <a:endParaRPr lang="en-US" sz="700" dirty="0"/>
          </a:p>
        </p:txBody>
      </p:sp>
      <p:sp>
        <p:nvSpPr>
          <p:cNvPr id="51" name="Text 41"/>
          <p:cNvSpPr txBox="1"/>
          <p:nvPr/>
        </p:nvSpPr>
        <p:spPr>
          <a:xfrm>
            <a:off x="2468880" y="2514600"/>
            <a:ext cx="822960" cy="228600"/>
          </a:xfrm>
          <a:prstGeom prst="rect">
            <a:avLst/>
          </a:prstGeom>
          <a:noFill/>
          <a:ln/>
        </p:spPr>
        <p:txBody>
          <a:bodyPr wrap="square" lIns="0" tIns="0" rIns="0" bIns="0" rtlCol="0" anchor="ctr"/>
          <a:lstStyle/>
          <a:p>
            <a:pPr algn="l" indent="0" marL="0">
              <a:buNone/>
            </a:pPr>
            <a:r>
              <a:rPr lang="en-US" sz="700" b="1" dirty="0">
                <a:solidFill>
                  <a:srgbClr val="6B7785"/>
                </a:solidFill>
                <a:latin typeface="Arial" pitchFamily="34" charset="0"/>
                <a:ea typeface="Arial" pitchFamily="34" charset="-122"/>
                <a:cs typeface="Arial" pitchFamily="34" charset="-120"/>
              </a:rPr>
              <a:t>Giờ</a:t>
            </a:r>
            <a:endParaRPr lang="en-US" sz="700" dirty="0"/>
          </a:p>
        </p:txBody>
      </p:sp>
      <p:sp>
        <p:nvSpPr>
          <p:cNvPr id="52" name="Text 42"/>
          <p:cNvSpPr txBox="1"/>
          <p:nvPr/>
        </p:nvSpPr>
        <p:spPr>
          <a:xfrm>
            <a:off x="2834640" y="2514600"/>
            <a:ext cx="822960" cy="228600"/>
          </a:xfrm>
          <a:prstGeom prst="rect">
            <a:avLst/>
          </a:prstGeom>
          <a:noFill/>
          <a:ln/>
        </p:spPr>
        <p:txBody>
          <a:bodyPr wrap="square" lIns="0" tIns="0" rIns="0" bIns="0" rtlCol="0" anchor="ctr"/>
          <a:lstStyle/>
          <a:p>
            <a:pPr algn="l" indent="0" marL="0">
              <a:buNone/>
            </a:pPr>
            <a:r>
              <a:rPr lang="en-US" sz="700" b="1" dirty="0">
                <a:solidFill>
                  <a:srgbClr val="6B7785"/>
                </a:solidFill>
                <a:latin typeface="Arial" pitchFamily="34" charset="0"/>
                <a:ea typeface="Arial" pitchFamily="34" charset="-122"/>
                <a:cs typeface="Arial" pitchFamily="34" charset="-120"/>
              </a:rPr>
              <a:t>Vị trí</a:t>
            </a:r>
            <a:endParaRPr lang="en-US" sz="700" dirty="0"/>
          </a:p>
        </p:txBody>
      </p:sp>
      <p:sp>
        <p:nvSpPr>
          <p:cNvPr id="53" name="Text 43"/>
          <p:cNvSpPr txBox="1"/>
          <p:nvPr/>
        </p:nvSpPr>
        <p:spPr>
          <a:xfrm>
            <a:off x="3383280" y="2514600"/>
            <a:ext cx="822960" cy="228600"/>
          </a:xfrm>
          <a:prstGeom prst="rect">
            <a:avLst/>
          </a:prstGeom>
          <a:noFill/>
          <a:ln/>
        </p:spPr>
        <p:txBody>
          <a:bodyPr wrap="square" lIns="0" tIns="0" rIns="0" bIns="0" rtlCol="0" anchor="ctr"/>
          <a:lstStyle/>
          <a:p>
            <a:pPr algn="l" indent="0" marL="0">
              <a:buNone/>
            </a:pPr>
            <a:r>
              <a:rPr lang="en-US" sz="700" b="1" dirty="0">
                <a:solidFill>
                  <a:srgbClr val="6B7785"/>
                </a:solidFill>
                <a:latin typeface="Arial" pitchFamily="34" charset="0"/>
                <a:ea typeface="Arial" pitchFamily="34" charset="-122"/>
                <a:cs typeface="Arial" pitchFamily="34" charset="-120"/>
              </a:rPr>
              <a:t>Mô tả</a:t>
            </a:r>
            <a:endParaRPr lang="en-US" sz="700" dirty="0"/>
          </a:p>
        </p:txBody>
      </p:sp>
      <p:sp>
        <p:nvSpPr>
          <p:cNvPr id="54" name="Text 44"/>
          <p:cNvSpPr txBox="1"/>
          <p:nvPr/>
        </p:nvSpPr>
        <p:spPr>
          <a:xfrm>
            <a:off x="5212080" y="2514600"/>
            <a:ext cx="822960" cy="228600"/>
          </a:xfrm>
          <a:prstGeom prst="rect">
            <a:avLst/>
          </a:prstGeom>
          <a:noFill/>
          <a:ln/>
        </p:spPr>
        <p:txBody>
          <a:bodyPr wrap="square" lIns="0" tIns="0" rIns="0" bIns="0" rtlCol="0" anchor="ctr"/>
          <a:lstStyle/>
          <a:p>
            <a:pPr algn="l" indent="0" marL="0">
              <a:buNone/>
            </a:pPr>
            <a:r>
              <a:rPr lang="en-US" sz="700" b="1" dirty="0">
                <a:solidFill>
                  <a:srgbClr val="6B7785"/>
                </a:solidFill>
                <a:latin typeface="Arial" pitchFamily="34" charset="0"/>
                <a:ea typeface="Arial" pitchFamily="34" charset="-122"/>
                <a:cs typeface="Arial" pitchFamily="34" charset="-120"/>
              </a:rPr>
              <a:t>Trạng thái</a:t>
            </a:r>
            <a:endParaRPr lang="en-US" sz="700" dirty="0"/>
          </a:p>
        </p:txBody>
      </p:sp>
      <p:sp>
        <p:nvSpPr>
          <p:cNvPr id="55" name="Shape 45"/>
          <p:cNvSpPr/>
          <p:nvPr/>
        </p:nvSpPr>
        <p:spPr>
          <a:xfrm>
            <a:off x="1947672" y="2743200"/>
            <a:ext cx="4105656" cy="438912"/>
          </a:xfrm>
          <a:prstGeom prst="roundRect">
            <a:avLst>
              <a:gd name="adj" fmla="val 8333"/>
            </a:avLst>
          </a:prstGeom>
          <a:solidFill>
            <a:srgbClr val="FDEDED"/>
          </a:solidFill>
          <a:ln/>
        </p:spPr>
      </p:sp>
      <p:sp>
        <p:nvSpPr>
          <p:cNvPr id="56" name="Shape 46"/>
          <p:cNvSpPr/>
          <p:nvPr/>
        </p:nvSpPr>
        <p:spPr>
          <a:xfrm>
            <a:off x="1965960" y="3191256"/>
            <a:ext cx="4069080" cy="0"/>
          </a:xfrm>
          <a:prstGeom prst="line">
            <a:avLst/>
          </a:prstGeom>
          <a:noFill/>
          <a:ln w="6350">
            <a:solidFill>
              <a:srgbClr val="E4E8EC"/>
            </a:solidFill>
            <a:prstDash val="solid"/>
          </a:ln>
        </p:spPr>
      </p:sp>
      <p:sp>
        <p:nvSpPr>
          <p:cNvPr id="57" name="Shape 47"/>
          <p:cNvSpPr/>
          <p:nvPr/>
        </p:nvSpPr>
        <p:spPr>
          <a:xfrm>
            <a:off x="1993392" y="2862072"/>
            <a:ext cx="411480" cy="182880"/>
          </a:xfrm>
          <a:prstGeom prst="roundRect">
            <a:avLst>
              <a:gd name="adj" fmla="val 50000"/>
            </a:avLst>
          </a:prstGeom>
          <a:solidFill>
            <a:srgbClr val="D64545"/>
          </a:solidFill>
          <a:ln/>
        </p:spPr>
      </p:sp>
      <p:sp>
        <p:nvSpPr>
          <p:cNvPr id="58" name="Text 48"/>
          <p:cNvSpPr txBox="1"/>
          <p:nvPr/>
        </p:nvSpPr>
        <p:spPr>
          <a:xfrm>
            <a:off x="1993392" y="28620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KHẨN</a:t>
            </a:r>
            <a:endParaRPr lang="en-US" sz="700" dirty="0"/>
          </a:p>
        </p:txBody>
      </p:sp>
      <p:sp>
        <p:nvSpPr>
          <p:cNvPr id="59" name="Text 49"/>
          <p:cNvSpPr txBox="1"/>
          <p:nvPr/>
        </p:nvSpPr>
        <p:spPr>
          <a:xfrm>
            <a:off x="2468880" y="27706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02:31</a:t>
            </a:r>
            <a:endParaRPr lang="en-US" sz="750" dirty="0"/>
          </a:p>
        </p:txBody>
      </p:sp>
      <p:sp>
        <p:nvSpPr>
          <p:cNvPr id="60" name="Text 50"/>
          <p:cNvSpPr txBox="1"/>
          <p:nvPr/>
        </p:nvSpPr>
        <p:spPr>
          <a:xfrm>
            <a:off x="2834640" y="27706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T3 · 3B</a:t>
            </a:r>
            <a:endParaRPr lang="en-US" sz="720" dirty="0"/>
          </a:p>
        </p:txBody>
      </p:sp>
      <p:sp>
        <p:nvSpPr>
          <p:cNvPr id="61" name="Text 51"/>
          <p:cNvSpPr txBox="1"/>
          <p:nvPr/>
        </p:nvSpPr>
        <p:spPr>
          <a:xfrm>
            <a:off x="3383280" y="2770632"/>
            <a:ext cx="1783080" cy="384048"/>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Rò rỉ + lưu lượng liên tục 0,8 m³/h</a:t>
            </a:r>
            <a:endParaRPr lang="en-US" sz="750" dirty="0"/>
          </a:p>
        </p:txBody>
      </p:sp>
      <p:sp>
        <p:nvSpPr>
          <p:cNvPr id="62" name="Text 52"/>
          <p:cNvSpPr txBox="1"/>
          <p:nvPr/>
        </p:nvSpPr>
        <p:spPr>
          <a:xfrm>
            <a:off x="5212080" y="2770632"/>
            <a:ext cx="822960" cy="384048"/>
          </a:xfrm>
          <a:prstGeom prst="rect">
            <a:avLst/>
          </a:prstGeom>
          <a:noFill/>
          <a:ln/>
        </p:spPr>
        <p:txBody>
          <a:bodyPr wrap="square" lIns="0" tIns="0" rIns="0" bIns="0" rtlCol="0" anchor="ctr"/>
          <a:lstStyle/>
          <a:p>
            <a:pPr algn="l" indent="0" marL="0">
              <a:buNone/>
            </a:pPr>
            <a:r>
              <a:rPr lang="en-US" sz="700" b="1" dirty="0">
                <a:solidFill>
                  <a:srgbClr val="D64545"/>
                </a:solidFill>
                <a:latin typeface="Arial" pitchFamily="34" charset="0"/>
                <a:ea typeface="Arial" pitchFamily="34" charset="-122"/>
                <a:cs typeface="Arial" pitchFamily="34" charset="-120"/>
              </a:rPr>
              <a:t>Chưa xác nhận</a:t>
            </a:r>
            <a:endParaRPr lang="en-US" sz="700" dirty="0"/>
          </a:p>
        </p:txBody>
      </p:sp>
      <p:sp>
        <p:nvSpPr>
          <p:cNvPr id="63" name="Shape 53"/>
          <p:cNvSpPr/>
          <p:nvPr/>
        </p:nvSpPr>
        <p:spPr>
          <a:xfrm>
            <a:off x="1965960" y="3648456"/>
            <a:ext cx="4069080" cy="0"/>
          </a:xfrm>
          <a:prstGeom prst="line">
            <a:avLst/>
          </a:prstGeom>
          <a:noFill/>
          <a:ln w="6350">
            <a:solidFill>
              <a:srgbClr val="E4E8EC"/>
            </a:solidFill>
            <a:prstDash val="solid"/>
          </a:ln>
        </p:spPr>
      </p:sp>
      <p:sp>
        <p:nvSpPr>
          <p:cNvPr id="64" name="Shape 54"/>
          <p:cNvSpPr/>
          <p:nvPr/>
        </p:nvSpPr>
        <p:spPr>
          <a:xfrm>
            <a:off x="1993392" y="3319272"/>
            <a:ext cx="411480" cy="182880"/>
          </a:xfrm>
          <a:prstGeom prst="roundRect">
            <a:avLst>
              <a:gd name="adj" fmla="val 50000"/>
            </a:avLst>
          </a:prstGeom>
          <a:solidFill>
            <a:srgbClr val="E8833A"/>
          </a:solidFill>
          <a:ln/>
        </p:spPr>
      </p:sp>
      <p:sp>
        <p:nvSpPr>
          <p:cNvPr id="65" name="Text 55"/>
          <p:cNvSpPr txBox="1"/>
          <p:nvPr/>
        </p:nvSpPr>
        <p:spPr>
          <a:xfrm>
            <a:off x="1993392" y="33192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CAO</a:t>
            </a:r>
            <a:endParaRPr lang="en-US" sz="700" dirty="0"/>
          </a:p>
        </p:txBody>
      </p:sp>
      <p:sp>
        <p:nvSpPr>
          <p:cNvPr id="66" name="Text 56"/>
          <p:cNvSpPr txBox="1"/>
          <p:nvPr/>
        </p:nvSpPr>
        <p:spPr>
          <a:xfrm>
            <a:off x="2468880" y="32278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09:30</a:t>
            </a:r>
            <a:endParaRPr lang="en-US" sz="750" dirty="0"/>
          </a:p>
        </p:txBody>
      </p:sp>
      <p:sp>
        <p:nvSpPr>
          <p:cNvPr id="67" name="Text 57"/>
          <p:cNvSpPr txBox="1"/>
          <p:nvPr/>
        </p:nvSpPr>
        <p:spPr>
          <a:xfrm>
            <a:off x="2834640" y="32278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B2 · bơm</a:t>
            </a:r>
            <a:endParaRPr lang="en-US" sz="720" dirty="0"/>
          </a:p>
        </p:txBody>
      </p:sp>
      <p:sp>
        <p:nvSpPr>
          <p:cNvPr id="68" name="Text 58"/>
          <p:cNvSpPr txBox="1"/>
          <p:nvPr/>
        </p:nvSpPr>
        <p:spPr>
          <a:xfrm>
            <a:off x="3383280" y="3227832"/>
            <a:ext cx="178308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Bơm tăng áp 02 khởi động 3× bình thường</a:t>
            </a:r>
            <a:endParaRPr lang="en-US" sz="750" dirty="0"/>
          </a:p>
        </p:txBody>
      </p:sp>
      <p:sp>
        <p:nvSpPr>
          <p:cNvPr id="69" name="Text 59"/>
          <p:cNvSpPr txBox="1"/>
          <p:nvPr/>
        </p:nvSpPr>
        <p:spPr>
          <a:xfrm>
            <a:off x="5212080" y="3227832"/>
            <a:ext cx="822960" cy="384048"/>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KT Hùng</a:t>
            </a:r>
            <a:endParaRPr lang="en-US" sz="700" dirty="0"/>
          </a:p>
        </p:txBody>
      </p:sp>
      <p:sp>
        <p:nvSpPr>
          <p:cNvPr id="70" name="Shape 60"/>
          <p:cNvSpPr/>
          <p:nvPr/>
        </p:nvSpPr>
        <p:spPr>
          <a:xfrm>
            <a:off x="1965960" y="4105656"/>
            <a:ext cx="4069080" cy="0"/>
          </a:xfrm>
          <a:prstGeom prst="line">
            <a:avLst/>
          </a:prstGeom>
          <a:noFill/>
          <a:ln w="6350">
            <a:solidFill>
              <a:srgbClr val="E4E8EC"/>
            </a:solidFill>
            <a:prstDash val="solid"/>
          </a:ln>
        </p:spPr>
      </p:sp>
      <p:sp>
        <p:nvSpPr>
          <p:cNvPr id="71" name="Shape 61"/>
          <p:cNvSpPr/>
          <p:nvPr/>
        </p:nvSpPr>
        <p:spPr>
          <a:xfrm>
            <a:off x="1993392" y="3776472"/>
            <a:ext cx="411480" cy="182880"/>
          </a:xfrm>
          <a:prstGeom prst="roundRect">
            <a:avLst>
              <a:gd name="adj" fmla="val 50000"/>
            </a:avLst>
          </a:prstGeom>
          <a:solidFill>
            <a:srgbClr val="E8833A"/>
          </a:solidFill>
          <a:ln/>
        </p:spPr>
      </p:sp>
      <p:sp>
        <p:nvSpPr>
          <p:cNvPr id="72" name="Text 62"/>
          <p:cNvSpPr txBox="1"/>
          <p:nvPr/>
        </p:nvSpPr>
        <p:spPr>
          <a:xfrm>
            <a:off x="1993392" y="37764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CAO</a:t>
            </a:r>
            <a:endParaRPr lang="en-US" sz="700" dirty="0"/>
          </a:p>
        </p:txBody>
      </p:sp>
      <p:sp>
        <p:nvSpPr>
          <p:cNvPr id="73" name="Text 63"/>
          <p:cNvSpPr txBox="1"/>
          <p:nvPr/>
        </p:nvSpPr>
        <p:spPr>
          <a:xfrm>
            <a:off x="2468880" y="36850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10:05</a:t>
            </a:r>
            <a:endParaRPr lang="en-US" sz="750" dirty="0"/>
          </a:p>
        </p:txBody>
      </p:sp>
      <p:sp>
        <p:nvSpPr>
          <p:cNvPr id="74" name="Text 64"/>
          <p:cNvSpPr txBox="1"/>
          <p:nvPr/>
        </p:nvSpPr>
        <p:spPr>
          <a:xfrm>
            <a:off x="2834640" y="36850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B2 · sạc</a:t>
            </a:r>
            <a:endParaRPr lang="en-US" sz="720" dirty="0"/>
          </a:p>
        </p:txBody>
      </p:sp>
      <p:sp>
        <p:nvSpPr>
          <p:cNvPr id="75" name="Text 65"/>
          <p:cNvSpPr txBox="1"/>
          <p:nvPr/>
        </p:nvSpPr>
        <p:spPr>
          <a:xfrm>
            <a:off x="3383280" y="3685032"/>
            <a:ext cx="178308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Trạm sạc 03 mất kết nối</a:t>
            </a:r>
            <a:endParaRPr lang="en-US" sz="750" dirty="0"/>
          </a:p>
        </p:txBody>
      </p:sp>
      <p:sp>
        <p:nvSpPr>
          <p:cNvPr id="76" name="Text 66"/>
          <p:cNvSpPr txBox="1"/>
          <p:nvPr/>
        </p:nvSpPr>
        <p:spPr>
          <a:xfrm>
            <a:off x="5212080" y="3685032"/>
            <a:ext cx="822960" cy="384048"/>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Đã xác nhận</a:t>
            </a:r>
            <a:endParaRPr lang="en-US" sz="700" dirty="0"/>
          </a:p>
        </p:txBody>
      </p:sp>
      <p:sp>
        <p:nvSpPr>
          <p:cNvPr id="77" name="Shape 67"/>
          <p:cNvSpPr/>
          <p:nvPr/>
        </p:nvSpPr>
        <p:spPr>
          <a:xfrm>
            <a:off x="1965960" y="4562856"/>
            <a:ext cx="4069080" cy="0"/>
          </a:xfrm>
          <a:prstGeom prst="line">
            <a:avLst/>
          </a:prstGeom>
          <a:noFill/>
          <a:ln w="6350">
            <a:solidFill>
              <a:srgbClr val="E4E8EC"/>
            </a:solidFill>
            <a:prstDash val="solid"/>
          </a:ln>
        </p:spPr>
      </p:sp>
      <p:sp>
        <p:nvSpPr>
          <p:cNvPr id="78" name="Shape 68"/>
          <p:cNvSpPr/>
          <p:nvPr/>
        </p:nvSpPr>
        <p:spPr>
          <a:xfrm>
            <a:off x="1993392" y="4233672"/>
            <a:ext cx="411480" cy="182880"/>
          </a:xfrm>
          <a:prstGeom prst="roundRect">
            <a:avLst>
              <a:gd name="adj" fmla="val 50000"/>
            </a:avLst>
          </a:prstGeom>
          <a:solidFill>
            <a:srgbClr val="D9A21B"/>
          </a:solidFill>
          <a:ln/>
        </p:spPr>
      </p:sp>
      <p:sp>
        <p:nvSpPr>
          <p:cNvPr id="79" name="Text 69"/>
          <p:cNvSpPr txBox="1"/>
          <p:nvPr/>
        </p:nvSpPr>
        <p:spPr>
          <a:xfrm>
            <a:off x="1993392" y="42336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TB</a:t>
            </a:r>
            <a:endParaRPr lang="en-US" sz="700" dirty="0"/>
          </a:p>
        </p:txBody>
      </p:sp>
      <p:sp>
        <p:nvSpPr>
          <p:cNvPr id="80" name="Text 70"/>
          <p:cNvSpPr txBox="1"/>
          <p:nvPr/>
        </p:nvSpPr>
        <p:spPr>
          <a:xfrm>
            <a:off x="2468880" y="41422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11:12</a:t>
            </a:r>
            <a:endParaRPr lang="en-US" sz="750" dirty="0"/>
          </a:p>
        </p:txBody>
      </p:sp>
      <p:sp>
        <p:nvSpPr>
          <p:cNvPr id="81" name="Text 71"/>
          <p:cNvSpPr txBox="1"/>
          <p:nvPr/>
        </p:nvSpPr>
        <p:spPr>
          <a:xfrm>
            <a:off x="2834640" y="41422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Mái</a:t>
            </a:r>
            <a:endParaRPr lang="en-US" sz="720" dirty="0"/>
          </a:p>
        </p:txBody>
      </p:sp>
      <p:sp>
        <p:nvSpPr>
          <p:cNvPr id="82" name="Text 72"/>
          <p:cNvSpPr txBox="1"/>
          <p:nvPr/>
        </p:nvSpPr>
        <p:spPr>
          <a:xfrm>
            <a:off x="3383280" y="4142232"/>
            <a:ext cx="178308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Chênh áp lọc FAF-02 cao</a:t>
            </a:r>
            <a:endParaRPr lang="en-US" sz="750" dirty="0"/>
          </a:p>
        </p:txBody>
      </p:sp>
      <p:sp>
        <p:nvSpPr>
          <p:cNvPr id="83" name="Text 73"/>
          <p:cNvSpPr txBox="1"/>
          <p:nvPr/>
        </p:nvSpPr>
        <p:spPr>
          <a:xfrm>
            <a:off x="5212080" y="4142232"/>
            <a:ext cx="822960" cy="384048"/>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Phiếu #1043</a:t>
            </a:r>
            <a:endParaRPr lang="en-US" sz="700" dirty="0"/>
          </a:p>
        </p:txBody>
      </p:sp>
      <p:sp>
        <p:nvSpPr>
          <p:cNvPr id="84" name="Shape 74"/>
          <p:cNvSpPr/>
          <p:nvPr/>
        </p:nvSpPr>
        <p:spPr>
          <a:xfrm>
            <a:off x="1965960" y="5020056"/>
            <a:ext cx="4069080" cy="0"/>
          </a:xfrm>
          <a:prstGeom prst="line">
            <a:avLst/>
          </a:prstGeom>
          <a:noFill/>
          <a:ln w="6350">
            <a:solidFill>
              <a:srgbClr val="E4E8EC"/>
            </a:solidFill>
            <a:prstDash val="solid"/>
          </a:ln>
        </p:spPr>
      </p:sp>
      <p:sp>
        <p:nvSpPr>
          <p:cNvPr id="85" name="Shape 75"/>
          <p:cNvSpPr/>
          <p:nvPr/>
        </p:nvSpPr>
        <p:spPr>
          <a:xfrm>
            <a:off x="1993392" y="4690872"/>
            <a:ext cx="411480" cy="182880"/>
          </a:xfrm>
          <a:prstGeom prst="roundRect">
            <a:avLst>
              <a:gd name="adj" fmla="val 50000"/>
            </a:avLst>
          </a:prstGeom>
          <a:solidFill>
            <a:srgbClr val="D9A21B"/>
          </a:solidFill>
          <a:ln/>
        </p:spPr>
      </p:sp>
      <p:sp>
        <p:nvSpPr>
          <p:cNvPr id="86" name="Text 76"/>
          <p:cNvSpPr txBox="1"/>
          <p:nvPr/>
        </p:nvSpPr>
        <p:spPr>
          <a:xfrm>
            <a:off x="1993392" y="46908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TB</a:t>
            </a:r>
            <a:endParaRPr lang="en-US" sz="700" dirty="0"/>
          </a:p>
        </p:txBody>
      </p:sp>
      <p:sp>
        <p:nvSpPr>
          <p:cNvPr id="87" name="Text 77"/>
          <p:cNvSpPr txBox="1"/>
          <p:nvPr/>
        </p:nvSpPr>
        <p:spPr>
          <a:xfrm>
            <a:off x="2468880" y="45994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14:20</a:t>
            </a:r>
            <a:endParaRPr lang="en-US" sz="750" dirty="0"/>
          </a:p>
        </p:txBody>
      </p:sp>
      <p:sp>
        <p:nvSpPr>
          <p:cNvPr id="88" name="Text 78"/>
          <p:cNvSpPr txBox="1"/>
          <p:nvPr/>
        </p:nvSpPr>
        <p:spPr>
          <a:xfrm>
            <a:off x="2834640" y="45994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B1</a:t>
            </a:r>
            <a:endParaRPr lang="en-US" sz="720" dirty="0"/>
          </a:p>
        </p:txBody>
      </p:sp>
      <p:sp>
        <p:nvSpPr>
          <p:cNvPr id="89" name="Text 79"/>
          <p:cNvSpPr txBox="1"/>
          <p:nvPr/>
        </p:nvSpPr>
        <p:spPr>
          <a:xfrm>
            <a:off x="3383280" y="4599432"/>
            <a:ext cx="178308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CO2 nhà hàng 1.150 ppm</a:t>
            </a:r>
            <a:endParaRPr lang="en-US" sz="750" dirty="0"/>
          </a:p>
        </p:txBody>
      </p:sp>
      <p:sp>
        <p:nvSpPr>
          <p:cNvPr id="90" name="Text 80"/>
          <p:cNvSpPr txBox="1"/>
          <p:nvPr/>
        </p:nvSpPr>
        <p:spPr>
          <a:xfrm>
            <a:off x="5212080" y="4599432"/>
            <a:ext cx="822960" cy="384048"/>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Tự hết</a:t>
            </a:r>
            <a:endParaRPr lang="en-US" sz="700" dirty="0"/>
          </a:p>
        </p:txBody>
      </p:sp>
      <p:sp>
        <p:nvSpPr>
          <p:cNvPr id="91" name="Shape 81"/>
          <p:cNvSpPr/>
          <p:nvPr/>
        </p:nvSpPr>
        <p:spPr>
          <a:xfrm>
            <a:off x="1965960" y="5477256"/>
            <a:ext cx="4069080" cy="0"/>
          </a:xfrm>
          <a:prstGeom prst="line">
            <a:avLst/>
          </a:prstGeom>
          <a:noFill/>
          <a:ln w="6350">
            <a:solidFill>
              <a:srgbClr val="E4E8EC"/>
            </a:solidFill>
            <a:prstDash val="solid"/>
          </a:ln>
        </p:spPr>
      </p:sp>
      <p:sp>
        <p:nvSpPr>
          <p:cNvPr id="92" name="Shape 82"/>
          <p:cNvSpPr/>
          <p:nvPr/>
        </p:nvSpPr>
        <p:spPr>
          <a:xfrm>
            <a:off x="1993392" y="5148072"/>
            <a:ext cx="411480" cy="182880"/>
          </a:xfrm>
          <a:prstGeom prst="roundRect">
            <a:avLst>
              <a:gd name="adj" fmla="val 50000"/>
            </a:avLst>
          </a:prstGeom>
          <a:solidFill>
            <a:srgbClr val="D9A21B"/>
          </a:solidFill>
          <a:ln/>
        </p:spPr>
      </p:sp>
      <p:sp>
        <p:nvSpPr>
          <p:cNvPr id="93" name="Text 83"/>
          <p:cNvSpPr txBox="1"/>
          <p:nvPr/>
        </p:nvSpPr>
        <p:spPr>
          <a:xfrm>
            <a:off x="1993392" y="51480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TB</a:t>
            </a:r>
            <a:endParaRPr lang="en-US" sz="700" dirty="0"/>
          </a:p>
        </p:txBody>
      </p:sp>
      <p:sp>
        <p:nvSpPr>
          <p:cNvPr id="94" name="Text 84"/>
          <p:cNvSpPr txBox="1"/>
          <p:nvPr/>
        </p:nvSpPr>
        <p:spPr>
          <a:xfrm>
            <a:off x="2468880" y="50566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17:45</a:t>
            </a:r>
            <a:endParaRPr lang="en-US" sz="750" dirty="0"/>
          </a:p>
        </p:txBody>
      </p:sp>
      <p:sp>
        <p:nvSpPr>
          <p:cNvPr id="95" name="Text 85"/>
          <p:cNvSpPr txBox="1"/>
          <p:nvPr/>
        </p:nvSpPr>
        <p:spPr>
          <a:xfrm>
            <a:off x="2834640" y="50566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T1</a:t>
            </a:r>
            <a:endParaRPr lang="en-US" sz="720" dirty="0"/>
          </a:p>
        </p:txBody>
      </p:sp>
      <p:sp>
        <p:nvSpPr>
          <p:cNvPr id="96" name="Text 86"/>
          <p:cNvSpPr txBox="1"/>
          <p:nvPr/>
        </p:nvSpPr>
        <p:spPr>
          <a:xfrm>
            <a:off x="3383280" y="5056632"/>
            <a:ext cx="178308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Đèn sảnh bật ngoài lịch</a:t>
            </a:r>
            <a:endParaRPr lang="en-US" sz="750" dirty="0"/>
          </a:p>
        </p:txBody>
      </p:sp>
      <p:sp>
        <p:nvSpPr>
          <p:cNvPr id="97" name="Text 87"/>
          <p:cNvSpPr txBox="1"/>
          <p:nvPr/>
        </p:nvSpPr>
        <p:spPr>
          <a:xfrm>
            <a:off x="5212080" y="5056632"/>
            <a:ext cx="822960" cy="384048"/>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Đã xác nhận</a:t>
            </a:r>
            <a:endParaRPr lang="en-US" sz="700" dirty="0"/>
          </a:p>
        </p:txBody>
      </p:sp>
      <p:sp>
        <p:nvSpPr>
          <p:cNvPr id="98" name="Shape 88"/>
          <p:cNvSpPr/>
          <p:nvPr/>
        </p:nvSpPr>
        <p:spPr>
          <a:xfrm>
            <a:off x="1965960" y="5934456"/>
            <a:ext cx="4069080" cy="0"/>
          </a:xfrm>
          <a:prstGeom prst="line">
            <a:avLst/>
          </a:prstGeom>
          <a:noFill/>
          <a:ln w="6350">
            <a:solidFill>
              <a:srgbClr val="E4E8EC"/>
            </a:solidFill>
            <a:prstDash val="solid"/>
          </a:ln>
        </p:spPr>
      </p:sp>
      <p:sp>
        <p:nvSpPr>
          <p:cNvPr id="99" name="Shape 89"/>
          <p:cNvSpPr/>
          <p:nvPr/>
        </p:nvSpPr>
        <p:spPr>
          <a:xfrm>
            <a:off x="1993392" y="5605272"/>
            <a:ext cx="411480" cy="182880"/>
          </a:xfrm>
          <a:prstGeom prst="roundRect">
            <a:avLst>
              <a:gd name="adj" fmla="val 50000"/>
            </a:avLst>
          </a:prstGeom>
          <a:solidFill>
            <a:srgbClr val="3B82C4"/>
          </a:solidFill>
          <a:ln/>
        </p:spPr>
      </p:sp>
      <p:sp>
        <p:nvSpPr>
          <p:cNvPr id="100" name="Text 90"/>
          <p:cNvSpPr txBox="1"/>
          <p:nvPr/>
        </p:nvSpPr>
        <p:spPr>
          <a:xfrm>
            <a:off x="1993392" y="560527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TIN</a:t>
            </a:r>
            <a:endParaRPr lang="en-US" sz="700" dirty="0"/>
          </a:p>
        </p:txBody>
      </p:sp>
      <p:sp>
        <p:nvSpPr>
          <p:cNvPr id="101" name="Text 91"/>
          <p:cNvSpPr txBox="1"/>
          <p:nvPr/>
        </p:nvSpPr>
        <p:spPr>
          <a:xfrm>
            <a:off x="2468880" y="5513832"/>
            <a:ext cx="36576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18:00</a:t>
            </a:r>
            <a:endParaRPr lang="en-US" sz="750" dirty="0"/>
          </a:p>
        </p:txBody>
      </p:sp>
      <p:sp>
        <p:nvSpPr>
          <p:cNvPr id="102" name="Text 92"/>
          <p:cNvSpPr txBox="1"/>
          <p:nvPr/>
        </p:nvSpPr>
        <p:spPr>
          <a:xfrm>
            <a:off x="2834640" y="5513832"/>
            <a:ext cx="548640" cy="384048"/>
          </a:xfrm>
          <a:prstGeom prst="rect">
            <a:avLst/>
          </a:prstGeom>
          <a:noFill/>
          <a:ln/>
        </p:spPr>
        <p:txBody>
          <a:bodyPr wrap="square" lIns="0" tIns="0" rIns="0" bIns="0" rtlCol="0" anchor="ctr"/>
          <a:lstStyle/>
          <a:p>
            <a:pPr algn="l" indent="0" marL="0">
              <a:buNone/>
            </a:pPr>
            <a:r>
              <a:rPr lang="en-US" sz="720" dirty="0">
                <a:solidFill>
                  <a:srgbClr val="6B7785"/>
                </a:solidFill>
                <a:latin typeface="Arial" pitchFamily="34" charset="0"/>
                <a:ea typeface="Arial" pitchFamily="34" charset="-122"/>
                <a:cs typeface="Arial" pitchFamily="34" charset="-120"/>
              </a:rPr>
              <a:t>Tum</a:t>
            </a:r>
            <a:endParaRPr lang="en-US" sz="720" dirty="0"/>
          </a:p>
        </p:txBody>
      </p:sp>
      <p:sp>
        <p:nvSpPr>
          <p:cNvPr id="103" name="Text 93"/>
          <p:cNvSpPr txBox="1"/>
          <p:nvPr/>
        </p:nvSpPr>
        <p:spPr>
          <a:xfrm>
            <a:off x="3383280" y="5513832"/>
            <a:ext cx="1783080" cy="384048"/>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Rooftop mở cửa, đổi quyền thang</a:t>
            </a:r>
            <a:endParaRPr lang="en-US" sz="750" dirty="0"/>
          </a:p>
        </p:txBody>
      </p:sp>
      <p:sp>
        <p:nvSpPr>
          <p:cNvPr id="104" name="Text 94"/>
          <p:cNvSpPr txBox="1"/>
          <p:nvPr/>
        </p:nvSpPr>
        <p:spPr>
          <a:xfrm>
            <a:off x="5212080" y="5513832"/>
            <a:ext cx="822960" cy="384048"/>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Tự động</a:t>
            </a:r>
            <a:endParaRPr lang="en-US" sz="700" dirty="0"/>
          </a:p>
        </p:txBody>
      </p:sp>
      <p:sp>
        <p:nvSpPr>
          <p:cNvPr id="105" name="Shape 95"/>
          <p:cNvSpPr/>
          <p:nvPr/>
        </p:nvSpPr>
        <p:spPr>
          <a:xfrm>
            <a:off x="6190488" y="2130552"/>
            <a:ext cx="2679192" cy="4206240"/>
          </a:xfrm>
          <a:prstGeom prst="roundRect">
            <a:avLst>
              <a:gd name="adj" fmla="val 2048"/>
            </a:avLst>
          </a:prstGeom>
          <a:solidFill>
            <a:srgbClr val="FFFFFF"/>
          </a:solidFill>
          <a:ln w="6350">
            <a:solidFill>
              <a:srgbClr val="D5DCE3"/>
            </a:solidFill>
            <a:prstDash val="solid"/>
          </a:ln>
        </p:spPr>
      </p:sp>
      <p:sp>
        <p:nvSpPr>
          <p:cNvPr id="106" name="Shape 96"/>
          <p:cNvSpPr/>
          <p:nvPr/>
        </p:nvSpPr>
        <p:spPr>
          <a:xfrm>
            <a:off x="6300216" y="2240280"/>
            <a:ext cx="457200" cy="182880"/>
          </a:xfrm>
          <a:prstGeom prst="roundRect">
            <a:avLst>
              <a:gd name="adj" fmla="val 50000"/>
            </a:avLst>
          </a:prstGeom>
          <a:solidFill>
            <a:srgbClr val="D64545"/>
          </a:solidFill>
          <a:ln/>
        </p:spPr>
      </p:sp>
      <p:sp>
        <p:nvSpPr>
          <p:cNvPr id="107" name="Text 97"/>
          <p:cNvSpPr txBox="1"/>
          <p:nvPr/>
        </p:nvSpPr>
        <p:spPr>
          <a:xfrm>
            <a:off x="6300216" y="2240280"/>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KHẨN</a:t>
            </a:r>
            <a:endParaRPr lang="en-US" sz="700" dirty="0"/>
          </a:p>
        </p:txBody>
      </p:sp>
      <p:sp>
        <p:nvSpPr>
          <p:cNvPr id="108" name="Text 98"/>
          <p:cNvSpPr txBox="1"/>
          <p:nvPr/>
        </p:nvSpPr>
        <p:spPr>
          <a:xfrm>
            <a:off x="6830568" y="2203704"/>
            <a:ext cx="1947672" cy="274320"/>
          </a:xfrm>
          <a:prstGeom prst="rect">
            <a:avLst/>
          </a:prstGeom>
          <a:noFill/>
          <a:ln/>
        </p:spPr>
        <p:txBody>
          <a:bodyPr wrap="square" lIns="0" tIns="0" rIns="0" bIns="0" rtlCol="0" anchor="ctr"/>
          <a:lstStyle/>
          <a:p>
            <a:pPr algn="l" indent="0" marL="0">
              <a:buNone/>
            </a:pPr>
            <a:r>
              <a:rPr lang="en-US" sz="900" b="1" dirty="0">
                <a:solidFill>
                  <a:srgbClr val="12324A"/>
                </a:solidFill>
                <a:latin typeface="Arial" pitchFamily="34" charset="0"/>
                <a:ea typeface="Arial" pitchFamily="34" charset="-122"/>
                <a:cs typeface="Arial" pitchFamily="34" charset="-120"/>
              </a:rPr>
              <a:t>Rò rỉ nước · Tầng 3, nhánh căn 3B</a:t>
            </a:r>
            <a:endParaRPr lang="en-US" sz="900" dirty="0"/>
          </a:p>
        </p:txBody>
      </p:sp>
      <p:sp>
        <p:nvSpPr>
          <p:cNvPr id="109" name="Text 99"/>
          <p:cNvSpPr txBox="1"/>
          <p:nvPr/>
        </p:nvSpPr>
        <p:spPr>
          <a:xfrm>
            <a:off x="6300216" y="2496312"/>
            <a:ext cx="2496312"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Đồng hồ FM-T3-02 · cảm biến rò LS-T3-02 · 02:31</a:t>
            </a:r>
            <a:endParaRPr lang="en-US" sz="700" dirty="0"/>
          </a:p>
        </p:txBody>
      </p:sp>
      <p:graphicFrame>
        <p:nvGraphicFramePr>
          <p:cNvPr id="110" name="Chart 0" descr=""/>
          <p:cNvGraphicFramePr/>
          <p:nvPr/>
        </p:nvGraphicFramePr>
        <p:xfrm>
          <a:off x="6236208" y="2679192"/>
          <a:ext cx="2587752" cy="1143000"/>
        </p:xfrm>
        <a:graphic xmlns:a="http://schemas.openxmlformats.org/drawingml/2006/main">
          <a:graphicData uri="http://schemas.openxmlformats.org/drawingml/2006/chart">
            <c:chart xmlns:c="http://schemas.openxmlformats.org/drawingml/2006/chart" r:id="rId9"/>
          </a:graphicData>
        </a:graphic>
      </p:graphicFrame>
      <p:sp>
        <p:nvSpPr>
          <p:cNvPr id="111" name="Shape 100"/>
          <p:cNvSpPr/>
          <p:nvPr/>
        </p:nvSpPr>
        <p:spPr>
          <a:xfrm>
            <a:off x="6300216" y="3886200"/>
            <a:ext cx="2459736" cy="1298448"/>
          </a:xfrm>
          <a:prstGeom prst="roundRect">
            <a:avLst>
              <a:gd name="adj" fmla="val 3521"/>
            </a:avLst>
          </a:prstGeom>
          <a:solidFill>
            <a:srgbClr val="E8F3F2"/>
          </a:solidFill>
          <a:ln/>
        </p:spPr>
      </p:sp>
      <p:pic>
        <p:nvPicPr>
          <p:cNvPr id="112" name="Image 8" descr="preencoded.png">    </p:cNvPr>
          <p:cNvPicPr>
            <a:picLocks noChangeAspect="1"/>
          </p:cNvPicPr>
          <p:nvPr/>
        </p:nvPicPr>
        <p:blipFill>
          <a:blip r:embed="rId10"/>
          <a:stretch>
            <a:fillRect/>
          </a:stretch>
        </p:blipFill>
        <p:spPr>
          <a:xfrm>
            <a:off x="6391656" y="3959352"/>
            <a:ext cx="164592" cy="164592"/>
          </a:xfrm>
          <a:prstGeom prst="rect">
            <a:avLst/>
          </a:prstGeom>
        </p:spPr>
      </p:pic>
      <p:sp>
        <p:nvSpPr>
          <p:cNvPr id="113" name="Text 101"/>
          <p:cNvSpPr txBox="1"/>
          <p:nvPr/>
        </p:nvSpPr>
        <p:spPr>
          <a:xfrm>
            <a:off x="6611112" y="3922776"/>
            <a:ext cx="1371600" cy="228600"/>
          </a:xfrm>
          <a:prstGeom prst="rect">
            <a:avLst/>
          </a:prstGeom>
          <a:noFill/>
          <a:ln/>
        </p:spPr>
        <p:txBody>
          <a:bodyPr wrap="square" lIns="0" tIns="0" rIns="0" bIns="0" rtlCol="0" anchor="ctr"/>
          <a:lstStyle/>
          <a:p>
            <a:pPr algn="l" indent="0" marL="0">
              <a:buNone/>
            </a:pPr>
            <a:r>
              <a:rPr lang="en-US" sz="800" b="1" dirty="0">
                <a:solidFill>
                  <a:srgbClr val="1B7F79"/>
                </a:solidFill>
                <a:latin typeface="Arial" pitchFamily="34" charset="0"/>
                <a:ea typeface="Arial" pitchFamily="34" charset="-122"/>
                <a:cs typeface="Arial" pitchFamily="34" charset="-120"/>
              </a:rPr>
              <a:t>AI đề xuất</a:t>
            </a:r>
            <a:endParaRPr lang="en-US" sz="800" dirty="0"/>
          </a:p>
        </p:txBody>
      </p:sp>
      <p:sp>
        <p:nvSpPr>
          <p:cNvPr id="114" name="Text 102"/>
          <p:cNvSpPr txBox="1"/>
          <p:nvPr/>
        </p:nvSpPr>
        <p:spPr>
          <a:xfrm>
            <a:off x="6391656" y="4160520"/>
            <a:ext cx="2313432" cy="685800"/>
          </a:xfrm>
          <a:prstGeom prst="rect">
            <a:avLst/>
          </a:prstGeom>
          <a:noFill/>
          <a:ln/>
        </p:spPr>
        <p:txBody>
          <a:bodyPr wrap="square" lIns="0" tIns="0" rIns="0" bIns="0" rtlCol="0" anchor="t"/>
          <a:lstStyle/>
          <a:p>
            <a:pPr algn="l" indent="0" marL="0">
              <a:buNone/>
            </a:pPr>
            <a:r>
              <a:rPr lang="en-US" sz="750" dirty="0">
                <a:solidFill>
                  <a:srgbClr val="1A2330"/>
                </a:solidFill>
                <a:latin typeface="Arial" pitchFamily="34" charset="0"/>
                <a:ea typeface="Arial" pitchFamily="34" charset="-122"/>
                <a:cs typeface="Arial" pitchFamily="34" charset="-120"/>
              </a:rPr>
              <a:t>Đóng van điện từ V-T3-02 (khu căn 3B). Căn cứ: cảm biến rò xác nhận; lưu lượng gấp 14 lần mức nền ban đêm trong 30 phút. Không ảnh hưởng nước chữa cháy.</a:t>
            </a:r>
            <a:endParaRPr lang="en-US" sz="750" dirty="0"/>
          </a:p>
        </p:txBody>
      </p:sp>
      <p:sp>
        <p:nvSpPr>
          <p:cNvPr id="115" name="Text 103"/>
          <p:cNvSpPr txBox="1"/>
          <p:nvPr/>
        </p:nvSpPr>
        <p:spPr>
          <a:xfrm>
            <a:off x="6391656" y="4855464"/>
            <a:ext cx="2313432" cy="320040"/>
          </a:xfrm>
          <a:prstGeom prst="rect">
            <a:avLst/>
          </a:prstGeom>
          <a:noFill/>
          <a:ln/>
        </p:spPr>
        <p:txBody>
          <a:bodyPr wrap="square" lIns="0" tIns="0" rIns="0" bIns="0" rtlCol="0" anchor="t"/>
          <a:lstStyle/>
          <a:p>
            <a:pPr algn="l" indent="0" marL="0">
              <a:buNone/>
            </a:pPr>
            <a:r>
              <a:rPr lang="en-US" sz="680" i="1" dirty="0">
                <a:solidFill>
                  <a:srgbClr val="6B7785"/>
                </a:solidFill>
                <a:latin typeface="Arial" pitchFamily="34" charset="0"/>
                <a:ea typeface="Arial" pitchFamily="34" charset="-122"/>
                <a:cs typeface="Arial" pitchFamily="34" charset="-120"/>
              </a:rPr>
              <a:t>Mức can thiệp: ghi có giới hạn · ưu tiên BACnet 12 · có nhật ký</a:t>
            </a:r>
            <a:endParaRPr lang="en-US" sz="680" dirty="0"/>
          </a:p>
        </p:txBody>
      </p:sp>
      <p:sp>
        <p:nvSpPr>
          <p:cNvPr id="116" name="Shape 104"/>
          <p:cNvSpPr/>
          <p:nvPr/>
        </p:nvSpPr>
        <p:spPr>
          <a:xfrm>
            <a:off x="6300216" y="5285232"/>
            <a:ext cx="2459736" cy="310896"/>
          </a:xfrm>
          <a:prstGeom prst="roundRect">
            <a:avLst>
              <a:gd name="adj" fmla="val 23529"/>
            </a:avLst>
          </a:prstGeom>
          <a:solidFill>
            <a:srgbClr val="D64545"/>
          </a:solidFill>
          <a:ln/>
        </p:spPr>
      </p:sp>
      <p:sp>
        <p:nvSpPr>
          <p:cNvPr id="117" name="Text 105"/>
          <p:cNvSpPr txBox="1"/>
          <p:nvPr/>
        </p:nvSpPr>
        <p:spPr>
          <a:xfrm>
            <a:off x="6300216" y="5285232"/>
            <a:ext cx="245973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Phê duyệt đóng van</a:t>
            </a:r>
            <a:endParaRPr lang="en-US" sz="800" dirty="0"/>
          </a:p>
        </p:txBody>
      </p:sp>
      <p:sp>
        <p:nvSpPr>
          <p:cNvPr id="118" name="Shape 106"/>
          <p:cNvSpPr/>
          <p:nvPr/>
        </p:nvSpPr>
        <p:spPr>
          <a:xfrm>
            <a:off x="6300216" y="5678424"/>
            <a:ext cx="1184148" cy="274320"/>
          </a:xfrm>
          <a:prstGeom prst="roundRect">
            <a:avLst>
              <a:gd name="adj" fmla="val 26667"/>
            </a:avLst>
          </a:prstGeom>
          <a:solidFill>
            <a:srgbClr val="FFFFFF"/>
          </a:solidFill>
          <a:ln w="9525">
            <a:solidFill>
              <a:srgbClr val="1B7F79"/>
            </a:solidFill>
            <a:prstDash val="solid"/>
          </a:ln>
        </p:spPr>
      </p:sp>
      <p:sp>
        <p:nvSpPr>
          <p:cNvPr id="119" name="Text 107"/>
          <p:cNvSpPr txBox="1"/>
          <p:nvPr/>
        </p:nvSpPr>
        <p:spPr>
          <a:xfrm>
            <a:off x="6300216" y="5678424"/>
            <a:ext cx="1184148" cy="274320"/>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Tạo phiếu việc</a:t>
            </a:r>
            <a:endParaRPr lang="en-US" sz="800" dirty="0"/>
          </a:p>
        </p:txBody>
      </p:sp>
      <p:sp>
        <p:nvSpPr>
          <p:cNvPr id="120" name="Shape 108"/>
          <p:cNvSpPr/>
          <p:nvPr/>
        </p:nvSpPr>
        <p:spPr>
          <a:xfrm>
            <a:off x="7575804" y="5678424"/>
            <a:ext cx="1184148" cy="274320"/>
          </a:xfrm>
          <a:prstGeom prst="roundRect">
            <a:avLst>
              <a:gd name="adj" fmla="val 26667"/>
            </a:avLst>
          </a:prstGeom>
          <a:solidFill>
            <a:srgbClr val="FFFFFF"/>
          </a:solidFill>
          <a:ln w="9525">
            <a:solidFill>
              <a:srgbClr val="6B7785"/>
            </a:solidFill>
            <a:prstDash val="solid"/>
          </a:ln>
        </p:spPr>
      </p:sp>
      <p:sp>
        <p:nvSpPr>
          <p:cNvPr id="121" name="Text 109"/>
          <p:cNvSpPr txBox="1"/>
          <p:nvPr/>
        </p:nvSpPr>
        <p:spPr>
          <a:xfrm>
            <a:off x="7575804" y="5678424"/>
            <a:ext cx="1184148" cy="274320"/>
          </a:xfrm>
          <a:prstGeom prst="rect">
            <a:avLst/>
          </a:prstGeom>
          <a:noFill/>
          <a:ln/>
        </p:spPr>
        <p:txBody>
          <a:bodyPr wrap="square" lIns="0" tIns="0" rIns="0" bIns="0" rtlCol="0" anchor="ctr"/>
          <a:lstStyle/>
          <a:p>
            <a:pPr algn="ctr" indent="0" marL="0">
              <a:buNone/>
            </a:pPr>
            <a:r>
              <a:rPr lang="en-US" sz="800" b="1" dirty="0">
                <a:solidFill>
                  <a:srgbClr val="6B7785"/>
                </a:solidFill>
                <a:latin typeface="Arial" pitchFamily="34" charset="0"/>
                <a:ea typeface="Arial" pitchFamily="34" charset="-122"/>
                <a:cs typeface="Arial" pitchFamily="34" charset="-120"/>
              </a:rPr>
              <a:t>Từ chối</a:t>
            </a:r>
            <a:endParaRPr lang="en-US" sz="800" dirty="0"/>
          </a:p>
        </p:txBody>
      </p:sp>
      <p:sp>
        <p:nvSpPr>
          <p:cNvPr id="122" name="Text 110"/>
          <p:cNvSpPr txBox="1"/>
          <p:nvPr/>
        </p:nvSpPr>
        <p:spPr>
          <a:xfrm>
            <a:off x="6300216" y="6007608"/>
            <a:ext cx="2459736" cy="22860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Đã gửi tới: app BQL, KT trực</a:t>
            </a:r>
            <a:endParaRPr lang="en-US" sz="700" dirty="0"/>
          </a:p>
        </p:txBody>
      </p:sp>
      <p:sp>
        <p:nvSpPr>
          <p:cNvPr id="123" name="Shape 111"/>
          <p:cNvSpPr/>
          <p:nvPr/>
        </p:nvSpPr>
        <p:spPr>
          <a:xfrm>
            <a:off x="1618488" y="2816352"/>
            <a:ext cx="274320" cy="274320"/>
          </a:xfrm>
          <a:prstGeom prst="ellipse">
            <a:avLst/>
          </a:prstGeom>
          <a:solidFill>
            <a:srgbClr val="E8833A"/>
          </a:solidFill>
          <a:ln w="19050">
            <a:solidFill>
              <a:srgbClr val="FFFFFF"/>
            </a:solidFill>
            <a:prstDash val="solid"/>
          </a:ln>
        </p:spPr>
      </p:sp>
      <p:sp>
        <p:nvSpPr>
          <p:cNvPr id="124" name="Text 112"/>
          <p:cNvSpPr txBox="1"/>
          <p:nvPr/>
        </p:nvSpPr>
        <p:spPr>
          <a:xfrm>
            <a:off x="1618488" y="28163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5" name="Shape 113"/>
          <p:cNvSpPr/>
          <p:nvPr/>
        </p:nvSpPr>
        <p:spPr>
          <a:xfrm>
            <a:off x="5532120" y="2103120"/>
            <a:ext cx="274320" cy="274320"/>
          </a:xfrm>
          <a:prstGeom prst="ellipse">
            <a:avLst/>
          </a:prstGeom>
          <a:solidFill>
            <a:srgbClr val="E8833A"/>
          </a:solidFill>
          <a:ln w="19050">
            <a:solidFill>
              <a:srgbClr val="FFFFFF"/>
            </a:solidFill>
            <a:prstDash val="solid"/>
          </a:ln>
        </p:spPr>
      </p:sp>
      <p:sp>
        <p:nvSpPr>
          <p:cNvPr id="126" name="Text 114"/>
          <p:cNvSpPr txBox="1"/>
          <p:nvPr/>
        </p:nvSpPr>
        <p:spPr>
          <a:xfrm>
            <a:off x="5532120" y="21031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7" name="Shape 115"/>
          <p:cNvSpPr/>
          <p:nvPr/>
        </p:nvSpPr>
        <p:spPr>
          <a:xfrm>
            <a:off x="8577072" y="3822192"/>
            <a:ext cx="274320" cy="274320"/>
          </a:xfrm>
          <a:prstGeom prst="ellipse">
            <a:avLst/>
          </a:prstGeom>
          <a:solidFill>
            <a:srgbClr val="E8833A"/>
          </a:solidFill>
          <a:ln w="19050">
            <a:solidFill>
              <a:srgbClr val="FFFFFF"/>
            </a:solidFill>
            <a:prstDash val="solid"/>
          </a:ln>
        </p:spPr>
      </p:sp>
      <p:sp>
        <p:nvSpPr>
          <p:cNvPr id="128" name="Text 116"/>
          <p:cNvSpPr txBox="1"/>
          <p:nvPr/>
        </p:nvSpPr>
        <p:spPr>
          <a:xfrm>
            <a:off x="8577072" y="38221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29" name="Shape 117"/>
          <p:cNvSpPr/>
          <p:nvPr/>
        </p:nvSpPr>
        <p:spPr>
          <a:xfrm>
            <a:off x="8577072" y="5239512"/>
            <a:ext cx="274320" cy="274320"/>
          </a:xfrm>
          <a:prstGeom prst="ellipse">
            <a:avLst/>
          </a:prstGeom>
          <a:solidFill>
            <a:srgbClr val="E8833A"/>
          </a:solidFill>
          <a:ln w="19050">
            <a:solidFill>
              <a:srgbClr val="FFFFFF"/>
            </a:solidFill>
            <a:prstDash val="solid"/>
          </a:ln>
        </p:spPr>
      </p:sp>
      <p:sp>
        <p:nvSpPr>
          <p:cNvPr id="130" name="Text 118"/>
          <p:cNvSpPr txBox="1"/>
          <p:nvPr/>
        </p:nvSpPr>
        <p:spPr>
          <a:xfrm>
            <a:off x="8577072" y="5239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31" name="Shape 119"/>
          <p:cNvSpPr/>
          <p:nvPr/>
        </p:nvSpPr>
        <p:spPr>
          <a:xfrm>
            <a:off x="9189720" y="1325880"/>
            <a:ext cx="2560320" cy="5120640"/>
          </a:xfrm>
          <a:prstGeom prst="roundRect">
            <a:avLst>
              <a:gd name="adj" fmla="val 1786"/>
            </a:avLst>
          </a:prstGeom>
          <a:solidFill>
            <a:srgbClr val="E8F3F2"/>
          </a:solidFill>
          <a:ln/>
        </p:spPr>
      </p:sp>
      <p:sp>
        <p:nvSpPr>
          <p:cNvPr id="132" name="Text 120"/>
          <p:cNvSpPr txBox="1"/>
          <p:nvPr/>
        </p:nvSpPr>
        <p:spPr>
          <a:xfrm>
            <a:off x="9372600" y="1435608"/>
            <a:ext cx="219456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133" name="Shape 121"/>
          <p:cNvSpPr/>
          <p:nvPr/>
        </p:nvSpPr>
        <p:spPr>
          <a:xfrm>
            <a:off x="9372600" y="1892808"/>
            <a:ext cx="274320" cy="274320"/>
          </a:xfrm>
          <a:prstGeom prst="ellipse">
            <a:avLst/>
          </a:prstGeom>
          <a:solidFill>
            <a:srgbClr val="E8833A"/>
          </a:solidFill>
          <a:ln w="19050">
            <a:solidFill>
              <a:srgbClr val="FFFFFF"/>
            </a:solidFill>
            <a:prstDash val="solid"/>
          </a:ln>
        </p:spPr>
      </p:sp>
      <p:sp>
        <p:nvSpPr>
          <p:cNvPr id="134" name="Text 122"/>
          <p:cNvSpPr txBox="1"/>
          <p:nvPr/>
        </p:nvSpPr>
        <p:spPr>
          <a:xfrm>
            <a:off x="937260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35" name="Text 123"/>
          <p:cNvSpPr txBox="1"/>
          <p:nvPr/>
        </p:nvSpPr>
        <p:spPr>
          <a:xfrm>
            <a:off x="9738360" y="187452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Nền xám, màu cho bất thường</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Theo ISA-101: dòng khẩn nổi bật ngay giữa danh sách bình thường</a:t>
            </a:r>
            <a:endParaRPr lang="en-US" sz="1050" dirty="0"/>
          </a:p>
        </p:txBody>
      </p:sp>
      <p:sp>
        <p:nvSpPr>
          <p:cNvPr id="136" name="Shape 124"/>
          <p:cNvSpPr/>
          <p:nvPr/>
        </p:nvSpPr>
        <p:spPr>
          <a:xfrm>
            <a:off x="9372600" y="3012948"/>
            <a:ext cx="274320" cy="274320"/>
          </a:xfrm>
          <a:prstGeom prst="ellipse">
            <a:avLst/>
          </a:prstGeom>
          <a:solidFill>
            <a:srgbClr val="E8833A"/>
          </a:solidFill>
          <a:ln w="19050">
            <a:solidFill>
              <a:srgbClr val="FFFFFF"/>
            </a:solidFill>
            <a:prstDash val="solid"/>
          </a:ln>
        </p:spPr>
      </p:sp>
      <p:sp>
        <p:nvSpPr>
          <p:cNvPr id="137" name="Text 125"/>
          <p:cNvSpPr txBox="1"/>
          <p:nvPr/>
        </p:nvSpPr>
        <p:spPr>
          <a:xfrm>
            <a:off x="9372600" y="3012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8" name="Text 126"/>
          <p:cNvSpPr txBox="1"/>
          <p:nvPr/>
        </p:nvSpPr>
        <p:spPr>
          <a:xfrm>
            <a:off x="9738360" y="299466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4 mức ưu tiên, gom trùng</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Theo ISA-18.2: một sự cố không sinh hàng chục cảnh báo rời</a:t>
            </a:r>
            <a:endParaRPr lang="en-US" sz="1050" dirty="0"/>
          </a:p>
        </p:txBody>
      </p:sp>
      <p:sp>
        <p:nvSpPr>
          <p:cNvPr id="139" name="Shape 127"/>
          <p:cNvSpPr/>
          <p:nvPr/>
        </p:nvSpPr>
        <p:spPr>
          <a:xfrm>
            <a:off x="9372600" y="4133088"/>
            <a:ext cx="274320" cy="274320"/>
          </a:xfrm>
          <a:prstGeom prst="ellipse">
            <a:avLst/>
          </a:prstGeom>
          <a:solidFill>
            <a:srgbClr val="E8833A"/>
          </a:solidFill>
          <a:ln w="19050">
            <a:solidFill>
              <a:srgbClr val="FFFFFF"/>
            </a:solidFill>
            <a:prstDash val="solid"/>
          </a:ln>
        </p:spPr>
      </p:sp>
      <p:sp>
        <p:nvSpPr>
          <p:cNvPr id="140" name="Text 128"/>
          <p:cNvSpPr txBox="1"/>
          <p:nvPr/>
        </p:nvSpPr>
        <p:spPr>
          <a:xfrm>
            <a:off x="937260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41" name="Text 129"/>
          <p:cNvSpPr txBox="1"/>
          <p:nvPr/>
        </p:nvSpPr>
        <p:spPr>
          <a:xfrm>
            <a:off x="9738360" y="411480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AI phải giải thích</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Đề xuất kèm dữ liệu căn cứ và biểu đồ, người trực hiểu vì sao trước khi bấm</a:t>
            </a:r>
            <a:endParaRPr lang="en-US" sz="1050" dirty="0"/>
          </a:p>
        </p:txBody>
      </p:sp>
      <p:sp>
        <p:nvSpPr>
          <p:cNvPr id="142" name="Shape 130"/>
          <p:cNvSpPr/>
          <p:nvPr/>
        </p:nvSpPr>
        <p:spPr>
          <a:xfrm>
            <a:off x="9372600" y="5253228"/>
            <a:ext cx="274320" cy="274320"/>
          </a:xfrm>
          <a:prstGeom prst="ellipse">
            <a:avLst/>
          </a:prstGeom>
          <a:solidFill>
            <a:srgbClr val="E8833A"/>
          </a:solidFill>
          <a:ln w="19050">
            <a:solidFill>
              <a:srgbClr val="FFFFFF"/>
            </a:solidFill>
            <a:prstDash val="solid"/>
          </a:ln>
        </p:spPr>
      </p:sp>
      <p:sp>
        <p:nvSpPr>
          <p:cNvPr id="143" name="Text 131"/>
          <p:cNvSpPr txBox="1"/>
          <p:nvPr/>
        </p:nvSpPr>
        <p:spPr>
          <a:xfrm>
            <a:off x="9372600" y="52532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44" name="Text 132"/>
          <p:cNvSpPr txBox="1"/>
          <p:nvPr/>
        </p:nvSpPr>
        <p:spPr>
          <a:xfrm>
            <a:off x="9738360" y="523494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Một chạm, có nhật ký</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Duyệt, từ chối hoặc tạo phiếu việc không phải gõ lại; mọi lệnh được ghi vết</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Năng lượng và nước: dự báo, bất thường, cân bằng tổng – nhánh</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BQL, kỹ thuật, CĐT · Dữ liệu: 47 đồng hồ điện, 28 đồng hồ nước qua BMS Azbil</a:t>
            </a:r>
            <a:endParaRPr lang="en-US" sz="1300" dirty="0"/>
          </a:p>
        </p:txBody>
      </p:sp>
      <p:sp>
        <p:nvSpPr>
          <p:cNvPr id="4" name="Shape 2"/>
          <p:cNvSpPr/>
          <p:nvPr/>
        </p:nvSpPr>
        <p:spPr>
          <a:xfrm>
            <a:off x="457200" y="1325880"/>
            <a:ext cx="8549640" cy="5120640"/>
          </a:xfrm>
          <a:prstGeom prst="roundRect">
            <a:avLst>
              <a:gd name="adj" fmla="val 714"/>
            </a:avLst>
          </a:prstGeom>
          <a:solidFill>
            <a:srgbClr val="FFFFFF"/>
          </a:solidFill>
          <a:ln w="9525">
            <a:solidFill>
              <a:srgbClr val="B9C3CC"/>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457200" y="1325880"/>
            <a:ext cx="8549640" cy="274320"/>
          </a:xfrm>
          <a:prstGeom prst="roundRect">
            <a:avLst>
              <a:gd name="adj" fmla="val 13333"/>
            </a:avLst>
          </a:prstGeom>
          <a:solidFill>
            <a:srgbClr val="E9EDF1"/>
          </a:solidFill>
          <a:ln/>
        </p:spPr>
      </p:sp>
      <p:sp>
        <p:nvSpPr>
          <p:cNvPr id="6" name="Shape 4"/>
          <p:cNvSpPr/>
          <p:nvPr/>
        </p:nvSpPr>
        <p:spPr>
          <a:xfrm>
            <a:off x="457200" y="1463040"/>
            <a:ext cx="8549640" cy="137160"/>
          </a:xfrm>
          <a:prstGeom prst="rect">
            <a:avLst/>
          </a:prstGeom>
          <a:solidFill>
            <a:srgbClr val="E9EDF1"/>
          </a:solidFill>
          <a:ln/>
        </p:spPr>
      </p:sp>
      <p:sp>
        <p:nvSpPr>
          <p:cNvPr id="7" name="Shape 5"/>
          <p:cNvSpPr/>
          <p:nvPr/>
        </p:nvSpPr>
        <p:spPr>
          <a:xfrm>
            <a:off x="566928" y="1408176"/>
            <a:ext cx="100584" cy="100584"/>
          </a:xfrm>
          <a:prstGeom prst="ellipse">
            <a:avLst/>
          </a:prstGeom>
          <a:solidFill>
            <a:srgbClr val="E0605A"/>
          </a:solidFill>
          <a:ln/>
        </p:spPr>
      </p:sp>
      <p:sp>
        <p:nvSpPr>
          <p:cNvPr id="8" name="Shape 6"/>
          <p:cNvSpPr/>
          <p:nvPr/>
        </p:nvSpPr>
        <p:spPr>
          <a:xfrm>
            <a:off x="713232" y="1408176"/>
            <a:ext cx="100584" cy="100584"/>
          </a:xfrm>
          <a:prstGeom prst="ellipse">
            <a:avLst/>
          </a:prstGeom>
          <a:solidFill>
            <a:srgbClr val="E8B341"/>
          </a:solidFill>
          <a:ln/>
        </p:spPr>
      </p:sp>
      <p:sp>
        <p:nvSpPr>
          <p:cNvPr id="9" name="Shape 7"/>
          <p:cNvSpPr/>
          <p:nvPr/>
        </p:nvSpPr>
        <p:spPr>
          <a:xfrm>
            <a:off x="859536" y="1408176"/>
            <a:ext cx="100584" cy="100584"/>
          </a:xfrm>
          <a:prstGeom prst="ellipse">
            <a:avLst/>
          </a:prstGeom>
          <a:solidFill>
            <a:srgbClr val="5DB85C"/>
          </a:solidFill>
          <a:ln/>
        </p:spPr>
      </p:sp>
      <p:sp>
        <p:nvSpPr>
          <p:cNvPr id="10" name="Shape 8"/>
          <p:cNvSpPr/>
          <p:nvPr/>
        </p:nvSpPr>
        <p:spPr>
          <a:xfrm>
            <a:off x="1143000" y="1380744"/>
            <a:ext cx="7635240" cy="173736"/>
          </a:xfrm>
          <a:prstGeom prst="roundRect">
            <a:avLst>
              <a:gd name="adj" fmla="val 42105"/>
            </a:avLst>
          </a:prstGeom>
          <a:solidFill>
            <a:srgbClr val="FFFFFF"/>
          </a:solidFill>
          <a:ln/>
        </p:spPr>
      </p:sp>
      <p:sp>
        <p:nvSpPr>
          <p:cNvPr id="11" name="Text 9"/>
          <p:cNvSpPr txBox="1"/>
          <p:nvPr/>
        </p:nvSpPr>
        <p:spPr>
          <a:xfrm>
            <a:off x="1234440" y="1380744"/>
            <a:ext cx="7452360" cy="173736"/>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ops.tnv-building.vn/nang-luong</a:t>
            </a:r>
            <a:endParaRPr lang="en-US" sz="700" dirty="0"/>
          </a:p>
        </p:txBody>
      </p:sp>
      <p:sp>
        <p:nvSpPr>
          <p:cNvPr id="12" name="Shape 10"/>
          <p:cNvSpPr/>
          <p:nvPr/>
        </p:nvSpPr>
        <p:spPr>
          <a:xfrm>
            <a:off x="457200" y="1600200"/>
            <a:ext cx="1325880" cy="4846320"/>
          </a:xfrm>
          <a:prstGeom prst="rect">
            <a:avLst/>
          </a:prstGeom>
          <a:solidFill>
            <a:srgbClr val="12324A"/>
          </a:solidFill>
          <a:ln/>
        </p:spPr>
      </p:sp>
      <p:sp>
        <p:nvSpPr>
          <p:cNvPr id="13" name="Text 11"/>
          <p:cNvSpPr txBox="1"/>
          <p:nvPr/>
        </p:nvSpPr>
        <p:spPr>
          <a:xfrm>
            <a:off x="594360" y="1691640"/>
            <a:ext cx="1143000" cy="27432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TNV · Smart Ops</a:t>
            </a:r>
            <a:endParaRPr lang="en-US" sz="850" dirty="0"/>
          </a:p>
        </p:txBody>
      </p:sp>
      <p:pic>
        <p:nvPicPr>
          <p:cNvPr id="14" name="Image 0" descr="preencoded.png">    </p:cNvPr>
          <p:cNvPicPr>
            <a:picLocks noChangeAspect="1"/>
          </p:cNvPicPr>
          <p:nvPr/>
        </p:nvPicPr>
        <p:blipFill>
          <a:blip r:embed="rId1"/>
          <a:stretch>
            <a:fillRect/>
          </a:stretch>
        </p:blipFill>
        <p:spPr>
          <a:xfrm>
            <a:off x="603504" y="2130552"/>
            <a:ext cx="146304" cy="146304"/>
          </a:xfrm>
          <a:prstGeom prst="rect">
            <a:avLst/>
          </a:prstGeom>
        </p:spPr>
      </p:pic>
      <p:sp>
        <p:nvSpPr>
          <p:cNvPr id="15" name="Text 12"/>
          <p:cNvSpPr txBox="1"/>
          <p:nvPr/>
        </p:nvSpPr>
        <p:spPr>
          <a:xfrm>
            <a:off x="822960" y="207568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Tổng quan</a:t>
            </a:r>
            <a:endParaRPr lang="en-US" sz="750" dirty="0"/>
          </a:p>
        </p:txBody>
      </p:sp>
      <p:pic>
        <p:nvPicPr>
          <p:cNvPr id="16" name="Image 1" descr="preencoded.png">    </p:cNvPr>
          <p:cNvPicPr>
            <a:picLocks noChangeAspect="1"/>
          </p:cNvPicPr>
          <p:nvPr/>
        </p:nvPicPr>
        <p:blipFill>
          <a:blip r:embed="rId2"/>
          <a:stretch>
            <a:fillRect/>
          </a:stretch>
        </p:blipFill>
        <p:spPr>
          <a:xfrm>
            <a:off x="603504" y="2459736"/>
            <a:ext cx="146304" cy="146304"/>
          </a:xfrm>
          <a:prstGeom prst="rect">
            <a:avLst/>
          </a:prstGeom>
        </p:spPr>
      </p:pic>
      <p:sp>
        <p:nvSpPr>
          <p:cNvPr id="17" name="Text 13"/>
          <p:cNvSpPr txBox="1"/>
          <p:nvPr/>
        </p:nvSpPr>
        <p:spPr>
          <a:xfrm>
            <a:off x="822960" y="240487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Cảnh báo</a:t>
            </a:r>
            <a:endParaRPr lang="en-US" sz="750" dirty="0"/>
          </a:p>
        </p:txBody>
      </p:sp>
      <p:sp>
        <p:nvSpPr>
          <p:cNvPr id="18" name="Shape 14"/>
          <p:cNvSpPr/>
          <p:nvPr/>
        </p:nvSpPr>
        <p:spPr>
          <a:xfrm>
            <a:off x="521208" y="2724912"/>
            <a:ext cx="1197864" cy="274320"/>
          </a:xfrm>
          <a:prstGeom prst="roundRect">
            <a:avLst>
              <a:gd name="adj" fmla="val 26667"/>
            </a:avLst>
          </a:prstGeom>
          <a:solidFill>
            <a:srgbClr val="1B7F79"/>
          </a:solidFill>
          <a:ln/>
        </p:spPr>
      </p:sp>
      <p:pic>
        <p:nvPicPr>
          <p:cNvPr id="19" name="Image 2" descr="preencoded.png">    </p:cNvPr>
          <p:cNvPicPr>
            <a:picLocks noChangeAspect="1"/>
          </p:cNvPicPr>
          <p:nvPr/>
        </p:nvPicPr>
        <p:blipFill>
          <a:blip r:embed="rId3"/>
          <a:stretch>
            <a:fillRect/>
          </a:stretch>
        </p:blipFill>
        <p:spPr>
          <a:xfrm>
            <a:off x="603504" y="2788920"/>
            <a:ext cx="146304" cy="146304"/>
          </a:xfrm>
          <a:prstGeom prst="rect">
            <a:avLst/>
          </a:prstGeom>
        </p:spPr>
      </p:pic>
      <p:sp>
        <p:nvSpPr>
          <p:cNvPr id="20" name="Text 15"/>
          <p:cNvSpPr txBox="1"/>
          <p:nvPr/>
        </p:nvSpPr>
        <p:spPr>
          <a:xfrm>
            <a:off x="822960" y="2734056"/>
            <a:ext cx="914400" cy="256032"/>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Điện &amp; nước</a:t>
            </a:r>
            <a:endParaRPr lang="en-US" sz="750" dirty="0"/>
          </a:p>
        </p:txBody>
      </p:sp>
      <p:pic>
        <p:nvPicPr>
          <p:cNvPr id="21" name="Image 3" descr="preencoded.png">    </p:cNvPr>
          <p:cNvPicPr>
            <a:picLocks noChangeAspect="1"/>
          </p:cNvPicPr>
          <p:nvPr/>
        </p:nvPicPr>
        <p:blipFill>
          <a:blip r:embed="rId4"/>
          <a:stretch>
            <a:fillRect/>
          </a:stretch>
        </p:blipFill>
        <p:spPr>
          <a:xfrm>
            <a:off x="603504" y="3118104"/>
            <a:ext cx="146304" cy="146304"/>
          </a:xfrm>
          <a:prstGeom prst="rect">
            <a:avLst/>
          </a:prstGeom>
        </p:spPr>
      </p:pic>
      <p:sp>
        <p:nvSpPr>
          <p:cNvPr id="22" name="Text 16"/>
          <p:cNvSpPr txBox="1"/>
          <p:nvPr/>
        </p:nvSpPr>
        <p:spPr>
          <a:xfrm>
            <a:off x="822960" y="3063240"/>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Thiết bị</a:t>
            </a:r>
            <a:endParaRPr lang="en-US" sz="750" dirty="0"/>
          </a:p>
        </p:txBody>
      </p:sp>
      <p:pic>
        <p:nvPicPr>
          <p:cNvPr id="23" name="Image 4" descr="preencoded.png">    </p:cNvPr>
          <p:cNvPicPr>
            <a:picLocks noChangeAspect="1"/>
          </p:cNvPicPr>
          <p:nvPr/>
        </p:nvPicPr>
        <p:blipFill>
          <a:blip r:embed="rId5"/>
          <a:stretch>
            <a:fillRect/>
          </a:stretch>
        </p:blipFill>
        <p:spPr>
          <a:xfrm>
            <a:off x="603504" y="3447288"/>
            <a:ext cx="146304" cy="146304"/>
          </a:xfrm>
          <a:prstGeom prst="rect">
            <a:avLst/>
          </a:prstGeom>
        </p:spPr>
      </p:pic>
      <p:sp>
        <p:nvSpPr>
          <p:cNvPr id="24" name="Text 17"/>
          <p:cNvSpPr txBox="1"/>
          <p:nvPr/>
        </p:nvSpPr>
        <p:spPr>
          <a:xfrm>
            <a:off x="822960" y="3392424"/>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An ninh &amp; vào ra</a:t>
            </a:r>
            <a:endParaRPr lang="en-US" sz="750" dirty="0"/>
          </a:p>
        </p:txBody>
      </p:sp>
      <p:pic>
        <p:nvPicPr>
          <p:cNvPr id="25" name="Image 5" descr="preencoded.png">    </p:cNvPr>
          <p:cNvPicPr>
            <a:picLocks noChangeAspect="1"/>
          </p:cNvPicPr>
          <p:nvPr/>
        </p:nvPicPr>
        <p:blipFill>
          <a:blip r:embed="rId6"/>
          <a:stretch>
            <a:fillRect/>
          </a:stretch>
        </p:blipFill>
        <p:spPr>
          <a:xfrm>
            <a:off x="603504" y="3776472"/>
            <a:ext cx="146304" cy="146304"/>
          </a:xfrm>
          <a:prstGeom prst="rect">
            <a:avLst/>
          </a:prstGeom>
        </p:spPr>
      </p:pic>
      <p:sp>
        <p:nvSpPr>
          <p:cNvPr id="26" name="Text 18"/>
          <p:cNvSpPr txBox="1"/>
          <p:nvPr/>
        </p:nvSpPr>
        <p:spPr>
          <a:xfrm>
            <a:off x="822960" y="372160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Trợ lý AI</a:t>
            </a:r>
            <a:endParaRPr lang="en-US" sz="750" dirty="0"/>
          </a:p>
        </p:txBody>
      </p:sp>
      <p:pic>
        <p:nvPicPr>
          <p:cNvPr id="27" name="Image 6" descr="preencoded.png">    </p:cNvPr>
          <p:cNvPicPr>
            <a:picLocks noChangeAspect="1"/>
          </p:cNvPicPr>
          <p:nvPr/>
        </p:nvPicPr>
        <p:blipFill>
          <a:blip r:embed="rId7"/>
          <a:stretch>
            <a:fillRect/>
          </a:stretch>
        </p:blipFill>
        <p:spPr>
          <a:xfrm>
            <a:off x="603504" y="4105656"/>
            <a:ext cx="146304" cy="146304"/>
          </a:xfrm>
          <a:prstGeom prst="rect">
            <a:avLst/>
          </a:prstGeom>
        </p:spPr>
      </p:pic>
      <p:sp>
        <p:nvSpPr>
          <p:cNvPr id="28" name="Text 19"/>
          <p:cNvSpPr txBox="1"/>
          <p:nvPr/>
        </p:nvSpPr>
        <p:spPr>
          <a:xfrm>
            <a:off x="822960" y="405079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Báo cáo</a:t>
            </a:r>
            <a:endParaRPr lang="en-US" sz="750" dirty="0"/>
          </a:p>
        </p:txBody>
      </p:sp>
      <p:pic>
        <p:nvPicPr>
          <p:cNvPr id="29" name="Image 7" descr="preencoded.png">    </p:cNvPr>
          <p:cNvPicPr>
            <a:picLocks noChangeAspect="1"/>
          </p:cNvPicPr>
          <p:nvPr/>
        </p:nvPicPr>
        <p:blipFill>
          <a:blip r:embed="rId8"/>
          <a:stretch>
            <a:fillRect/>
          </a:stretch>
        </p:blipFill>
        <p:spPr>
          <a:xfrm>
            <a:off x="603504" y="4434840"/>
            <a:ext cx="146304" cy="146304"/>
          </a:xfrm>
          <a:prstGeom prst="rect">
            <a:avLst/>
          </a:prstGeom>
        </p:spPr>
      </p:pic>
      <p:sp>
        <p:nvSpPr>
          <p:cNvPr id="30" name="Text 20"/>
          <p:cNvSpPr txBox="1"/>
          <p:nvPr/>
        </p:nvSpPr>
        <p:spPr>
          <a:xfrm>
            <a:off x="822960" y="437997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Cấu hình</a:t>
            </a:r>
            <a:endParaRPr lang="en-US" sz="750" dirty="0"/>
          </a:p>
        </p:txBody>
      </p:sp>
      <p:sp>
        <p:nvSpPr>
          <p:cNvPr id="31" name="Text 21"/>
          <p:cNvSpPr txBox="1"/>
          <p:nvPr/>
        </p:nvSpPr>
        <p:spPr>
          <a:xfrm>
            <a:off x="548640" y="6080760"/>
            <a:ext cx="1143000" cy="274320"/>
          </a:xfrm>
          <a:prstGeom prst="rect">
            <a:avLst/>
          </a:prstGeom>
          <a:noFill/>
          <a:ln/>
        </p:spPr>
        <p:txBody>
          <a:bodyPr wrap="square" lIns="0" tIns="0" rIns="0" bIns="0" rtlCol="0" anchor="ctr"/>
          <a:lstStyle/>
          <a:p>
            <a:pPr algn="l" indent="0" marL="0">
              <a:buNone/>
            </a:pPr>
            <a:r>
              <a:rPr lang="en-US" sz="600" dirty="0">
                <a:solidFill>
                  <a:srgbClr val="8FA6B8"/>
                </a:solidFill>
                <a:latin typeface="Arial" pitchFamily="34" charset="0"/>
                <a:ea typeface="Arial" pitchFamily="34" charset="-122"/>
                <a:cs typeface="Arial" pitchFamily="34" charset="-120"/>
              </a:rPr>
              <a:t>Claude · Gemini qua cổng AI Gimasys</a:t>
            </a:r>
            <a:endParaRPr lang="en-US" sz="600" dirty="0"/>
          </a:p>
        </p:txBody>
      </p:sp>
      <p:sp>
        <p:nvSpPr>
          <p:cNvPr id="32" name="Shape 22"/>
          <p:cNvSpPr/>
          <p:nvPr/>
        </p:nvSpPr>
        <p:spPr>
          <a:xfrm>
            <a:off x="1783080" y="1600200"/>
            <a:ext cx="7223760" cy="411480"/>
          </a:xfrm>
          <a:prstGeom prst="rect">
            <a:avLst/>
          </a:prstGeom>
          <a:solidFill>
            <a:srgbClr val="FFFFFF"/>
          </a:solidFill>
          <a:ln/>
        </p:spPr>
      </p:sp>
      <p:sp>
        <p:nvSpPr>
          <p:cNvPr id="33" name="Shape 23"/>
          <p:cNvSpPr/>
          <p:nvPr/>
        </p:nvSpPr>
        <p:spPr>
          <a:xfrm>
            <a:off x="1783080" y="2011680"/>
            <a:ext cx="7223760" cy="0"/>
          </a:xfrm>
          <a:prstGeom prst="line">
            <a:avLst/>
          </a:prstGeom>
          <a:noFill/>
          <a:ln w="9525">
            <a:solidFill>
              <a:srgbClr val="E4E8EC"/>
            </a:solidFill>
            <a:prstDash val="solid"/>
          </a:ln>
        </p:spPr>
      </p:sp>
      <p:sp>
        <p:nvSpPr>
          <p:cNvPr id="34" name="Text 24"/>
          <p:cNvSpPr txBox="1"/>
          <p:nvPr/>
        </p:nvSpPr>
        <p:spPr>
          <a:xfrm>
            <a:off x="1947672" y="1600200"/>
            <a:ext cx="3657600" cy="411480"/>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Năng lượng &amp; nước</a:t>
            </a:r>
            <a:endParaRPr lang="en-US" sz="1100" dirty="0"/>
          </a:p>
        </p:txBody>
      </p:sp>
      <p:sp>
        <p:nvSpPr>
          <p:cNvPr id="35" name="Text 25"/>
          <p:cNvSpPr txBox="1"/>
          <p:nvPr/>
        </p:nvSpPr>
        <p:spPr>
          <a:xfrm>
            <a:off x="5074920" y="1600200"/>
            <a:ext cx="3337560" cy="411480"/>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Hôm nay 20/10/2026 · VI | EN</a:t>
            </a:r>
            <a:endParaRPr lang="en-US" sz="750" dirty="0"/>
          </a:p>
        </p:txBody>
      </p:sp>
      <p:sp>
        <p:nvSpPr>
          <p:cNvPr id="36" name="Shape 26"/>
          <p:cNvSpPr/>
          <p:nvPr/>
        </p:nvSpPr>
        <p:spPr>
          <a:xfrm>
            <a:off x="8549640" y="1682496"/>
            <a:ext cx="246888" cy="246888"/>
          </a:xfrm>
          <a:prstGeom prst="ellipse">
            <a:avLst/>
          </a:prstGeom>
          <a:solidFill>
            <a:srgbClr val="1B7F79"/>
          </a:solidFill>
          <a:ln/>
        </p:spPr>
      </p:sp>
      <p:sp>
        <p:nvSpPr>
          <p:cNvPr id="37" name="Text 27"/>
          <p:cNvSpPr txBox="1"/>
          <p:nvPr/>
        </p:nvSpPr>
        <p:spPr>
          <a:xfrm>
            <a:off x="8549640" y="1682496"/>
            <a:ext cx="246888" cy="24688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BQL</a:t>
            </a:r>
            <a:endParaRPr lang="en-US" sz="600" dirty="0"/>
          </a:p>
        </p:txBody>
      </p:sp>
      <p:sp>
        <p:nvSpPr>
          <p:cNvPr id="38" name="Shape 28"/>
          <p:cNvSpPr/>
          <p:nvPr/>
        </p:nvSpPr>
        <p:spPr>
          <a:xfrm>
            <a:off x="1783080" y="2020824"/>
            <a:ext cx="7223760" cy="4416552"/>
          </a:xfrm>
          <a:prstGeom prst="rect">
            <a:avLst/>
          </a:prstGeom>
          <a:solidFill>
            <a:srgbClr val="F5F7F9"/>
          </a:solidFill>
          <a:ln/>
        </p:spPr>
      </p:sp>
      <p:sp>
        <p:nvSpPr>
          <p:cNvPr id="39" name="Shape 29"/>
          <p:cNvSpPr/>
          <p:nvPr/>
        </p:nvSpPr>
        <p:spPr>
          <a:xfrm>
            <a:off x="1920240" y="2130552"/>
            <a:ext cx="868680" cy="228600"/>
          </a:xfrm>
          <a:prstGeom prst="roundRect">
            <a:avLst>
              <a:gd name="adj" fmla="val 40000"/>
            </a:avLst>
          </a:prstGeom>
          <a:solidFill>
            <a:srgbClr val="12324A"/>
          </a:solidFill>
          <a:ln/>
        </p:spPr>
      </p:sp>
      <p:sp>
        <p:nvSpPr>
          <p:cNvPr id="40" name="Text 30"/>
          <p:cNvSpPr txBox="1"/>
          <p:nvPr/>
        </p:nvSpPr>
        <p:spPr>
          <a:xfrm>
            <a:off x="1920240" y="2130552"/>
            <a:ext cx="8686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Điện</a:t>
            </a:r>
            <a:endParaRPr lang="en-US" sz="750" dirty="0"/>
          </a:p>
        </p:txBody>
      </p:sp>
      <p:sp>
        <p:nvSpPr>
          <p:cNvPr id="41" name="Shape 31"/>
          <p:cNvSpPr/>
          <p:nvPr/>
        </p:nvSpPr>
        <p:spPr>
          <a:xfrm>
            <a:off x="2880360" y="2130552"/>
            <a:ext cx="868680" cy="228600"/>
          </a:xfrm>
          <a:prstGeom prst="roundRect">
            <a:avLst>
              <a:gd name="adj" fmla="val 40000"/>
            </a:avLst>
          </a:prstGeom>
          <a:solidFill>
            <a:srgbClr val="FFFFFF"/>
          </a:solidFill>
          <a:ln/>
        </p:spPr>
      </p:sp>
      <p:sp>
        <p:nvSpPr>
          <p:cNvPr id="42" name="Text 32"/>
          <p:cNvSpPr txBox="1"/>
          <p:nvPr/>
        </p:nvSpPr>
        <p:spPr>
          <a:xfrm>
            <a:off x="2880360" y="2130552"/>
            <a:ext cx="868680" cy="228600"/>
          </a:xfrm>
          <a:prstGeom prst="rect">
            <a:avLst/>
          </a:prstGeom>
          <a:noFill/>
          <a:ln/>
        </p:spPr>
        <p:txBody>
          <a:bodyPr wrap="square" lIns="0" tIns="0" rIns="0" bIns="0" rtlCol="0" anchor="ctr"/>
          <a:lstStyle/>
          <a:p>
            <a:pPr algn="ctr" indent="0" marL="0">
              <a:buNone/>
            </a:pPr>
            <a:r>
              <a:rPr lang="en-US" sz="750" b="1" dirty="0">
                <a:solidFill>
                  <a:srgbClr val="12324A"/>
                </a:solidFill>
                <a:latin typeface="Arial" pitchFamily="34" charset="0"/>
                <a:ea typeface="Arial" pitchFamily="34" charset="-122"/>
                <a:cs typeface="Arial" pitchFamily="34" charset="-120"/>
              </a:rPr>
              <a:t>Nước</a:t>
            </a:r>
            <a:endParaRPr lang="en-US" sz="750" dirty="0"/>
          </a:p>
        </p:txBody>
      </p:sp>
      <p:sp>
        <p:nvSpPr>
          <p:cNvPr id="43" name="Shape 33"/>
          <p:cNvSpPr/>
          <p:nvPr/>
        </p:nvSpPr>
        <p:spPr>
          <a:xfrm>
            <a:off x="3840480" y="2130552"/>
            <a:ext cx="868680" cy="228600"/>
          </a:xfrm>
          <a:prstGeom prst="roundRect">
            <a:avLst>
              <a:gd name="adj" fmla="val 40000"/>
            </a:avLst>
          </a:prstGeom>
          <a:solidFill>
            <a:srgbClr val="FFFFFF"/>
          </a:solidFill>
          <a:ln/>
        </p:spPr>
      </p:sp>
      <p:sp>
        <p:nvSpPr>
          <p:cNvPr id="44" name="Text 34"/>
          <p:cNvSpPr txBox="1"/>
          <p:nvPr/>
        </p:nvSpPr>
        <p:spPr>
          <a:xfrm>
            <a:off x="3840480" y="2130552"/>
            <a:ext cx="868680" cy="228600"/>
          </a:xfrm>
          <a:prstGeom prst="rect">
            <a:avLst/>
          </a:prstGeom>
          <a:noFill/>
          <a:ln/>
        </p:spPr>
        <p:txBody>
          <a:bodyPr wrap="square" lIns="0" tIns="0" rIns="0" bIns="0" rtlCol="0" anchor="ctr"/>
          <a:lstStyle/>
          <a:p>
            <a:pPr algn="ctr" indent="0" marL="0">
              <a:buNone/>
            </a:pPr>
            <a:r>
              <a:rPr lang="en-US" sz="750" b="1" dirty="0">
                <a:solidFill>
                  <a:srgbClr val="12324A"/>
                </a:solidFill>
                <a:latin typeface="Arial" pitchFamily="34" charset="0"/>
                <a:ea typeface="Arial" pitchFamily="34" charset="-122"/>
                <a:cs typeface="Arial" pitchFamily="34" charset="-120"/>
              </a:rPr>
              <a:t>Hóa đơn</a:t>
            </a:r>
            <a:endParaRPr lang="en-US" sz="750" dirty="0"/>
          </a:p>
        </p:txBody>
      </p:sp>
      <p:sp>
        <p:nvSpPr>
          <p:cNvPr id="45" name="Shape 35"/>
          <p:cNvSpPr/>
          <p:nvPr/>
        </p:nvSpPr>
        <p:spPr>
          <a:xfrm>
            <a:off x="4800600" y="2130552"/>
            <a:ext cx="868680" cy="228600"/>
          </a:xfrm>
          <a:prstGeom prst="roundRect">
            <a:avLst>
              <a:gd name="adj" fmla="val 40000"/>
            </a:avLst>
          </a:prstGeom>
          <a:solidFill>
            <a:srgbClr val="FFFFFF"/>
          </a:solidFill>
          <a:ln/>
        </p:spPr>
      </p:sp>
      <p:sp>
        <p:nvSpPr>
          <p:cNvPr id="46" name="Text 36"/>
          <p:cNvSpPr txBox="1"/>
          <p:nvPr/>
        </p:nvSpPr>
        <p:spPr>
          <a:xfrm>
            <a:off x="4800600" y="2130552"/>
            <a:ext cx="868680" cy="228600"/>
          </a:xfrm>
          <a:prstGeom prst="rect">
            <a:avLst/>
          </a:prstGeom>
          <a:noFill/>
          <a:ln/>
        </p:spPr>
        <p:txBody>
          <a:bodyPr wrap="square" lIns="0" tIns="0" rIns="0" bIns="0" rtlCol="0" anchor="ctr"/>
          <a:lstStyle/>
          <a:p>
            <a:pPr algn="ctr" indent="0" marL="0">
              <a:buNone/>
            </a:pPr>
            <a:r>
              <a:rPr lang="en-US" sz="750" b="1" dirty="0">
                <a:solidFill>
                  <a:srgbClr val="12324A"/>
                </a:solidFill>
                <a:latin typeface="Arial" pitchFamily="34" charset="0"/>
                <a:ea typeface="Arial" pitchFamily="34" charset="-122"/>
                <a:cs typeface="Arial" pitchFamily="34" charset="-120"/>
              </a:rPr>
              <a:t>Công trình xanh</a:t>
            </a:r>
            <a:endParaRPr lang="en-US" sz="750" dirty="0"/>
          </a:p>
        </p:txBody>
      </p:sp>
      <p:sp>
        <p:nvSpPr>
          <p:cNvPr id="47" name="Shape 37"/>
          <p:cNvSpPr/>
          <p:nvPr/>
        </p:nvSpPr>
        <p:spPr>
          <a:xfrm>
            <a:off x="1920240" y="2459736"/>
            <a:ext cx="4480560" cy="2057400"/>
          </a:xfrm>
          <a:prstGeom prst="roundRect">
            <a:avLst>
              <a:gd name="adj" fmla="val 2667"/>
            </a:avLst>
          </a:prstGeom>
          <a:solidFill>
            <a:srgbClr val="FFFFFF"/>
          </a:solidFill>
          <a:ln w="6350">
            <a:solidFill>
              <a:srgbClr val="D5DCE3"/>
            </a:solidFill>
            <a:prstDash val="solid"/>
          </a:ln>
        </p:spPr>
      </p:sp>
      <p:sp>
        <p:nvSpPr>
          <p:cNvPr id="48" name="Text 38"/>
          <p:cNvSpPr txBox="1"/>
          <p:nvPr/>
        </p:nvSpPr>
        <p:spPr>
          <a:xfrm>
            <a:off x="2029968" y="2514600"/>
            <a:ext cx="426110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Phụ tải hôm nay theo giờ (kW): thực tế và dự báo</a:t>
            </a:r>
            <a:endParaRPr lang="en-US" sz="850" dirty="0"/>
          </a:p>
        </p:txBody>
      </p:sp>
      <p:graphicFrame>
        <p:nvGraphicFramePr>
          <p:cNvPr id="49" name="Chart 0" descr=""/>
          <p:cNvGraphicFramePr/>
          <p:nvPr/>
        </p:nvGraphicFramePr>
        <p:xfrm>
          <a:off x="1965960" y="2715768"/>
          <a:ext cx="4389120" cy="1755648"/>
        </p:xfrm>
        <a:graphic xmlns:a="http://schemas.openxmlformats.org/drawingml/2006/main">
          <a:graphicData uri="http://schemas.openxmlformats.org/drawingml/2006/chart">
            <c:chart xmlns:c="http://schemas.openxmlformats.org/drawingml/2006/chart" r:id="rId9"/>
          </a:graphicData>
        </a:graphic>
      </p:graphicFrame>
      <p:sp>
        <p:nvSpPr>
          <p:cNvPr id="50" name="Shape 39"/>
          <p:cNvSpPr/>
          <p:nvPr/>
        </p:nvSpPr>
        <p:spPr>
          <a:xfrm>
            <a:off x="6492240" y="2459736"/>
            <a:ext cx="2377440" cy="2057400"/>
          </a:xfrm>
          <a:prstGeom prst="roundRect">
            <a:avLst>
              <a:gd name="adj" fmla="val 2667"/>
            </a:avLst>
          </a:prstGeom>
          <a:solidFill>
            <a:srgbClr val="FFFFFF"/>
          </a:solidFill>
          <a:ln w="6350">
            <a:solidFill>
              <a:srgbClr val="D5DCE3"/>
            </a:solidFill>
            <a:prstDash val="solid"/>
          </a:ln>
        </p:spPr>
      </p:sp>
      <p:sp>
        <p:nvSpPr>
          <p:cNvPr id="51" name="Text 40"/>
          <p:cNvSpPr txBox="1"/>
          <p:nvPr/>
        </p:nvSpPr>
        <p:spPr>
          <a:xfrm>
            <a:off x="6601968" y="2514600"/>
            <a:ext cx="215798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Căn hộ dùng điện nhiều nhất (kWh)</a:t>
            </a:r>
            <a:endParaRPr lang="en-US" sz="850" dirty="0"/>
          </a:p>
        </p:txBody>
      </p:sp>
      <p:graphicFrame>
        <p:nvGraphicFramePr>
          <p:cNvPr id="52" name="Chart 1" descr=""/>
          <p:cNvGraphicFramePr/>
          <p:nvPr/>
        </p:nvGraphicFramePr>
        <p:xfrm>
          <a:off x="6537960" y="2715768"/>
          <a:ext cx="2286000" cy="1755648"/>
        </p:xfrm>
        <a:graphic xmlns:a="http://schemas.openxmlformats.org/drawingml/2006/main">
          <a:graphicData uri="http://schemas.openxmlformats.org/drawingml/2006/chart">
            <c:chart xmlns:c="http://schemas.openxmlformats.org/drawingml/2006/chart" r:id="rId10"/>
          </a:graphicData>
        </a:graphic>
      </p:graphicFrame>
      <p:sp>
        <p:nvSpPr>
          <p:cNvPr id="53" name="Shape 41"/>
          <p:cNvSpPr/>
          <p:nvPr/>
        </p:nvSpPr>
        <p:spPr>
          <a:xfrm>
            <a:off x="1920240" y="4608576"/>
            <a:ext cx="2514600" cy="1728216"/>
          </a:xfrm>
          <a:prstGeom prst="roundRect">
            <a:avLst>
              <a:gd name="adj" fmla="val 3175"/>
            </a:avLst>
          </a:prstGeom>
          <a:solidFill>
            <a:srgbClr val="FFFFFF"/>
          </a:solidFill>
          <a:ln w="6350">
            <a:solidFill>
              <a:srgbClr val="D5DCE3"/>
            </a:solidFill>
            <a:prstDash val="solid"/>
          </a:ln>
        </p:spPr>
      </p:sp>
      <p:sp>
        <p:nvSpPr>
          <p:cNvPr id="54" name="Text 42"/>
          <p:cNvSpPr txBox="1"/>
          <p:nvPr/>
        </p:nvSpPr>
        <p:spPr>
          <a:xfrm>
            <a:off x="2029968" y="4663440"/>
            <a:ext cx="229514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Tiêu thụ bất thường (AI)</a:t>
            </a:r>
            <a:endParaRPr lang="en-US" sz="850" dirty="0"/>
          </a:p>
        </p:txBody>
      </p:sp>
      <p:sp>
        <p:nvSpPr>
          <p:cNvPr id="55" name="Shape 43"/>
          <p:cNvSpPr/>
          <p:nvPr/>
        </p:nvSpPr>
        <p:spPr>
          <a:xfrm>
            <a:off x="2039112" y="4983480"/>
            <a:ext cx="109728" cy="109728"/>
          </a:xfrm>
          <a:prstGeom prst="ellipse">
            <a:avLst/>
          </a:prstGeom>
          <a:solidFill>
            <a:srgbClr val="E8833A"/>
          </a:solidFill>
          <a:ln/>
        </p:spPr>
      </p:sp>
      <p:sp>
        <p:nvSpPr>
          <p:cNvPr id="56" name="Text 44"/>
          <p:cNvSpPr txBox="1"/>
          <p:nvPr/>
        </p:nvSpPr>
        <p:spPr>
          <a:xfrm>
            <a:off x="2212848" y="4928616"/>
            <a:ext cx="2148840" cy="219456"/>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TĐ-SPA chạy 02:00–05:00</a:t>
            </a:r>
            <a:endParaRPr lang="en-US" sz="780" dirty="0"/>
          </a:p>
        </p:txBody>
      </p:sp>
      <p:sp>
        <p:nvSpPr>
          <p:cNvPr id="57" name="Text 45"/>
          <p:cNvSpPr txBox="1"/>
          <p:nvPr/>
        </p:nvSpPr>
        <p:spPr>
          <a:xfrm>
            <a:off x="2212848" y="5129784"/>
            <a:ext cx="21488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4,2 kWh (nền 0,6)</a:t>
            </a:r>
            <a:endParaRPr lang="en-US" sz="700" dirty="0"/>
          </a:p>
        </p:txBody>
      </p:sp>
      <p:sp>
        <p:nvSpPr>
          <p:cNvPr id="58" name="Shape 46"/>
          <p:cNvSpPr/>
          <p:nvPr/>
        </p:nvSpPr>
        <p:spPr>
          <a:xfrm>
            <a:off x="2039112" y="5440680"/>
            <a:ext cx="109728" cy="109728"/>
          </a:xfrm>
          <a:prstGeom prst="ellipse">
            <a:avLst/>
          </a:prstGeom>
          <a:solidFill>
            <a:srgbClr val="D9A21B"/>
          </a:solidFill>
          <a:ln/>
        </p:spPr>
      </p:sp>
      <p:sp>
        <p:nvSpPr>
          <p:cNvPr id="59" name="Text 47"/>
          <p:cNvSpPr txBox="1"/>
          <p:nvPr/>
        </p:nvSpPr>
        <p:spPr>
          <a:xfrm>
            <a:off x="2212848" y="5385816"/>
            <a:ext cx="2148840" cy="219456"/>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Lộ đèn hầm B1-04</a:t>
            </a:r>
            <a:endParaRPr lang="en-US" sz="780" dirty="0"/>
          </a:p>
        </p:txBody>
      </p:sp>
      <p:sp>
        <p:nvSpPr>
          <p:cNvPr id="60" name="Text 48"/>
          <p:cNvSpPr txBox="1"/>
          <p:nvPr/>
        </p:nvSpPr>
        <p:spPr>
          <a:xfrm>
            <a:off x="2212848" y="5586984"/>
            <a:ext cx="21488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Bật ngoài lịch 3 đêm</a:t>
            </a:r>
            <a:endParaRPr lang="en-US" sz="700" dirty="0"/>
          </a:p>
        </p:txBody>
      </p:sp>
      <p:sp>
        <p:nvSpPr>
          <p:cNvPr id="61" name="Shape 49"/>
          <p:cNvSpPr/>
          <p:nvPr/>
        </p:nvSpPr>
        <p:spPr>
          <a:xfrm>
            <a:off x="2039112" y="5897880"/>
            <a:ext cx="109728" cy="109728"/>
          </a:xfrm>
          <a:prstGeom prst="ellipse">
            <a:avLst/>
          </a:prstGeom>
          <a:solidFill>
            <a:srgbClr val="3B82C4"/>
          </a:solidFill>
          <a:ln/>
        </p:spPr>
      </p:sp>
      <p:sp>
        <p:nvSpPr>
          <p:cNvPr id="62" name="Text 50"/>
          <p:cNvSpPr txBox="1"/>
          <p:nvPr/>
        </p:nvSpPr>
        <p:spPr>
          <a:xfrm>
            <a:off x="2212848" y="5843016"/>
            <a:ext cx="2148840" cy="219456"/>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Căn 2C tăng 38%</a:t>
            </a:r>
            <a:endParaRPr lang="en-US" sz="780" dirty="0"/>
          </a:p>
        </p:txBody>
      </p:sp>
      <p:sp>
        <p:nvSpPr>
          <p:cNvPr id="63" name="Text 51"/>
          <p:cNvSpPr txBox="1"/>
          <p:nvPr/>
        </p:nvSpPr>
        <p:spPr>
          <a:xfrm>
            <a:off x="2212848" y="6044184"/>
            <a:ext cx="21488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So cùng kỳ, đã báo cư dân</a:t>
            </a:r>
            <a:endParaRPr lang="en-US" sz="700" dirty="0"/>
          </a:p>
        </p:txBody>
      </p:sp>
      <p:sp>
        <p:nvSpPr>
          <p:cNvPr id="64" name="Shape 52"/>
          <p:cNvSpPr/>
          <p:nvPr/>
        </p:nvSpPr>
        <p:spPr>
          <a:xfrm>
            <a:off x="4526280" y="4608576"/>
            <a:ext cx="2697480" cy="1728216"/>
          </a:xfrm>
          <a:prstGeom prst="roundRect">
            <a:avLst>
              <a:gd name="adj" fmla="val 3175"/>
            </a:avLst>
          </a:prstGeom>
          <a:solidFill>
            <a:srgbClr val="FFFFFF"/>
          </a:solidFill>
          <a:ln w="6350">
            <a:solidFill>
              <a:srgbClr val="D5DCE3"/>
            </a:solidFill>
            <a:prstDash val="solid"/>
          </a:ln>
        </p:spPr>
      </p:sp>
      <p:sp>
        <p:nvSpPr>
          <p:cNvPr id="65" name="Text 53"/>
          <p:cNvSpPr txBox="1"/>
          <p:nvPr/>
        </p:nvSpPr>
        <p:spPr>
          <a:xfrm>
            <a:off x="4636008" y="4663440"/>
            <a:ext cx="247802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Lưu lượng ban đêm 1–4h (m³/h)</a:t>
            </a:r>
            <a:endParaRPr lang="en-US" sz="850" dirty="0"/>
          </a:p>
        </p:txBody>
      </p:sp>
      <p:graphicFrame>
        <p:nvGraphicFramePr>
          <p:cNvPr id="66" name="Chart 2" descr=""/>
          <p:cNvGraphicFramePr/>
          <p:nvPr/>
        </p:nvGraphicFramePr>
        <p:xfrm>
          <a:off x="4572000" y="4837176"/>
          <a:ext cx="2606040" cy="1453896"/>
        </p:xfrm>
        <a:graphic xmlns:a="http://schemas.openxmlformats.org/drawingml/2006/main">
          <a:graphicData uri="http://schemas.openxmlformats.org/drawingml/2006/chart">
            <c:chart xmlns:c="http://schemas.openxmlformats.org/drawingml/2006/chart" r:id="rId11"/>
          </a:graphicData>
        </a:graphic>
      </p:graphicFrame>
      <p:sp>
        <p:nvSpPr>
          <p:cNvPr id="67" name="Shape 54"/>
          <p:cNvSpPr/>
          <p:nvPr/>
        </p:nvSpPr>
        <p:spPr>
          <a:xfrm>
            <a:off x="7315200" y="4608576"/>
            <a:ext cx="1554480" cy="1728216"/>
          </a:xfrm>
          <a:prstGeom prst="roundRect">
            <a:avLst>
              <a:gd name="adj" fmla="val 3529"/>
            </a:avLst>
          </a:prstGeom>
          <a:solidFill>
            <a:srgbClr val="FFFFFF"/>
          </a:solidFill>
          <a:ln w="6350">
            <a:solidFill>
              <a:srgbClr val="D5DCE3"/>
            </a:solidFill>
            <a:prstDash val="solid"/>
          </a:ln>
        </p:spPr>
      </p:sp>
      <p:sp>
        <p:nvSpPr>
          <p:cNvPr id="68" name="Text 55"/>
          <p:cNvSpPr txBox="1"/>
          <p:nvPr/>
        </p:nvSpPr>
        <p:spPr>
          <a:xfrm>
            <a:off x="7424928" y="4663440"/>
            <a:ext cx="133502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Cân bằng tổng – nhánh</a:t>
            </a:r>
            <a:endParaRPr lang="en-US" sz="850" dirty="0"/>
          </a:p>
        </p:txBody>
      </p:sp>
      <p:sp>
        <p:nvSpPr>
          <p:cNvPr id="69" name="Text 56"/>
          <p:cNvSpPr txBox="1"/>
          <p:nvPr/>
        </p:nvSpPr>
        <p:spPr>
          <a:xfrm>
            <a:off x="7424928" y="4928616"/>
            <a:ext cx="1097280" cy="18288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Đồng hồ tổng</a:t>
            </a:r>
            <a:endParaRPr lang="en-US" sz="750" dirty="0"/>
          </a:p>
        </p:txBody>
      </p:sp>
      <p:sp>
        <p:nvSpPr>
          <p:cNvPr id="70" name="Text 57"/>
          <p:cNvSpPr txBox="1"/>
          <p:nvPr/>
        </p:nvSpPr>
        <p:spPr>
          <a:xfrm>
            <a:off x="7424928" y="5084064"/>
            <a:ext cx="1097280" cy="274320"/>
          </a:xfrm>
          <a:prstGeom prst="rect">
            <a:avLst/>
          </a:prstGeom>
          <a:noFill/>
          <a:ln/>
        </p:spPr>
        <p:txBody>
          <a:bodyPr wrap="square" lIns="0" tIns="0" rIns="0" bIns="0" rtlCol="0" anchor="ctr"/>
          <a:lstStyle/>
          <a:p>
            <a:pPr algn="l" indent="0" marL="0">
              <a:buNone/>
            </a:pPr>
            <a:r>
              <a:rPr lang="en-US" sz="1200" b="1" dirty="0">
                <a:solidFill>
                  <a:srgbClr val="1A2330"/>
                </a:solidFill>
                <a:latin typeface="Arial" pitchFamily="34" charset="0"/>
                <a:ea typeface="Arial" pitchFamily="34" charset="-122"/>
                <a:cs typeface="Arial" pitchFamily="34" charset="-120"/>
              </a:rPr>
              <a:t>41,2 m³</a:t>
            </a:r>
            <a:endParaRPr lang="en-US" sz="1200" dirty="0"/>
          </a:p>
        </p:txBody>
      </p:sp>
      <p:sp>
        <p:nvSpPr>
          <p:cNvPr id="71" name="Text 58"/>
          <p:cNvSpPr txBox="1"/>
          <p:nvPr/>
        </p:nvSpPr>
        <p:spPr>
          <a:xfrm>
            <a:off x="7424928" y="5385816"/>
            <a:ext cx="1097280" cy="182880"/>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Tổng nhánh</a:t>
            </a:r>
            <a:endParaRPr lang="en-US" sz="750" dirty="0"/>
          </a:p>
        </p:txBody>
      </p:sp>
      <p:sp>
        <p:nvSpPr>
          <p:cNvPr id="72" name="Text 59"/>
          <p:cNvSpPr txBox="1"/>
          <p:nvPr/>
        </p:nvSpPr>
        <p:spPr>
          <a:xfrm>
            <a:off x="7424928" y="5541264"/>
            <a:ext cx="1097280" cy="274320"/>
          </a:xfrm>
          <a:prstGeom prst="rect">
            <a:avLst/>
          </a:prstGeom>
          <a:noFill/>
          <a:ln/>
        </p:spPr>
        <p:txBody>
          <a:bodyPr wrap="square" lIns="0" tIns="0" rIns="0" bIns="0" rtlCol="0" anchor="ctr"/>
          <a:lstStyle/>
          <a:p>
            <a:pPr algn="l" indent="0" marL="0">
              <a:buNone/>
            </a:pPr>
            <a:r>
              <a:rPr lang="en-US" sz="1200" b="1" dirty="0">
                <a:solidFill>
                  <a:srgbClr val="1A2330"/>
                </a:solidFill>
                <a:latin typeface="Arial" pitchFamily="34" charset="0"/>
                <a:ea typeface="Arial" pitchFamily="34" charset="-122"/>
                <a:cs typeface="Arial" pitchFamily="34" charset="-120"/>
              </a:rPr>
              <a:t>38,9 m³</a:t>
            </a:r>
            <a:endParaRPr lang="en-US" sz="1200" dirty="0"/>
          </a:p>
        </p:txBody>
      </p:sp>
      <p:sp>
        <p:nvSpPr>
          <p:cNvPr id="73" name="Shape 60"/>
          <p:cNvSpPr/>
          <p:nvPr/>
        </p:nvSpPr>
        <p:spPr>
          <a:xfrm>
            <a:off x="7424928" y="5907024"/>
            <a:ext cx="1335024" cy="237744"/>
          </a:xfrm>
          <a:prstGeom prst="roundRect">
            <a:avLst>
              <a:gd name="adj" fmla="val 38462"/>
            </a:avLst>
          </a:prstGeom>
          <a:solidFill>
            <a:srgbClr val="E8833A"/>
          </a:solidFill>
          <a:ln/>
        </p:spPr>
      </p:sp>
      <p:sp>
        <p:nvSpPr>
          <p:cNvPr id="74" name="Text 61"/>
          <p:cNvSpPr txBox="1"/>
          <p:nvPr/>
        </p:nvSpPr>
        <p:spPr>
          <a:xfrm>
            <a:off x="7424928" y="5907024"/>
            <a:ext cx="133502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Lệch 5,6% ▲</a:t>
            </a:r>
            <a:endParaRPr lang="en-US" sz="800" dirty="0"/>
          </a:p>
        </p:txBody>
      </p:sp>
      <p:sp>
        <p:nvSpPr>
          <p:cNvPr id="75" name="Shape 62"/>
          <p:cNvSpPr/>
          <p:nvPr/>
        </p:nvSpPr>
        <p:spPr>
          <a:xfrm>
            <a:off x="6126480" y="2322576"/>
            <a:ext cx="274320" cy="274320"/>
          </a:xfrm>
          <a:prstGeom prst="ellipse">
            <a:avLst/>
          </a:prstGeom>
          <a:solidFill>
            <a:srgbClr val="E8833A"/>
          </a:solidFill>
          <a:ln w="19050">
            <a:solidFill>
              <a:srgbClr val="FFFFFF"/>
            </a:solidFill>
            <a:prstDash val="solid"/>
          </a:ln>
        </p:spPr>
      </p:sp>
      <p:sp>
        <p:nvSpPr>
          <p:cNvPr id="76" name="Text 63"/>
          <p:cNvSpPr txBox="1"/>
          <p:nvPr/>
        </p:nvSpPr>
        <p:spPr>
          <a:xfrm>
            <a:off x="6126480" y="2322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7" name="Shape 64"/>
          <p:cNvSpPr/>
          <p:nvPr/>
        </p:nvSpPr>
        <p:spPr>
          <a:xfrm>
            <a:off x="4160520" y="4471416"/>
            <a:ext cx="274320" cy="274320"/>
          </a:xfrm>
          <a:prstGeom prst="ellipse">
            <a:avLst/>
          </a:prstGeom>
          <a:solidFill>
            <a:srgbClr val="E8833A"/>
          </a:solidFill>
          <a:ln w="19050">
            <a:solidFill>
              <a:srgbClr val="FFFFFF"/>
            </a:solidFill>
            <a:prstDash val="solid"/>
          </a:ln>
        </p:spPr>
      </p:sp>
      <p:sp>
        <p:nvSpPr>
          <p:cNvPr id="78" name="Text 65"/>
          <p:cNvSpPr txBox="1"/>
          <p:nvPr/>
        </p:nvSpPr>
        <p:spPr>
          <a:xfrm>
            <a:off x="4160520" y="44714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79" name="Shape 66"/>
          <p:cNvSpPr/>
          <p:nvPr/>
        </p:nvSpPr>
        <p:spPr>
          <a:xfrm>
            <a:off x="6949440" y="4471416"/>
            <a:ext cx="274320" cy="274320"/>
          </a:xfrm>
          <a:prstGeom prst="ellipse">
            <a:avLst/>
          </a:prstGeom>
          <a:solidFill>
            <a:srgbClr val="E8833A"/>
          </a:solidFill>
          <a:ln w="19050">
            <a:solidFill>
              <a:srgbClr val="FFFFFF"/>
            </a:solidFill>
            <a:prstDash val="solid"/>
          </a:ln>
        </p:spPr>
      </p:sp>
      <p:sp>
        <p:nvSpPr>
          <p:cNvPr id="80" name="Text 67"/>
          <p:cNvSpPr txBox="1"/>
          <p:nvPr/>
        </p:nvSpPr>
        <p:spPr>
          <a:xfrm>
            <a:off x="6949440" y="44714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81" name="Shape 68"/>
          <p:cNvSpPr/>
          <p:nvPr/>
        </p:nvSpPr>
        <p:spPr>
          <a:xfrm>
            <a:off x="8595360" y="4471416"/>
            <a:ext cx="274320" cy="274320"/>
          </a:xfrm>
          <a:prstGeom prst="ellipse">
            <a:avLst/>
          </a:prstGeom>
          <a:solidFill>
            <a:srgbClr val="E8833A"/>
          </a:solidFill>
          <a:ln w="19050">
            <a:solidFill>
              <a:srgbClr val="FFFFFF"/>
            </a:solidFill>
            <a:prstDash val="solid"/>
          </a:ln>
        </p:spPr>
      </p:sp>
      <p:sp>
        <p:nvSpPr>
          <p:cNvPr id="82" name="Text 69"/>
          <p:cNvSpPr txBox="1"/>
          <p:nvPr/>
        </p:nvSpPr>
        <p:spPr>
          <a:xfrm>
            <a:off x="8595360" y="44714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83" name="Shape 70"/>
          <p:cNvSpPr/>
          <p:nvPr/>
        </p:nvSpPr>
        <p:spPr>
          <a:xfrm>
            <a:off x="9189720" y="1325880"/>
            <a:ext cx="2560320" cy="5120640"/>
          </a:xfrm>
          <a:prstGeom prst="roundRect">
            <a:avLst>
              <a:gd name="adj" fmla="val 1786"/>
            </a:avLst>
          </a:prstGeom>
          <a:solidFill>
            <a:srgbClr val="E8F3F2"/>
          </a:solidFill>
          <a:ln/>
        </p:spPr>
      </p:sp>
      <p:sp>
        <p:nvSpPr>
          <p:cNvPr id="84" name="Text 71"/>
          <p:cNvSpPr txBox="1"/>
          <p:nvPr/>
        </p:nvSpPr>
        <p:spPr>
          <a:xfrm>
            <a:off x="9372600" y="1435608"/>
            <a:ext cx="219456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85" name="Shape 72"/>
          <p:cNvSpPr/>
          <p:nvPr/>
        </p:nvSpPr>
        <p:spPr>
          <a:xfrm>
            <a:off x="9372600" y="1892808"/>
            <a:ext cx="274320" cy="274320"/>
          </a:xfrm>
          <a:prstGeom prst="ellipse">
            <a:avLst/>
          </a:prstGeom>
          <a:solidFill>
            <a:srgbClr val="E8833A"/>
          </a:solidFill>
          <a:ln w="19050">
            <a:solidFill>
              <a:srgbClr val="FFFFFF"/>
            </a:solidFill>
            <a:prstDash val="solid"/>
          </a:ln>
        </p:spPr>
      </p:sp>
      <p:sp>
        <p:nvSpPr>
          <p:cNvPr id="86" name="Text 73"/>
          <p:cNvSpPr txBox="1"/>
          <p:nvPr/>
        </p:nvSpPr>
        <p:spPr>
          <a:xfrm>
            <a:off x="937260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7" name="Text 74"/>
          <p:cNvSpPr txBox="1"/>
          <p:nvPr/>
        </p:nvSpPr>
        <p:spPr>
          <a:xfrm>
            <a:off x="9738360" y="187452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Dự báo làm đường chuẩn</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Đường xám là mức AI kỳ vọng; khoảng cách với thực tế mới là thông tin</a:t>
            </a:r>
            <a:endParaRPr lang="en-US" sz="1050" dirty="0"/>
          </a:p>
        </p:txBody>
      </p:sp>
      <p:sp>
        <p:nvSpPr>
          <p:cNvPr id="88" name="Shape 75"/>
          <p:cNvSpPr/>
          <p:nvPr/>
        </p:nvSpPr>
        <p:spPr>
          <a:xfrm>
            <a:off x="9372600" y="3012948"/>
            <a:ext cx="274320" cy="274320"/>
          </a:xfrm>
          <a:prstGeom prst="ellipse">
            <a:avLst/>
          </a:prstGeom>
          <a:solidFill>
            <a:srgbClr val="E8833A"/>
          </a:solidFill>
          <a:ln w="19050">
            <a:solidFill>
              <a:srgbClr val="FFFFFF"/>
            </a:solidFill>
            <a:prstDash val="solid"/>
          </a:ln>
        </p:spPr>
      </p:sp>
      <p:sp>
        <p:nvSpPr>
          <p:cNvPr id="89" name="Text 76"/>
          <p:cNvSpPr txBox="1"/>
          <p:nvPr/>
        </p:nvSpPr>
        <p:spPr>
          <a:xfrm>
            <a:off x="9372600" y="3012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90" name="Text 77"/>
          <p:cNvSpPr txBox="1"/>
          <p:nvPr/>
        </p:nvSpPr>
        <p:spPr>
          <a:xfrm>
            <a:off x="9738360" y="299466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Bất thường nói bằng lời</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“Chạy ngoài giờ”, “tăng 38%” dễ hiểu hơn một biểu đồ cần tự đọc</a:t>
            </a:r>
            <a:endParaRPr lang="en-US" sz="1050" dirty="0"/>
          </a:p>
        </p:txBody>
      </p:sp>
      <p:sp>
        <p:nvSpPr>
          <p:cNvPr id="91" name="Shape 78"/>
          <p:cNvSpPr/>
          <p:nvPr/>
        </p:nvSpPr>
        <p:spPr>
          <a:xfrm>
            <a:off x="9372600" y="4133088"/>
            <a:ext cx="274320" cy="274320"/>
          </a:xfrm>
          <a:prstGeom prst="ellipse">
            <a:avLst/>
          </a:prstGeom>
          <a:solidFill>
            <a:srgbClr val="E8833A"/>
          </a:solidFill>
          <a:ln w="19050">
            <a:solidFill>
              <a:srgbClr val="FFFFFF"/>
            </a:solidFill>
            <a:prstDash val="solid"/>
          </a:ln>
        </p:spPr>
      </p:sp>
      <p:sp>
        <p:nvSpPr>
          <p:cNvPr id="92" name="Text 79"/>
          <p:cNvSpPr txBox="1"/>
          <p:nvPr/>
        </p:nvSpPr>
        <p:spPr>
          <a:xfrm>
            <a:off x="937260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93" name="Text 80"/>
          <p:cNvSpPr txBox="1"/>
          <p:nvPr/>
        </p:nvSpPr>
        <p:spPr>
          <a:xfrm>
            <a:off x="9738360" y="411480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Tô màu một cột duy nhất</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Tầng 3 nổi bật giữa nền xám: thấy ngay chỗ rò lúc ban đêm</a:t>
            </a:r>
            <a:endParaRPr lang="en-US" sz="1050" dirty="0"/>
          </a:p>
        </p:txBody>
      </p:sp>
      <p:sp>
        <p:nvSpPr>
          <p:cNvPr id="94" name="Shape 81"/>
          <p:cNvSpPr/>
          <p:nvPr/>
        </p:nvSpPr>
        <p:spPr>
          <a:xfrm>
            <a:off x="9372600" y="5253228"/>
            <a:ext cx="274320" cy="274320"/>
          </a:xfrm>
          <a:prstGeom prst="ellipse">
            <a:avLst/>
          </a:prstGeom>
          <a:solidFill>
            <a:srgbClr val="E8833A"/>
          </a:solidFill>
          <a:ln w="19050">
            <a:solidFill>
              <a:srgbClr val="FFFFFF"/>
            </a:solidFill>
            <a:prstDash val="solid"/>
          </a:ln>
        </p:spPr>
      </p:sp>
      <p:sp>
        <p:nvSpPr>
          <p:cNvPr id="95" name="Text 82"/>
          <p:cNvSpPr txBox="1"/>
          <p:nvPr/>
        </p:nvSpPr>
        <p:spPr>
          <a:xfrm>
            <a:off x="9372600" y="52532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96" name="Text 83"/>
          <p:cNvSpPr txBox="1"/>
          <p:nvPr/>
        </p:nvSpPr>
        <p:spPr>
          <a:xfrm>
            <a:off x="9738360" y="523494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Khoanh vùng thất thoát</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Lệch tổng – nhánh vượt ngưỡng thì gợi ý kiểm tra đoạn ống</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Thiết bị và bảo trì dự đoán: sửa trước khi hỏng</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kỹ thuật, BQL · Dữ liệu: trạng thái, giờ chạy, số lần khởi động, dòng điện, biến tần</a:t>
            </a:r>
            <a:endParaRPr lang="en-US" sz="1300" dirty="0"/>
          </a:p>
        </p:txBody>
      </p:sp>
      <p:sp>
        <p:nvSpPr>
          <p:cNvPr id="4" name="Shape 2"/>
          <p:cNvSpPr/>
          <p:nvPr/>
        </p:nvSpPr>
        <p:spPr>
          <a:xfrm>
            <a:off x="457200" y="1325880"/>
            <a:ext cx="8549640" cy="5120640"/>
          </a:xfrm>
          <a:prstGeom prst="roundRect">
            <a:avLst>
              <a:gd name="adj" fmla="val 714"/>
            </a:avLst>
          </a:prstGeom>
          <a:solidFill>
            <a:srgbClr val="FFFFFF"/>
          </a:solidFill>
          <a:ln w="9525">
            <a:solidFill>
              <a:srgbClr val="B9C3CC"/>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457200" y="1325880"/>
            <a:ext cx="8549640" cy="274320"/>
          </a:xfrm>
          <a:prstGeom prst="roundRect">
            <a:avLst>
              <a:gd name="adj" fmla="val 13333"/>
            </a:avLst>
          </a:prstGeom>
          <a:solidFill>
            <a:srgbClr val="E9EDF1"/>
          </a:solidFill>
          <a:ln/>
        </p:spPr>
      </p:sp>
      <p:sp>
        <p:nvSpPr>
          <p:cNvPr id="6" name="Shape 4"/>
          <p:cNvSpPr/>
          <p:nvPr/>
        </p:nvSpPr>
        <p:spPr>
          <a:xfrm>
            <a:off x="457200" y="1463040"/>
            <a:ext cx="8549640" cy="137160"/>
          </a:xfrm>
          <a:prstGeom prst="rect">
            <a:avLst/>
          </a:prstGeom>
          <a:solidFill>
            <a:srgbClr val="E9EDF1"/>
          </a:solidFill>
          <a:ln/>
        </p:spPr>
      </p:sp>
      <p:sp>
        <p:nvSpPr>
          <p:cNvPr id="7" name="Shape 5"/>
          <p:cNvSpPr/>
          <p:nvPr/>
        </p:nvSpPr>
        <p:spPr>
          <a:xfrm>
            <a:off x="566928" y="1408176"/>
            <a:ext cx="100584" cy="100584"/>
          </a:xfrm>
          <a:prstGeom prst="ellipse">
            <a:avLst/>
          </a:prstGeom>
          <a:solidFill>
            <a:srgbClr val="E0605A"/>
          </a:solidFill>
          <a:ln/>
        </p:spPr>
      </p:sp>
      <p:sp>
        <p:nvSpPr>
          <p:cNvPr id="8" name="Shape 6"/>
          <p:cNvSpPr/>
          <p:nvPr/>
        </p:nvSpPr>
        <p:spPr>
          <a:xfrm>
            <a:off x="713232" y="1408176"/>
            <a:ext cx="100584" cy="100584"/>
          </a:xfrm>
          <a:prstGeom prst="ellipse">
            <a:avLst/>
          </a:prstGeom>
          <a:solidFill>
            <a:srgbClr val="E8B341"/>
          </a:solidFill>
          <a:ln/>
        </p:spPr>
      </p:sp>
      <p:sp>
        <p:nvSpPr>
          <p:cNvPr id="9" name="Shape 7"/>
          <p:cNvSpPr/>
          <p:nvPr/>
        </p:nvSpPr>
        <p:spPr>
          <a:xfrm>
            <a:off x="859536" y="1408176"/>
            <a:ext cx="100584" cy="100584"/>
          </a:xfrm>
          <a:prstGeom prst="ellipse">
            <a:avLst/>
          </a:prstGeom>
          <a:solidFill>
            <a:srgbClr val="5DB85C"/>
          </a:solidFill>
          <a:ln/>
        </p:spPr>
      </p:sp>
      <p:sp>
        <p:nvSpPr>
          <p:cNvPr id="10" name="Shape 8"/>
          <p:cNvSpPr/>
          <p:nvPr/>
        </p:nvSpPr>
        <p:spPr>
          <a:xfrm>
            <a:off x="1143000" y="1380744"/>
            <a:ext cx="7635240" cy="173736"/>
          </a:xfrm>
          <a:prstGeom prst="roundRect">
            <a:avLst>
              <a:gd name="adj" fmla="val 42105"/>
            </a:avLst>
          </a:prstGeom>
          <a:solidFill>
            <a:srgbClr val="FFFFFF"/>
          </a:solidFill>
          <a:ln/>
        </p:spPr>
      </p:sp>
      <p:sp>
        <p:nvSpPr>
          <p:cNvPr id="11" name="Text 9"/>
          <p:cNvSpPr txBox="1"/>
          <p:nvPr/>
        </p:nvSpPr>
        <p:spPr>
          <a:xfrm>
            <a:off x="1234440" y="1380744"/>
            <a:ext cx="7452360" cy="173736"/>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ops.tnv-building.vn/thiet-bi</a:t>
            </a:r>
            <a:endParaRPr lang="en-US" sz="700" dirty="0"/>
          </a:p>
        </p:txBody>
      </p:sp>
      <p:sp>
        <p:nvSpPr>
          <p:cNvPr id="12" name="Shape 10"/>
          <p:cNvSpPr/>
          <p:nvPr/>
        </p:nvSpPr>
        <p:spPr>
          <a:xfrm>
            <a:off x="457200" y="1600200"/>
            <a:ext cx="1325880" cy="4846320"/>
          </a:xfrm>
          <a:prstGeom prst="rect">
            <a:avLst/>
          </a:prstGeom>
          <a:solidFill>
            <a:srgbClr val="12324A"/>
          </a:solidFill>
          <a:ln/>
        </p:spPr>
      </p:sp>
      <p:sp>
        <p:nvSpPr>
          <p:cNvPr id="13" name="Text 11"/>
          <p:cNvSpPr txBox="1"/>
          <p:nvPr/>
        </p:nvSpPr>
        <p:spPr>
          <a:xfrm>
            <a:off x="594360" y="1691640"/>
            <a:ext cx="1143000" cy="27432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TNV · Smart Ops</a:t>
            </a:r>
            <a:endParaRPr lang="en-US" sz="850" dirty="0"/>
          </a:p>
        </p:txBody>
      </p:sp>
      <p:pic>
        <p:nvPicPr>
          <p:cNvPr id="14" name="Image 0" descr="preencoded.png">    </p:cNvPr>
          <p:cNvPicPr>
            <a:picLocks noChangeAspect="1"/>
          </p:cNvPicPr>
          <p:nvPr/>
        </p:nvPicPr>
        <p:blipFill>
          <a:blip r:embed="rId1"/>
          <a:stretch>
            <a:fillRect/>
          </a:stretch>
        </p:blipFill>
        <p:spPr>
          <a:xfrm>
            <a:off x="603504" y="2130552"/>
            <a:ext cx="146304" cy="146304"/>
          </a:xfrm>
          <a:prstGeom prst="rect">
            <a:avLst/>
          </a:prstGeom>
        </p:spPr>
      </p:pic>
      <p:sp>
        <p:nvSpPr>
          <p:cNvPr id="15" name="Text 12"/>
          <p:cNvSpPr txBox="1"/>
          <p:nvPr/>
        </p:nvSpPr>
        <p:spPr>
          <a:xfrm>
            <a:off x="822960" y="207568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Tổng quan</a:t>
            </a:r>
            <a:endParaRPr lang="en-US" sz="750" dirty="0"/>
          </a:p>
        </p:txBody>
      </p:sp>
      <p:pic>
        <p:nvPicPr>
          <p:cNvPr id="16" name="Image 1" descr="preencoded.png">    </p:cNvPr>
          <p:cNvPicPr>
            <a:picLocks noChangeAspect="1"/>
          </p:cNvPicPr>
          <p:nvPr/>
        </p:nvPicPr>
        <p:blipFill>
          <a:blip r:embed="rId2"/>
          <a:stretch>
            <a:fillRect/>
          </a:stretch>
        </p:blipFill>
        <p:spPr>
          <a:xfrm>
            <a:off x="603504" y="2459736"/>
            <a:ext cx="146304" cy="146304"/>
          </a:xfrm>
          <a:prstGeom prst="rect">
            <a:avLst/>
          </a:prstGeom>
        </p:spPr>
      </p:pic>
      <p:sp>
        <p:nvSpPr>
          <p:cNvPr id="17" name="Text 13"/>
          <p:cNvSpPr txBox="1"/>
          <p:nvPr/>
        </p:nvSpPr>
        <p:spPr>
          <a:xfrm>
            <a:off x="822960" y="240487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Cảnh báo</a:t>
            </a:r>
            <a:endParaRPr lang="en-US" sz="750" dirty="0"/>
          </a:p>
        </p:txBody>
      </p:sp>
      <p:pic>
        <p:nvPicPr>
          <p:cNvPr id="18" name="Image 2" descr="preencoded.png">    </p:cNvPr>
          <p:cNvPicPr>
            <a:picLocks noChangeAspect="1"/>
          </p:cNvPicPr>
          <p:nvPr/>
        </p:nvPicPr>
        <p:blipFill>
          <a:blip r:embed="rId3"/>
          <a:stretch>
            <a:fillRect/>
          </a:stretch>
        </p:blipFill>
        <p:spPr>
          <a:xfrm>
            <a:off x="603504" y="2788920"/>
            <a:ext cx="146304" cy="146304"/>
          </a:xfrm>
          <a:prstGeom prst="rect">
            <a:avLst/>
          </a:prstGeom>
        </p:spPr>
      </p:pic>
      <p:sp>
        <p:nvSpPr>
          <p:cNvPr id="19" name="Text 14"/>
          <p:cNvSpPr txBox="1"/>
          <p:nvPr/>
        </p:nvSpPr>
        <p:spPr>
          <a:xfrm>
            <a:off x="822960" y="273405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Điện &amp; nước</a:t>
            </a:r>
            <a:endParaRPr lang="en-US" sz="750" dirty="0"/>
          </a:p>
        </p:txBody>
      </p:sp>
      <p:sp>
        <p:nvSpPr>
          <p:cNvPr id="20" name="Shape 15"/>
          <p:cNvSpPr/>
          <p:nvPr/>
        </p:nvSpPr>
        <p:spPr>
          <a:xfrm>
            <a:off x="521208" y="3054096"/>
            <a:ext cx="1197864" cy="274320"/>
          </a:xfrm>
          <a:prstGeom prst="roundRect">
            <a:avLst>
              <a:gd name="adj" fmla="val 26667"/>
            </a:avLst>
          </a:prstGeom>
          <a:solidFill>
            <a:srgbClr val="1B7F79"/>
          </a:solidFill>
          <a:ln/>
        </p:spPr>
      </p:sp>
      <p:pic>
        <p:nvPicPr>
          <p:cNvPr id="21" name="Image 3" descr="preencoded.png">    </p:cNvPr>
          <p:cNvPicPr>
            <a:picLocks noChangeAspect="1"/>
          </p:cNvPicPr>
          <p:nvPr/>
        </p:nvPicPr>
        <p:blipFill>
          <a:blip r:embed="rId4"/>
          <a:stretch>
            <a:fillRect/>
          </a:stretch>
        </p:blipFill>
        <p:spPr>
          <a:xfrm>
            <a:off x="603504" y="3118104"/>
            <a:ext cx="146304" cy="146304"/>
          </a:xfrm>
          <a:prstGeom prst="rect">
            <a:avLst/>
          </a:prstGeom>
        </p:spPr>
      </p:pic>
      <p:sp>
        <p:nvSpPr>
          <p:cNvPr id="22" name="Text 16"/>
          <p:cNvSpPr txBox="1"/>
          <p:nvPr/>
        </p:nvSpPr>
        <p:spPr>
          <a:xfrm>
            <a:off x="822960" y="3063240"/>
            <a:ext cx="914400" cy="256032"/>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Thiết bị</a:t>
            </a:r>
            <a:endParaRPr lang="en-US" sz="750" dirty="0"/>
          </a:p>
        </p:txBody>
      </p:sp>
      <p:pic>
        <p:nvPicPr>
          <p:cNvPr id="23" name="Image 4" descr="preencoded.png">    </p:cNvPr>
          <p:cNvPicPr>
            <a:picLocks noChangeAspect="1"/>
          </p:cNvPicPr>
          <p:nvPr/>
        </p:nvPicPr>
        <p:blipFill>
          <a:blip r:embed="rId5"/>
          <a:stretch>
            <a:fillRect/>
          </a:stretch>
        </p:blipFill>
        <p:spPr>
          <a:xfrm>
            <a:off x="603504" y="3447288"/>
            <a:ext cx="146304" cy="146304"/>
          </a:xfrm>
          <a:prstGeom prst="rect">
            <a:avLst/>
          </a:prstGeom>
        </p:spPr>
      </p:pic>
      <p:sp>
        <p:nvSpPr>
          <p:cNvPr id="24" name="Text 17"/>
          <p:cNvSpPr txBox="1"/>
          <p:nvPr/>
        </p:nvSpPr>
        <p:spPr>
          <a:xfrm>
            <a:off x="822960" y="3392424"/>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An ninh &amp; vào ra</a:t>
            </a:r>
            <a:endParaRPr lang="en-US" sz="750" dirty="0"/>
          </a:p>
        </p:txBody>
      </p:sp>
      <p:pic>
        <p:nvPicPr>
          <p:cNvPr id="25" name="Image 5" descr="preencoded.png">    </p:cNvPr>
          <p:cNvPicPr>
            <a:picLocks noChangeAspect="1"/>
          </p:cNvPicPr>
          <p:nvPr/>
        </p:nvPicPr>
        <p:blipFill>
          <a:blip r:embed="rId6"/>
          <a:stretch>
            <a:fillRect/>
          </a:stretch>
        </p:blipFill>
        <p:spPr>
          <a:xfrm>
            <a:off x="603504" y="3776472"/>
            <a:ext cx="146304" cy="146304"/>
          </a:xfrm>
          <a:prstGeom prst="rect">
            <a:avLst/>
          </a:prstGeom>
        </p:spPr>
      </p:pic>
      <p:sp>
        <p:nvSpPr>
          <p:cNvPr id="26" name="Text 18"/>
          <p:cNvSpPr txBox="1"/>
          <p:nvPr/>
        </p:nvSpPr>
        <p:spPr>
          <a:xfrm>
            <a:off x="822960" y="372160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Trợ lý AI</a:t>
            </a:r>
            <a:endParaRPr lang="en-US" sz="750" dirty="0"/>
          </a:p>
        </p:txBody>
      </p:sp>
      <p:pic>
        <p:nvPicPr>
          <p:cNvPr id="27" name="Image 6" descr="preencoded.png">    </p:cNvPr>
          <p:cNvPicPr>
            <a:picLocks noChangeAspect="1"/>
          </p:cNvPicPr>
          <p:nvPr/>
        </p:nvPicPr>
        <p:blipFill>
          <a:blip r:embed="rId7"/>
          <a:stretch>
            <a:fillRect/>
          </a:stretch>
        </p:blipFill>
        <p:spPr>
          <a:xfrm>
            <a:off x="603504" y="4105656"/>
            <a:ext cx="146304" cy="146304"/>
          </a:xfrm>
          <a:prstGeom prst="rect">
            <a:avLst/>
          </a:prstGeom>
        </p:spPr>
      </p:pic>
      <p:sp>
        <p:nvSpPr>
          <p:cNvPr id="28" name="Text 19"/>
          <p:cNvSpPr txBox="1"/>
          <p:nvPr/>
        </p:nvSpPr>
        <p:spPr>
          <a:xfrm>
            <a:off x="822960" y="405079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Báo cáo</a:t>
            </a:r>
            <a:endParaRPr lang="en-US" sz="750" dirty="0"/>
          </a:p>
        </p:txBody>
      </p:sp>
      <p:pic>
        <p:nvPicPr>
          <p:cNvPr id="29" name="Image 7" descr="preencoded.png">    </p:cNvPr>
          <p:cNvPicPr>
            <a:picLocks noChangeAspect="1"/>
          </p:cNvPicPr>
          <p:nvPr/>
        </p:nvPicPr>
        <p:blipFill>
          <a:blip r:embed="rId8"/>
          <a:stretch>
            <a:fillRect/>
          </a:stretch>
        </p:blipFill>
        <p:spPr>
          <a:xfrm>
            <a:off x="603504" y="4434840"/>
            <a:ext cx="146304" cy="146304"/>
          </a:xfrm>
          <a:prstGeom prst="rect">
            <a:avLst/>
          </a:prstGeom>
        </p:spPr>
      </p:pic>
      <p:sp>
        <p:nvSpPr>
          <p:cNvPr id="30" name="Text 20"/>
          <p:cNvSpPr txBox="1"/>
          <p:nvPr/>
        </p:nvSpPr>
        <p:spPr>
          <a:xfrm>
            <a:off x="822960" y="437997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Cấu hình</a:t>
            </a:r>
            <a:endParaRPr lang="en-US" sz="750" dirty="0"/>
          </a:p>
        </p:txBody>
      </p:sp>
      <p:sp>
        <p:nvSpPr>
          <p:cNvPr id="31" name="Text 21"/>
          <p:cNvSpPr txBox="1"/>
          <p:nvPr/>
        </p:nvSpPr>
        <p:spPr>
          <a:xfrm>
            <a:off x="548640" y="6080760"/>
            <a:ext cx="1143000" cy="274320"/>
          </a:xfrm>
          <a:prstGeom prst="rect">
            <a:avLst/>
          </a:prstGeom>
          <a:noFill/>
          <a:ln/>
        </p:spPr>
        <p:txBody>
          <a:bodyPr wrap="square" lIns="0" tIns="0" rIns="0" bIns="0" rtlCol="0" anchor="ctr"/>
          <a:lstStyle/>
          <a:p>
            <a:pPr algn="l" indent="0" marL="0">
              <a:buNone/>
            </a:pPr>
            <a:r>
              <a:rPr lang="en-US" sz="600" dirty="0">
                <a:solidFill>
                  <a:srgbClr val="8FA6B8"/>
                </a:solidFill>
                <a:latin typeface="Arial" pitchFamily="34" charset="0"/>
                <a:ea typeface="Arial" pitchFamily="34" charset="-122"/>
                <a:cs typeface="Arial" pitchFamily="34" charset="-120"/>
              </a:rPr>
              <a:t>Claude · Gemini qua cổng AI Gimasys</a:t>
            </a:r>
            <a:endParaRPr lang="en-US" sz="600" dirty="0"/>
          </a:p>
        </p:txBody>
      </p:sp>
      <p:sp>
        <p:nvSpPr>
          <p:cNvPr id="32" name="Shape 22"/>
          <p:cNvSpPr/>
          <p:nvPr/>
        </p:nvSpPr>
        <p:spPr>
          <a:xfrm>
            <a:off x="1783080" y="1600200"/>
            <a:ext cx="7223760" cy="411480"/>
          </a:xfrm>
          <a:prstGeom prst="rect">
            <a:avLst/>
          </a:prstGeom>
          <a:solidFill>
            <a:srgbClr val="FFFFFF"/>
          </a:solidFill>
          <a:ln/>
        </p:spPr>
      </p:sp>
      <p:sp>
        <p:nvSpPr>
          <p:cNvPr id="33" name="Shape 23"/>
          <p:cNvSpPr/>
          <p:nvPr/>
        </p:nvSpPr>
        <p:spPr>
          <a:xfrm>
            <a:off x="1783080" y="2011680"/>
            <a:ext cx="7223760" cy="0"/>
          </a:xfrm>
          <a:prstGeom prst="line">
            <a:avLst/>
          </a:prstGeom>
          <a:noFill/>
          <a:ln w="9525">
            <a:solidFill>
              <a:srgbClr val="E4E8EC"/>
            </a:solidFill>
            <a:prstDash val="solid"/>
          </a:ln>
        </p:spPr>
      </p:sp>
      <p:sp>
        <p:nvSpPr>
          <p:cNvPr id="34" name="Text 24"/>
          <p:cNvSpPr txBox="1"/>
          <p:nvPr/>
        </p:nvSpPr>
        <p:spPr>
          <a:xfrm>
            <a:off x="1947672" y="1600200"/>
            <a:ext cx="3657600" cy="411480"/>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Thiết bị &amp; bảo trì</a:t>
            </a:r>
            <a:endParaRPr lang="en-US" sz="1100" dirty="0"/>
          </a:p>
        </p:txBody>
      </p:sp>
      <p:sp>
        <p:nvSpPr>
          <p:cNvPr id="35" name="Text 25"/>
          <p:cNvSpPr txBox="1"/>
          <p:nvPr/>
        </p:nvSpPr>
        <p:spPr>
          <a:xfrm>
            <a:off x="5074920" y="1600200"/>
            <a:ext cx="3337560" cy="411480"/>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Tầng: Hầm B2 ▾</a:t>
            </a:r>
            <a:endParaRPr lang="en-US" sz="750" dirty="0"/>
          </a:p>
        </p:txBody>
      </p:sp>
      <p:sp>
        <p:nvSpPr>
          <p:cNvPr id="36" name="Shape 26"/>
          <p:cNvSpPr/>
          <p:nvPr/>
        </p:nvSpPr>
        <p:spPr>
          <a:xfrm>
            <a:off x="8549640" y="1682496"/>
            <a:ext cx="246888" cy="246888"/>
          </a:xfrm>
          <a:prstGeom prst="ellipse">
            <a:avLst/>
          </a:prstGeom>
          <a:solidFill>
            <a:srgbClr val="1B7F79"/>
          </a:solidFill>
          <a:ln/>
        </p:spPr>
      </p:sp>
      <p:sp>
        <p:nvSpPr>
          <p:cNvPr id="37" name="Text 27"/>
          <p:cNvSpPr txBox="1"/>
          <p:nvPr/>
        </p:nvSpPr>
        <p:spPr>
          <a:xfrm>
            <a:off x="8549640" y="1682496"/>
            <a:ext cx="246888" cy="24688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BQL</a:t>
            </a:r>
            <a:endParaRPr lang="en-US" sz="600" dirty="0"/>
          </a:p>
        </p:txBody>
      </p:sp>
      <p:sp>
        <p:nvSpPr>
          <p:cNvPr id="38" name="Shape 28"/>
          <p:cNvSpPr/>
          <p:nvPr/>
        </p:nvSpPr>
        <p:spPr>
          <a:xfrm>
            <a:off x="1783080" y="2020824"/>
            <a:ext cx="7223760" cy="4416552"/>
          </a:xfrm>
          <a:prstGeom prst="rect">
            <a:avLst/>
          </a:prstGeom>
          <a:solidFill>
            <a:srgbClr val="F5F7F9"/>
          </a:solidFill>
          <a:ln/>
        </p:spPr>
      </p:sp>
      <p:sp>
        <p:nvSpPr>
          <p:cNvPr id="39" name="Shape 29"/>
          <p:cNvSpPr/>
          <p:nvPr/>
        </p:nvSpPr>
        <p:spPr>
          <a:xfrm>
            <a:off x="1920240" y="2130552"/>
            <a:ext cx="3840480" cy="4206240"/>
          </a:xfrm>
          <a:prstGeom prst="roundRect">
            <a:avLst>
              <a:gd name="adj" fmla="val 1429"/>
            </a:avLst>
          </a:prstGeom>
          <a:solidFill>
            <a:srgbClr val="FFFFFF"/>
          </a:solidFill>
          <a:ln w="6350">
            <a:solidFill>
              <a:srgbClr val="D5DCE3"/>
            </a:solidFill>
            <a:prstDash val="solid"/>
          </a:ln>
        </p:spPr>
      </p:sp>
      <p:sp>
        <p:nvSpPr>
          <p:cNvPr id="40" name="Text 30"/>
          <p:cNvSpPr txBox="1"/>
          <p:nvPr/>
        </p:nvSpPr>
        <p:spPr>
          <a:xfrm>
            <a:off x="2029968" y="2185416"/>
            <a:ext cx="362102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Sơ đồ hầm B2 (chỉ thiết bị bất thường có màu)</a:t>
            </a:r>
            <a:endParaRPr lang="en-US" sz="850" dirty="0"/>
          </a:p>
        </p:txBody>
      </p:sp>
      <p:sp>
        <p:nvSpPr>
          <p:cNvPr id="41" name="Shape 31"/>
          <p:cNvSpPr/>
          <p:nvPr/>
        </p:nvSpPr>
        <p:spPr>
          <a:xfrm>
            <a:off x="2057400" y="2496312"/>
            <a:ext cx="3566160" cy="3730752"/>
          </a:xfrm>
          <a:prstGeom prst="rect">
            <a:avLst/>
          </a:prstGeom>
          <a:solidFill>
            <a:srgbClr val="FFFFFF"/>
          </a:solidFill>
          <a:ln w="12700">
            <a:solidFill>
              <a:srgbClr val="9AA6B2"/>
            </a:solidFill>
            <a:prstDash val="solid"/>
          </a:ln>
        </p:spPr>
      </p:sp>
      <p:sp>
        <p:nvSpPr>
          <p:cNvPr id="42" name="Shape 32"/>
          <p:cNvSpPr/>
          <p:nvPr/>
        </p:nvSpPr>
        <p:spPr>
          <a:xfrm>
            <a:off x="2057400" y="2496312"/>
            <a:ext cx="1188720" cy="1045029"/>
          </a:xfrm>
          <a:prstGeom prst="rect">
            <a:avLst/>
          </a:prstGeom>
          <a:solidFill>
            <a:srgbClr val="EEF1F4"/>
          </a:solidFill>
          <a:ln w="6350">
            <a:solidFill>
              <a:srgbClr val="B9C3CC"/>
            </a:solidFill>
            <a:prstDash val="solid"/>
          </a:ln>
        </p:spPr>
      </p:sp>
      <p:sp>
        <p:nvSpPr>
          <p:cNvPr id="43" name="Text 33"/>
          <p:cNvSpPr txBox="1"/>
          <p:nvPr/>
        </p:nvSpPr>
        <p:spPr>
          <a:xfrm>
            <a:off x="2112264" y="2532888"/>
            <a:ext cx="109728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Trạm bơm</a:t>
            </a:r>
            <a:endParaRPr lang="en-US" sz="700" dirty="0"/>
          </a:p>
        </p:txBody>
      </p:sp>
      <p:sp>
        <p:nvSpPr>
          <p:cNvPr id="44" name="Shape 34"/>
          <p:cNvSpPr/>
          <p:nvPr/>
        </p:nvSpPr>
        <p:spPr>
          <a:xfrm>
            <a:off x="3291840" y="2496312"/>
            <a:ext cx="1097280" cy="1045029"/>
          </a:xfrm>
          <a:prstGeom prst="rect">
            <a:avLst/>
          </a:prstGeom>
          <a:solidFill>
            <a:srgbClr val="EEF1F4"/>
          </a:solidFill>
          <a:ln w="6350">
            <a:solidFill>
              <a:srgbClr val="B9C3CC"/>
            </a:solidFill>
            <a:prstDash val="solid"/>
          </a:ln>
        </p:spPr>
      </p:sp>
      <p:sp>
        <p:nvSpPr>
          <p:cNvPr id="45" name="Text 35"/>
          <p:cNvSpPr txBox="1"/>
          <p:nvPr/>
        </p:nvSpPr>
        <p:spPr>
          <a:xfrm>
            <a:off x="3346704" y="2532888"/>
            <a:ext cx="10058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Máy phát</a:t>
            </a:r>
            <a:endParaRPr lang="en-US" sz="700" dirty="0"/>
          </a:p>
        </p:txBody>
      </p:sp>
      <p:sp>
        <p:nvSpPr>
          <p:cNvPr id="46" name="Shape 36"/>
          <p:cNvSpPr/>
          <p:nvPr/>
        </p:nvSpPr>
        <p:spPr>
          <a:xfrm>
            <a:off x="4434840" y="2496312"/>
            <a:ext cx="1188720" cy="1045029"/>
          </a:xfrm>
          <a:prstGeom prst="rect">
            <a:avLst/>
          </a:prstGeom>
          <a:solidFill>
            <a:srgbClr val="EEF1F4"/>
          </a:solidFill>
          <a:ln w="6350">
            <a:solidFill>
              <a:srgbClr val="B9C3CC"/>
            </a:solidFill>
            <a:prstDash val="solid"/>
          </a:ln>
        </p:spPr>
      </p:sp>
      <p:sp>
        <p:nvSpPr>
          <p:cNvPr id="47" name="Text 37"/>
          <p:cNvSpPr txBox="1"/>
          <p:nvPr/>
        </p:nvSpPr>
        <p:spPr>
          <a:xfrm>
            <a:off x="4489704" y="2532888"/>
            <a:ext cx="109728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Trạm biến áp</a:t>
            </a:r>
            <a:endParaRPr lang="en-US" sz="700" dirty="0"/>
          </a:p>
        </p:txBody>
      </p:sp>
      <p:sp>
        <p:nvSpPr>
          <p:cNvPr id="48" name="Shape 38"/>
          <p:cNvSpPr/>
          <p:nvPr/>
        </p:nvSpPr>
        <p:spPr>
          <a:xfrm>
            <a:off x="2057400" y="3584883"/>
            <a:ext cx="3566160" cy="1741714"/>
          </a:xfrm>
          <a:prstGeom prst="rect">
            <a:avLst/>
          </a:prstGeom>
          <a:solidFill>
            <a:srgbClr val="EEF1F4"/>
          </a:solidFill>
          <a:ln w="6350">
            <a:solidFill>
              <a:srgbClr val="B9C3CC"/>
            </a:solidFill>
            <a:prstDash val="solid"/>
          </a:ln>
        </p:spPr>
      </p:sp>
      <p:sp>
        <p:nvSpPr>
          <p:cNvPr id="49" name="Text 39"/>
          <p:cNvSpPr txBox="1"/>
          <p:nvPr/>
        </p:nvSpPr>
        <p:spPr>
          <a:xfrm>
            <a:off x="2112264" y="3621459"/>
            <a:ext cx="347472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Hầm xe B2</a:t>
            </a:r>
            <a:endParaRPr lang="en-US" sz="700" dirty="0"/>
          </a:p>
        </p:txBody>
      </p:sp>
      <p:sp>
        <p:nvSpPr>
          <p:cNvPr id="50" name="Shape 40"/>
          <p:cNvSpPr/>
          <p:nvPr/>
        </p:nvSpPr>
        <p:spPr>
          <a:xfrm>
            <a:off x="2057400" y="5370141"/>
            <a:ext cx="1188720" cy="783771"/>
          </a:xfrm>
          <a:prstGeom prst="rect">
            <a:avLst/>
          </a:prstGeom>
          <a:solidFill>
            <a:srgbClr val="EEF1F4"/>
          </a:solidFill>
          <a:ln w="6350">
            <a:solidFill>
              <a:srgbClr val="B9C3CC"/>
            </a:solidFill>
            <a:prstDash val="solid"/>
          </a:ln>
        </p:spPr>
      </p:sp>
      <p:sp>
        <p:nvSpPr>
          <p:cNvPr id="51" name="Text 41"/>
          <p:cNvSpPr txBox="1"/>
          <p:nvPr/>
        </p:nvSpPr>
        <p:spPr>
          <a:xfrm>
            <a:off x="2112264" y="5406717"/>
            <a:ext cx="109728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Phòng bảo vệ</a:t>
            </a:r>
            <a:endParaRPr lang="en-US" sz="700" dirty="0"/>
          </a:p>
        </p:txBody>
      </p:sp>
      <p:sp>
        <p:nvSpPr>
          <p:cNvPr id="52" name="Shape 42"/>
          <p:cNvSpPr/>
          <p:nvPr/>
        </p:nvSpPr>
        <p:spPr>
          <a:xfrm>
            <a:off x="3291840" y="5370141"/>
            <a:ext cx="1188720" cy="783771"/>
          </a:xfrm>
          <a:prstGeom prst="rect">
            <a:avLst/>
          </a:prstGeom>
          <a:solidFill>
            <a:srgbClr val="EEF1F4"/>
          </a:solidFill>
          <a:ln w="6350">
            <a:solidFill>
              <a:srgbClr val="B9C3CC"/>
            </a:solidFill>
            <a:prstDash val="solid"/>
          </a:ln>
        </p:spPr>
      </p:sp>
      <p:sp>
        <p:nvSpPr>
          <p:cNvPr id="53" name="Text 43"/>
          <p:cNvSpPr txBox="1"/>
          <p:nvPr/>
        </p:nvSpPr>
        <p:spPr>
          <a:xfrm>
            <a:off x="3346704" y="5406717"/>
            <a:ext cx="109728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Rack trung tâm</a:t>
            </a:r>
            <a:endParaRPr lang="en-US" sz="700" dirty="0"/>
          </a:p>
        </p:txBody>
      </p:sp>
      <p:sp>
        <p:nvSpPr>
          <p:cNvPr id="54" name="Shape 44"/>
          <p:cNvSpPr/>
          <p:nvPr/>
        </p:nvSpPr>
        <p:spPr>
          <a:xfrm>
            <a:off x="4526280" y="5370141"/>
            <a:ext cx="1097280" cy="783771"/>
          </a:xfrm>
          <a:prstGeom prst="rect">
            <a:avLst/>
          </a:prstGeom>
          <a:solidFill>
            <a:srgbClr val="EEF1F4"/>
          </a:solidFill>
          <a:ln w="6350">
            <a:solidFill>
              <a:srgbClr val="B9C3CC"/>
            </a:solidFill>
            <a:prstDash val="solid"/>
          </a:ln>
        </p:spPr>
      </p:sp>
      <p:sp>
        <p:nvSpPr>
          <p:cNvPr id="55" name="Text 45"/>
          <p:cNvSpPr txBox="1"/>
          <p:nvPr/>
        </p:nvSpPr>
        <p:spPr>
          <a:xfrm>
            <a:off x="4581144" y="5406717"/>
            <a:ext cx="100584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Sạc xe điện</a:t>
            </a:r>
            <a:endParaRPr lang="en-US" sz="700" dirty="0"/>
          </a:p>
        </p:txBody>
      </p:sp>
      <p:sp>
        <p:nvSpPr>
          <p:cNvPr id="56" name="Shape 46"/>
          <p:cNvSpPr/>
          <p:nvPr/>
        </p:nvSpPr>
        <p:spPr>
          <a:xfrm>
            <a:off x="2331720" y="2975283"/>
            <a:ext cx="164592" cy="164592"/>
          </a:xfrm>
          <a:prstGeom prst="ellipse">
            <a:avLst/>
          </a:prstGeom>
          <a:solidFill>
            <a:srgbClr val="B9C3CC"/>
          </a:solidFill>
          <a:ln w="12700">
            <a:solidFill>
              <a:srgbClr val="FFFFFF"/>
            </a:solidFill>
            <a:prstDash val="solid"/>
          </a:ln>
        </p:spPr>
      </p:sp>
      <p:sp>
        <p:nvSpPr>
          <p:cNvPr id="57" name="Text 47"/>
          <p:cNvSpPr txBox="1"/>
          <p:nvPr/>
        </p:nvSpPr>
        <p:spPr>
          <a:xfrm>
            <a:off x="2514600" y="2966139"/>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SH-01</a:t>
            </a:r>
            <a:endParaRPr lang="en-US" sz="650" dirty="0"/>
          </a:p>
        </p:txBody>
      </p:sp>
      <p:sp>
        <p:nvSpPr>
          <p:cNvPr id="58" name="Shape 48"/>
          <p:cNvSpPr/>
          <p:nvPr/>
        </p:nvSpPr>
        <p:spPr>
          <a:xfrm>
            <a:off x="2788920" y="2975283"/>
            <a:ext cx="164592" cy="164592"/>
          </a:xfrm>
          <a:prstGeom prst="ellipse">
            <a:avLst/>
          </a:prstGeom>
          <a:solidFill>
            <a:srgbClr val="B9C3CC"/>
          </a:solidFill>
          <a:ln w="12700">
            <a:solidFill>
              <a:srgbClr val="FFFFFF"/>
            </a:solidFill>
            <a:prstDash val="solid"/>
          </a:ln>
        </p:spPr>
      </p:sp>
      <p:sp>
        <p:nvSpPr>
          <p:cNvPr id="59" name="Text 49"/>
          <p:cNvSpPr txBox="1"/>
          <p:nvPr/>
        </p:nvSpPr>
        <p:spPr>
          <a:xfrm>
            <a:off x="2971800" y="2966139"/>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SH-02</a:t>
            </a:r>
            <a:endParaRPr lang="en-US" sz="650" dirty="0"/>
          </a:p>
        </p:txBody>
      </p:sp>
      <p:sp>
        <p:nvSpPr>
          <p:cNvPr id="60" name="Shape 50"/>
          <p:cNvSpPr/>
          <p:nvPr/>
        </p:nvSpPr>
        <p:spPr>
          <a:xfrm>
            <a:off x="2331720" y="3280083"/>
            <a:ext cx="164592" cy="164592"/>
          </a:xfrm>
          <a:prstGeom prst="ellipse">
            <a:avLst/>
          </a:prstGeom>
          <a:solidFill>
            <a:srgbClr val="E8833A"/>
          </a:solidFill>
          <a:ln w="12700">
            <a:solidFill>
              <a:srgbClr val="FFFFFF"/>
            </a:solidFill>
            <a:prstDash val="solid"/>
          </a:ln>
        </p:spPr>
      </p:sp>
      <p:sp>
        <p:nvSpPr>
          <p:cNvPr id="61" name="Text 51"/>
          <p:cNvSpPr txBox="1"/>
          <p:nvPr/>
        </p:nvSpPr>
        <p:spPr>
          <a:xfrm>
            <a:off x="2514600" y="3270939"/>
            <a:ext cx="457200" cy="182880"/>
          </a:xfrm>
          <a:prstGeom prst="rect">
            <a:avLst/>
          </a:prstGeom>
          <a:noFill/>
          <a:ln/>
        </p:spPr>
        <p:txBody>
          <a:bodyPr wrap="square" lIns="0" tIns="0" rIns="0" bIns="0" rtlCol="0" anchor="ctr"/>
          <a:lstStyle/>
          <a:p>
            <a:pPr algn="l" indent="0" marL="0">
              <a:buNone/>
            </a:pPr>
            <a:r>
              <a:rPr lang="en-US" sz="650" b="1" dirty="0">
                <a:solidFill>
                  <a:srgbClr val="1A2330"/>
                </a:solidFill>
                <a:latin typeface="Arial" pitchFamily="34" charset="0"/>
                <a:ea typeface="Arial" pitchFamily="34" charset="-122"/>
                <a:cs typeface="Arial" pitchFamily="34" charset="-120"/>
              </a:rPr>
              <a:t>TA-02</a:t>
            </a:r>
            <a:endParaRPr lang="en-US" sz="650" dirty="0"/>
          </a:p>
        </p:txBody>
      </p:sp>
      <p:sp>
        <p:nvSpPr>
          <p:cNvPr id="62" name="Shape 52"/>
          <p:cNvSpPr/>
          <p:nvPr/>
        </p:nvSpPr>
        <p:spPr>
          <a:xfrm>
            <a:off x="3611880" y="3018826"/>
            <a:ext cx="164592" cy="164592"/>
          </a:xfrm>
          <a:prstGeom prst="ellipse">
            <a:avLst/>
          </a:prstGeom>
          <a:solidFill>
            <a:srgbClr val="B9C3CC"/>
          </a:solidFill>
          <a:ln w="12700">
            <a:solidFill>
              <a:srgbClr val="FFFFFF"/>
            </a:solidFill>
            <a:prstDash val="solid"/>
          </a:ln>
        </p:spPr>
      </p:sp>
      <p:sp>
        <p:nvSpPr>
          <p:cNvPr id="63" name="Text 53"/>
          <p:cNvSpPr txBox="1"/>
          <p:nvPr/>
        </p:nvSpPr>
        <p:spPr>
          <a:xfrm>
            <a:off x="3794760" y="3009682"/>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MF</a:t>
            </a:r>
            <a:endParaRPr lang="en-US" sz="650" dirty="0"/>
          </a:p>
        </p:txBody>
      </p:sp>
      <p:sp>
        <p:nvSpPr>
          <p:cNvPr id="64" name="Shape 54"/>
          <p:cNvSpPr/>
          <p:nvPr/>
        </p:nvSpPr>
        <p:spPr>
          <a:xfrm>
            <a:off x="4800600" y="3018826"/>
            <a:ext cx="164592" cy="164592"/>
          </a:xfrm>
          <a:prstGeom prst="ellipse">
            <a:avLst/>
          </a:prstGeom>
          <a:solidFill>
            <a:srgbClr val="B9C3CC"/>
          </a:solidFill>
          <a:ln w="12700">
            <a:solidFill>
              <a:srgbClr val="FFFFFF"/>
            </a:solidFill>
            <a:prstDash val="solid"/>
          </a:ln>
        </p:spPr>
      </p:sp>
      <p:sp>
        <p:nvSpPr>
          <p:cNvPr id="65" name="Text 55"/>
          <p:cNvSpPr txBox="1"/>
          <p:nvPr/>
        </p:nvSpPr>
        <p:spPr>
          <a:xfrm>
            <a:off x="4983480" y="3009682"/>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MBA</a:t>
            </a:r>
            <a:endParaRPr lang="en-US" sz="650" dirty="0"/>
          </a:p>
        </p:txBody>
      </p:sp>
      <p:sp>
        <p:nvSpPr>
          <p:cNvPr id="66" name="Shape 56"/>
          <p:cNvSpPr/>
          <p:nvPr/>
        </p:nvSpPr>
        <p:spPr>
          <a:xfrm>
            <a:off x="2606040" y="4325112"/>
            <a:ext cx="164592" cy="164592"/>
          </a:xfrm>
          <a:prstGeom prst="ellipse">
            <a:avLst/>
          </a:prstGeom>
          <a:solidFill>
            <a:srgbClr val="B9C3CC"/>
          </a:solidFill>
          <a:ln w="12700">
            <a:solidFill>
              <a:srgbClr val="FFFFFF"/>
            </a:solidFill>
            <a:prstDash val="solid"/>
          </a:ln>
        </p:spPr>
      </p:sp>
      <p:sp>
        <p:nvSpPr>
          <p:cNvPr id="67" name="Text 57"/>
          <p:cNvSpPr txBox="1"/>
          <p:nvPr/>
        </p:nvSpPr>
        <p:spPr>
          <a:xfrm>
            <a:off x="2788920" y="4315968"/>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QH-01</a:t>
            </a:r>
            <a:endParaRPr lang="en-US" sz="650" dirty="0"/>
          </a:p>
        </p:txBody>
      </p:sp>
      <p:sp>
        <p:nvSpPr>
          <p:cNvPr id="68" name="Shape 58"/>
          <p:cNvSpPr/>
          <p:nvPr/>
        </p:nvSpPr>
        <p:spPr>
          <a:xfrm>
            <a:off x="4709160" y="4325112"/>
            <a:ext cx="164592" cy="164592"/>
          </a:xfrm>
          <a:prstGeom prst="ellipse">
            <a:avLst/>
          </a:prstGeom>
          <a:solidFill>
            <a:srgbClr val="B9C3CC"/>
          </a:solidFill>
          <a:ln w="12700">
            <a:solidFill>
              <a:srgbClr val="FFFFFF"/>
            </a:solidFill>
            <a:prstDash val="solid"/>
          </a:ln>
        </p:spPr>
      </p:sp>
      <p:sp>
        <p:nvSpPr>
          <p:cNvPr id="69" name="Text 59"/>
          <p:cNvSpPr txBox="1"/>
          <p:nvPr/>
        </p:nvSpPr>
        <p:spPr>
          <a:xfrm>
            <a:off x="4892040" y="4315968"/>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QH-02</a:t>
            </a:r>
            <a:endParaRPr lang="en-US" sz="650" dirty="0"/>
          </a:p>
        </p:txBody>
      </p:sp>
      <p:sp>
        <p:nvSpPr>
          <p:cNvPr id="70" name="Shape 60"/>
          <p:cNvSpPr/>
          <p:nvPr/>
        </p:nvSpPr>
        <p:spPr>
          <a:xfrm>
            <a:off x="3794760" y="4063855"/>
            <a:ext cx="164592" cy="164592"/>
          </a:xfrm>
          <a:prstGeom prst="ellipse">
            <a:avLst/>
          </a:prstGeom>
          <a:solidFill>
            <a:srgbClr val="B9C3CC"/>
          </a:solidFill>
          <a:ln w="12700">
            <a:solidFill>
              <a:srgbClr val="FFFFFF"/>
            </a:solidFill>
            <a:prstDash val="solid"/>
          </a:ln>
        </p:spPr>
      </p:sp>
      <p:sp>
        <p:nvSpPr>
          <p:cNvPr id="71" name="Text 61"/>
          <p:cNvSpPr txBox="1"/>
          <p:nvPr/>
        </p:nvSpPr>
        <p:spPr>
          <a:xfrm>
            <a:off x="3977640" y="4054711"/>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CO</a:t>
            </a:r>
            <a:endParaRPr lang="en-US" sz="650" dirty="0"/>
          </a:p>
        </p:txBody>
      </p:sp>
      <p:sp>
        <p:nvSpPr>
          <p:cNvPr id="72" name="Shape 62"/>
          <p:cNvSpPr/>
          <p:nvPr/>
        </p:nvSpPr>
        <p:spPr>
          <a:xfrm>
            <a:off x="4892040" y="5805569"/>
            <a:ext cx="164592" cy="164592"/>
          </a:xfrm>
          <a:prstGeom prst="ellipse">
            <a:avLst/>
          </a:prstGeom>
          <a:solidFill>
            <a:srgbClr val="E8833A"/>
          </a:solidFill>
          <a:ln w="12700">
            <a:solidFill>
              <a:srgbClr val="FFFFFF"/>
            </a:solidFill>
            <a:prstDash val="solid"/>
          </a:ln>
        </p:spPr>
      </p:sp>
      <p:sp>
        <p:nvSpPr>
          <p:cNvPr id="73" name="Text 63"/>
          <p:cNvSpPr txBox="1"/>
          <p:nvPr/>
        </p:nvSpPr>
        <p:spPr>
          <a:xfrm>
            <a:off x="5074920" y="5796425"/>
            <a:ext cx="457200" cy="182880"/>
          </a:xfrm>
          <a:prstGeom prst="rect">
            <a:avLst/>
          </a:prstGeom>
          <a:noFill/>
          <a:ln/>
        </p:spPr>
        <p:txBody>
          <a:bodyPr wrap="square" lIns="0" tIns="0" rIns="0" bIns="0" rtlCol="0" anchor="ctr"/>
          <a:lstStyle/>
          <a:p>
            <a:pPr algn="l" indent="0" marL="0">
              <a:buNone/>
            </a:pPr>
            <a:r>
              <a:rPr lang="en-US" sz="650" b="1" dirty="0">
                <a:solidFill>
                  <a:srgbClr val="1A2330"/>
                </a:solidFill>
                <a:latin typeface="Arial" pitchFamily="34" charset="0"/>
                <a:ea typeface="Arial" pitchFamily="34" charset="-122"/>
                <a:cs typeface="Arial" pitchFamily="34" charset="-120"/>
              </a:rPr>
              <a:t>EV-03</a:t>
            </a:r>
            <a:endParaRPr lang="en-US" sz="650" dirty="0"/>
          </a:p>
        </p:txBody>
      </p:sp>
      <p:sp>
        <p:nvSpPr>
          <p:cNvPr id="74" name="Shape 64"/>
          <p:cNvSpPr/>
          <p:nvPr/>
        </p:nvSpPr>
        <p:spPr>
          <a:xfrm>
            <a:off x="2423160" y="5849112"/>
            <a:ext cx="164592" cy="164592"/>
          </a:xfrm>
          <a:prstGeom prst="ellipse">
            <a:avLst/>
          </a:prstGeom>
          <a:solidFill>
            <a:srgbClr val="B9C3CC"/>
          </a:solidFill>
          <a:ln w="12700">
            <a:solidFill>
              <a:srgbClr val="FFFFFF"/>
            </a:solidFill>
            <a:prstDash val="solid"/>
          </a:ln>
        </p:spPr>
      </p:sp>
      <p:sp>
        <p:nvSpPr>
          <p:cNvPr id="75" name="Text 65"/>
          <p:cNvSpPr txBox="1"/>
          <p:nvPr/>
        </p:nvSpPr>
        <p:spPr>
          <a:xfrm>
            <a:off x="2606040" y="5839968"/>
            <a:ext cx="457200" cy="182880"/>
          </a:xfrm>
          <a:prstGeom prst="rect">
            <a:avLst/>
          </a:prstGeom>
          <a:noFill/>
          <a:ln/>
        </p:spPr>
        <p:txBody>
          <a:bodyPr wrap="square" lIns="0" tIns="0" rIns="0" bIns="0" rtlCol="0" anchor="ctr"/>
          <a:lstStyle/>
          <a:p>
            <a:pPr algn="l" indent="0" marL="0">
              <a:buNone/>
            </a:pPr>
            <a:r>
              <a:rPr lang="en-US" sz="650" dirty="0">
                <a:solidFill>
                  <a:srgbClr val="1A2330"/>
                </a:solidFill>
                <a:latin typeface="Arial" pitchFamily="34" charset="0"/>
                <a:ea typeface="Arial" pitchFamily="34" charset="-122"/>
                <a:cs typeface="Arial" pitchFamily="34" charset="-120"/>
              </a:rPr>
              <a:t>TĐ</a:t>
            </a:r>
            <a:endParaRPr lang="en-US" sz="650" dirty="0"/>
          </a:p>
        </p:txBody>
      </p:sp>
      <p:sp>
        <p:nvSpPr>
          <p:cNvPr id="76" name="Shape 66"/>
          <p:cNvSpPr/>
          <p:nvPr/>
        </p:nvSpPr>
        <p:spPr>
          <a:xfrm>
            <a:off x="5870448" y="2130552"/>
            <a:ext cx="2999232" cy="2514600"/>
          </a:xfrm>
          <a:prstGeom prst="roundRect">
            <a:avLst>
              <a:gd name="adj" fmla="val 2182"/>
            </a:avLst>
          </a:prstGeom>
          <a:solidFill>
            <a:srgbClr val="FFFFFF"/>
          </a:solidFill>
          <a:ln w="6350">
            <a:solidFill>
              <a:srgbClr val="D5DCE3"/>
            </a:solidFill>
            <a:prstDash val="solid"/>
          </a:ln>
        </p:spPr>
      </p:sp>
      <p:sp>
        <p:nvSpPr>
          <p:cNvPr id="77" name="Text 67"/>
          <p:cNvSpPr txBox="1"/>
          <p:nvPr/>
        </p:nvSpPr>
        <p:spPr>
          <a:xfrm>
            <a:off x="5980176" y="2185416"/>
            <a:ext cx="2779776"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Chỉ số sức khỏe thiết bị (0–100)</a:t>
            </a:r>
            <a:endParaRPr lang="en-US" sz="850" dirty="0"/>
          </a:p>
        </p:txBody>
      </p:sp>
      <p:sp>
        <p:nvSpPr>
          <p:cNvPr id="78" name="Text 68"/>
          <p:cNvSpPr txBox="1"/>
          <p:nvPr/>
        </p:nvSpPr>
        <p:spPr>
          <a:xfrm>
            <a:off x="5980176" y="2478024"/>
            <a:ext cx="1280160" cy="18288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Bơm tăng áp 02</a:t>
            </a:r>
            <a:endParaRPr lang="en-US" sz="780" dirty="0"/>
          </a:p>
        </p:txBody>
      </p:sp>
      <p:sp>
        <p:nvSpPr>
          <p:cNvPr id="79" name="Text 69"/>
          <p:cNvSpPr txBox="1"/>
          <p:nvPr/>
        </p:nvSpPr>
        <p:spPr>
          <a:xfrm>
            <a:off x="8458200" y="2478024"/>
            <a:ext cx="320040" cy="182880"/>
          </a:xfrm>
          <a:prstGeom prst="rect">
            <a:avLst/>
          </a:prstGeom>
          <a:noFill/>
          <a:ln/>
        </p:spPr>
        <p:txBody>
          <a:bodyPr wrap="square" lIns="0" tIns="0" rIns="0" bIns="0" rtlCol="0" anchor="ctr"/>
          <a:lstStyle/>
          <a:p>
            <a:pPr algn="r" indent="0" marL="0">
              <a:buNone/>
            </a:pPr>
            <a:r>
              <a:rPr lang="en-US" sz="800" b="1" dirty="0">
                <a:solidFill>
                  <a:srgbClr val="E8833A"/>
                </a:solidFill>
                <a:latin typeface="Arial" pitchFamily="34" charset="0"/>
                <a:ea typeface="Arial" pitchFamily="34" charset="-122"/>
                <a:cs typeface="Arial" pitchFamily="34" charset="-120"/>
              </a:rPr>
              <a:t>61</a:t>
            </a:r>
            <a:endParaRPr lang="en-US" sz="800" dirty="0"/>
          </a:p>
        </p:txBody>
      </p:sp>
      <p:sp>
        <p:nvSpPr>
          <p:cNvPr id="80" name="Shape 70"/>
          <p:cNvSpPr/>
          <p:nvPr/>
        </p:nvSpPr>
        <p:spPr>
          <a:xfrm>
            <a:off x="7287768" y="2532888"/>
            <a:ext cx="1078992" cy="82296"/>
          </a:xfrm>
          <a:prstGeom prst="roundRect">
            <a:avLst>
              <a:gd name="adj" fmla="val 44444"/>
            </a:avLst>
          </a:prstGeom>
          <a:solidFill>
            <a:srgbClr val="E4E8EC"/>
          </a:solidFill>
          <a:ln/>
        </p:spPr>
      </p:sp>
      <p:sp>
        <p:nvSpPr>
          <p:cNvPr id="81" name="Shape 71"/>
          <p:cNvSpPr/>
          <p:nvPr/>
        </p:nvSpPr>
        <p:spPr>
          <a:xfrm>
            <a:off x="7287768" y="2532888"/>
            <a:ext cx="658185" cy="82296"/>
          </a:xfrm>
          <a:prstGeom prst="roundRect">
            <a:avLst>
              <a:gd name="adj" fmla="val 44444"/>
            </a:avLst>
          </a:prstGeom>
          <a:solidFill>
            <a:srgbClr val="E8833A"/>
          </a:solidFill>
          <a:ln/>
        </p:spPr>
      </p:sp>
      <p:sp>
        <p:nvSpPr>
          <p:cNvPr id="82" name="Text 72"/>
          <p:cNvSpPr txBox="1"/>
          <p:nvPr/>
        </p:nvSpPr>
        <p:spPr>
          <a:xfrm>
            <a:off x="5980176" y="2660904"/>
            <a:ext cx="2770632"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Khởi động 3× mức nền; kiểm tra van một chiều</a:t>
            </a:r>
            <a:endParaRPr lang="en-US" sz="680" dirty="0"/>
          </a:p>
        </p:txBody>
      </p:sp>
      <p:sp>
        <p:nvSpPr>
          <p:cNvPr id="83" name="Text 73"/>
          <p:cNvSpPr txBox="1"/>
          <p:nvPr/>
        </p:nvSpPr>
        <p:spPr>
          <a:xfrm>
            <a:off x="5980176" y="2898648"/>
            <a:ext cx="1280160" cy="18288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Quạt cấp FAF-02</a:t>
            </a:r>
            <a:endParaRPr lang="en-US" sz="780" dirty="0"/>
          </a:p>
        </p:txBody>
      </p:sp>
      <p:sp>
        <p:nvSpPr>
          <p:cNvPr id="84" name="Text 74"/>
          <p:cNvSpPr txBox="1"/>
          <p:nvPr/>
        </p:nvSpPr>
        <p:spPr>
          <a:xfrm>
            <a:off x="8458200" y="2898648"/>
            <a:ext cx="320040" cy="182880"/>
          </a:xfrm>
          <a:prstGeom prst="rect">
            <a:avLst/>
          </a:prstGeom>
          <a:noFill/>
          <a:ln/>
        </p:spPr>
        <p:txBody>
          <a:bodyPr wrap="square" lIns="0" tIns="0" rIns="0" bIns="0" rtlCol="0" anchor="ctr"/>
          <a:lstStyle/>
          <a:p>
            <a:pPr algn="r" indent="0" marL="0">
              <a:buNone/>
            </a:pPr>
            <a:r>
              <a:rPr lang="en-US" sz="800" b="1" dirty="0">
                <a:solidFill>
                  <a:srgbClr val="D9A21B"/>
                </a:solidFill>
                <a:latin typeface="Arial" pitchFamily="34" charset="0"/>
                <a:ea typeface="Arial" pitchFamily="34" charset="-122"/>
                <a:cs typeface="Arial" pitchFamily="34" charset="-120"/>
              </a:rPr>
              <a:t>74</a:t>
            </a:r>
            <a:endParaRPr lang="en-US" sz="800" dirty="0"/>
          </a:p>
        </p:txBody>
      </p:sp>
      <p:sp>
        <p:nvSpPr>
          <p:cNvPr id="85" name="Shape 75"/>
          <p:cNvSpPr/>
          <p:nvPr/>
        </p:nvSpPr>
        <p:spPr>
          <a:xfrm>
            <a:off x="7287768" y="2953512"/>
            <a:ext cx="1078992" cy="82296"/>
          </a:xfrm>
          <a:prstGeom prst="roundRect">
            <a:avLst>
              <a:gd name="adj" fmla="val 44444"/>
            </a:avLst>
          </a:prstGeom>
          <a:solidFill>
            <a:srgbClr val="E4E8EC"/>
          </a:solidFill>
          <a:ln/>
        </p:spPr>
      </p:sp>
      <p:sp>
        <p:nvSpPr>
          <p:cNvPr id="86" name="Shape 76"/>
          <p:cNvSpPr/>
          <p:nvPr/>
        </p:nvSpPr>
        <p:spPr>
          <a:xfrm>
            <a:off x="7287768" y="2953512"/>
            <a:ext cx="798454" cy="82296"/>
          </a:xfrm>
          <a:prstGeom prst="roundRect">
            <a:avLst>
              <a:gd name="adj" fmla="val 44444"/>
            </a:avLst>
          </a:prstGeom>
          <a:solidFill>
            <a:srgbClr val="D9A21B"/>
          </a:solidFill>
          <a:ln/>
        </p:spPr>
      </p:sp>
      <p:sp>
        <p:nvSpPr>
          <p:cNvPr id="87" name="Text 77"/>
          <p:cNvSpPr txBox="1"/>
          <p:nvPr/>
        </p:nvSpPr>
        <p:spPr>
          <a:xfrm>
            <a:off x="5980176" y="3081528"/>
            <a:ext cx="2770632"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Chênh áp lọc tăng 40% trong 3 tuần</a:t>
            </a:r>
            <a:endParaRPr lang="en-US" sz="680" dirty="0"/>
          </a:p>
        </p:txBody>
      </p:sp>
      <p:sp>
        <p:nvSpPr>
          <p:cNvPr id="88" name="Text 78"/>
          <p:cNvSpPr txBox="1"/>
          <p:nvPr/>
        </p:nvSpPr>
        <p:spPr>
          <a:xfrm>
            <a:off x="5980176" y="3319272"/>
            <a:ext cx="1280160" cy="18288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Bơm sinh hoạt 01</a:t>
            </a:r>
            <a:endParaRPr lang="en-US" sz="780" dirty="0"/>
          </a:p>
        </p:txBody>
      </p:sp>
      <p:sp>
        <p:nvSpPr>
          <p:cNvPr id="89" name="Text 79"/>
          <p:cNvSpPr txBox="1"/>
          <p:nvPr/>
        </p:nvSpPr>
        <p:spPr>
          <a:xfrm>
            <a:off x="8458200" y="3319272"/>
            <a:ext cx="320040" cy="182880"/>
          </a:xfrm>
          <a:prstGeom prst="rect">
            <a:avLst/>
          </a:prstGeom>
          <a:noFill/>
          <a:ln/>
        </p:spPr>
        <p:txBody>
          <a:bodyPr wrap="square" lIns="0" tIns="0" rIns="0" bIns="0" rtlCol="0" anchor="ctr"/>
          <a:lstStyle/>
          <a:p>
            <a:pPr algn="r" indent="0" marL="0">
              <a:buNone/>
            </a:pPr>
            <a:r>
              <a:rPr lang="en-US" sz="800" b="1" dirty="0">
                <a:solidFill>
                  <a:srgbClr val="1A2330"/>
                </a:solidFill>
                <a:latin typeface="Arial" pitchFamily="34" charset="0"/>
                <a:ea typeface="Arial" pitchFamily="34" charset="-122"/>
                <a:cs typeface="Arial" pitchFamily="34" charset="-120"/>
              </a:rPr>
              <a:t>92</a:t>
            </a:r>
            <a:endParaRPr lang="en-US" sz="800" dirty="0"/>
          </a:p>
        </p:txBody>
      </p:sp>
      <p:sp>
        <p:nvSpPr>
          <p:cNvPr id="90" name="Shape 80"/>
          <p:cNvSpPr/>
          <p:nvPr/>
        </p:nvSpPr>
        <p:spPr>
          <a:xfrm>
            <a:off x="7287768" y="3374136"/>
            <a:ext cx="1078992" cy="82296"/>
          </a:xfrm>
          <a:prstGeom prst="roundRect">
            <a:avLst>
              <a:gd name="adj" fmla="val 44444"/>
            </a:avLst>
          </a:prstGeom>
          <a:solidFill>
            <a:srgbClr val="E4E8EC"/>
          </a:solidFill>
          <a:ln/>
        </p:spPr>
      </p:sp>
      <p:sp>
        <p:nvSpPr>
          <p:cNvPr id="91" name="Shape 81"/>
          <p:cNvSpPr/>
          <p:nvPr/>
        </p:nvSpPr>
        <p:spPr>
          <a:xfrm>
            <a:off x="7287768" y="3374136"/>
            <a:ext cx="992673" cy="82296"/>
          </a:xfrm>
          <a:prstGeom prst="roundRect">
            <a:avLst>
              <a:gd name="adj" fmla="val 44444"/>
            </a:avLst>
          </a:prstGeom>
          <a:solidFill>
            <a:srgbClr val="B9C3CC"/>
          </a:solidFill>
          <a:ln/>
        </p:spPr>
      </p:sp>
      <p:sp>
        <p:nvSpPr>
          <p:cNvPr id="92" name="Text 82"/>
          <p:cNvSpPr txBox="1"/>
          <p:nvPr/>
        </p:nvSpPr>
        <p:spPr>
          <a:xfrm>
            <a:off x="5980176" y="3502152"/>
            <a:ext cx="2770632"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Bình thường · 2.140 giờ chạy</a:t>
            </a:r>
            <a:endParaRPr lang="en-US" sz="680" dirty="0"/>
          </a:p>
        </p:txBody>
      </p:sp>
      <p:sp>
        <p:nvSpPr>
          <p:cNvPr id="93" name="Text 83"/>
          <p:cNvSpPr txBox="1"/>
          <p:nvPr/>
        </p:nvSpPr>
        <p:spPr>
          <a:xfrm>
            <a:off x="5980176" y="3739896"/>
            <a:ext cx="1280160" cy="18288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Bơm sinh hoạt 02</a:t>
            </a:r>
            <a:endParaRPr lang="en-US" sz="780" dirty="0"/>
          </a:p>
        </p:txBody>
      </p:sp>
      <p:sp>
        <p:nvSpPr>
          <p:cNvPr id="94" name="Text 84"/>
          <p:cNvSpPr txBox="1"/>
          <p:nvPr/>
        </p:nvSpPr>
        <p:spPr>
          <a:xfrm>
            <a:off x="8458200" y="3739896"/>
            <a:ext cx="320040" cy="182880"/>
          </a:xfrm>
          <a:prstGeom prst="rect">
            <a:avLst/>
          </a:prstGeom>
          <a:noFill/>
          <a:ln/>
        </p:spPr>
        <p:txBody>
          <a:bodyPr wrap="square" lIns="0" tIns="0" rIns="0" bIns="0" rtlCol="0" anchor="ctr"/>
          <a:lstStyle/>
          <a:p>
            <a:pPr algn="r" indent="0" marL="0">
              <a:buNone/>
            </a:pPr>
            <a:r>
              <a:rPr lang="en-US" sz="800" b="1" dirty="0">
                <a:solidFill>
                  <a:srgbClr val="1A2330"/>
                </a:solidFill>
                <a:latin typeface="Arial" pitchFamily="34" charset="0"/>
                <a:ea typeface="Arial" pitchFamily="34" charset="-122"/>
                <a:cs typeface="Arial" pitchFamily="34" charset="-120"/>
              </a:rPr>
              <a:t>88</a:t>
            </a:r>
            <a:endParaRPr lang="en-US" sz="800" dirty="0"/>
          </a:p>
        </p:txBody>
      </p:sp>
      <p:sp>
        <p:nvSpPr>
          <p:cNvPr id="95" name="Shape 85"/>
          <p:cNvSpPr/>
          <p:nvPr/>
        </p:nvSpPr>
        <p:spPr>
          <a:xfrm>
            <a:off x="7287768" y="3794760"/>
            <a:ext cx="1078992" cy="82296"/>
          </a:xfrm>
          <a:prstGeom prst="roundRect">
            <a:avLst>
              <a:gd name="adj" fmla="val 44444"/>
            </a:avLst>
          </a:prstGeom>
          <a:solidFill>
            <a:srgbClr val="E4E8EC"/>
          </a:solidFill>
          <a:ln/>
        </p:spPr>
      </p:sp>
      <p:sp>
        <p:nvSpPr>
          <p:cNvPr id="96" name="Shape 86"/>
          <p:cNvSpPr/>
          <p:nvPr/>
        </p:nvSpPr>
        <p:spPr>
          <a:xfrm>
            <a:off x="7287768" y="3794760"/>
            <a:ext cx="949513" cy="82296"/>
          </a:xfrm>
          <a:prstGeom prst="roundRect">
            <a:avLst>
              <a:gd name="adj" fmla="val 44444"/>
            </a:avLst>
          </a:prstGeom>
          <a:solidFill>
            <a:srgbClr val="B9C3CC"/>
          </a:solidFill>
          <a:ln/>
        </p:spPr>
      </p:sp>
      <p:sp>
        <p:nvSpPr>
          <p:cNvPr id="97" name="Text 87"/>
          <p:cNvSpPr txBox="1"/>
          <p:nvPr/>
        </p:nvSpPr>
        <p:spPr>
          <a:xfrm>
            <a:off x="5980176" y="3922776"/>
            <a:ext cx="2770632"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Bình thường · luân phiên tối nay</a:t>
            </a:r>
            <a:endParaRPr lang="en-US" sz="680" dirty="0"/>
          </a:p>
        </p:txBody>
      </p:sp>
      <p:sp>
        <p:nvSpPr>
          <p:cNvPr id="98" name="Text 88"/>
          <p:cNvSpPr txBox="1"/>
          <p:nvPr/>
        </p:nvSpPr>
        <p:spPr>
          <a:xfrm>
            <a:off x="5980176" y="4160520"/>
            <a:ext cx="1280160" cy="18288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Máy phát</a:t>
            </a:r>
            <a:endParaRPr lang="en-US" sz="780" dirty="0"/>
          </a:p>
        </p:txBody>
      </p:sp>
      <p:sp>
        <p:nvSpPr>
          <p:cNvPr id="99" name="Text 89"/>
          <p:cNvSpPr txBox="1"/>
          <p:nvPr/>
        </p:nvSpPr>
        <p:spPr>
          <a:xfrm>
            <a:off x="8458200" y="4160520"/>
            <a:ext cx="320040" cy="182880"/>
          </a:xfrm>
          <a:prstGeom prst="rect">
            <a:avLst/>
          </a:prstGeom>
          <a:noFill/>
          <a:ln/>
        </p:spPr>
        <p:txBody>
          <a:bodyPr wrap="square" lIns="0" tIns="0" rIns="0" bIns="0" rtlCol="0" anchor="ctr"/>
          <a:lstStyle/>
          <a:p>
            <a:pPr algn="r" indent="0" marL="0">
              <a:buNone/>
            </a:pPr>
            <a:r>
              <a:rPr lang="en-US" sz="800" b="1" dirty="0">
                <a:solidFill>
                  <a:srgbClr val="1A2330"/>
                </a:solidFill>
                <a:latin typeface="Arial" pitchFamily="34" charset="0"/>
                <a:ea typeface="Arial" pitchFamily="34" charset="-122"/>
                <a:cs typeface="Arial" pitchFamily="34" charset="-120"/>
              </a:rPr>
              <a:t>95</a:t>
            </a:r>
            <a:endParaRPr lang="en-US" sz="800" dirty="0"/>
          </a:p>
        </p:txBody>
      </p:sp>
      <p:sp>
        <p:nvSpPr>
          <p:cNvPr id="100" name="Shape 90"/>
          <p:cNvSpPr/>
          <p:nvPr/>
        </p:nvSpPr>
        <p:spPr>
          <a:xfrm>
            <a:off x="7287768" y="4215384"/>
            <a:ext cx="1078992" cy="82296"/>
          </a:xfrm>
          <a:prstGeom prst="roundRect">
            <a:avLst>
              <a:gd name="adj" fmla="val 44444"/>
            </a:avLst>
          </a:prstGeom>
          <a:solidFill>
            <a:srgbClr val="E4E8EC"/>
          </a:solidFill>
          <a:ln/>
        </p:spPr>
      </p:sp>
      <p:sp>
        <p:nvSpPr>
          <p:cNvPr id="101" name="Shape 91"/>
          <p:cNvSpPr/>
          <p:nvPr/>
        </p:nvSpPr>
        <p:spPr>
          <a:xfrm>
            <a:off x="7287768" y="4215384"/>
            <a:ext cx="1025042" cy="82296"/>
          </a:xfrm>
          <a:prstGeom prst="roundRect">
            <a:avLst>
              <a:gd name="adj" fmla="val 44444"/>
            </a:avLst>
          </a:prstGeom>
          <a:solidFill>
            <a:srgbClr val="B9C3CC"/>
          </a:solidFill>
          <a:ln/>
        </p:spPr>
      </p:sp>
      <p:sp>
        <p:nvSpPr>
          <p:cNvPr id="102" name="Text 92"/>
          <p:cNvSpPr txBox="1"/>
          <p:nvPr/>
        </p:nvSpPr>
        <p:spPr>
          <a:xfrm>
            <a:off x="5980176" y="4343400"/>
            <a:ext cx="2770632"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Lần chạy thử gần nhất 14/10</a:t>
            </a:r>
            <a:endParaRPr lang="en-US" sz="680" dirty="0"/>
          </a:p>
        </p:txBody>
      </p:sp>
      <p:sp>
        <p:nvSpPr>
          <p:cNvPr id="103" name="Shape 93"/>
          <p:cNvSpPr/>
          <p:nvPr/>
        </p:nvSpPr>
        <p:spPr>
          <a:xfrm>
            <a:off x="5870448" y="4736592"/>
            <a:ext cx="1679570" cy="1600200"/>
          </a:xfrm>
          <a:prstGeom prst="roundRect">
            <a:avLst>
              <a:gd name="adj" fmla="val 3429"/>
            </a:avLst>
          </a:prstGeom>
          <a:solidFill>
            <a:srgbClr val="FFFFFF"/>
          </a:solidFill>
          <a:ln w="6350">
            <a:solidFill>
              <a:srgbClr val="D5DCE3"/>
            </a:solidFill>
            <a:prstDash val="solid"/>
          </a:ln>
        </p:spPr>
      </p:sp>
      <p:sp>
        <p:nvSpPr>
          <p:cNvPr id="104" name="Text 94"/>
          <p:cNvSpPr txBox="1"/>
          <p:nvPr/>
        </p:nvSpPr>
        <p:spPr>
          <a:xfrm>
            <a:off x="5980176" y="4791456"/>
            <a:ext cx="146011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Lần khởi động/ngày</a:t>
            </a:r>
            <a:endParaRPr lang="en-US" sz="850" dirty="0"/>
          </a:p>
        </p:txBody>
      </p:sp>
      <p:graphicFrame>
        <p:nvGraphicFramePr>
          <p:cNvPr id="105" name="Chart 0" descr=""/>
          <p:cNvGraphicFramePr/>
          <p:nvPr/>
        </p:nvGraphicFramePr>
        <p:xfrm>
          <a:off x="5916168" y="4965192"/>
          <a:ext cx="1588130" cy="1325880"/>
        </p:xfrm>
        <a:graphic xmlns:a="http://schemas.openxmlformats.org/drawingml/2006/main">
          <a:graphicData uri="http://schemas.openxmlformats.org/drawingml/2006/chart">
            <c:chart xmlns:c="http://schemas.openxmlformats.org/drawingml/2006/chart" r:id="rId9"/>
          </a:graphicData>
        </a:graphic>
      </p:graphicFrame>
      <p:sp>
        <p:nvSpPr>
          <p:cNvPr id="106" name="Shape 95"/>
          <p:cNvSpPr/>
          <p:nvPr/>
        </p:nvSpPr>
        <p:spPr>
          <a:xfrm>
            <a:off x="7641458" y="4736592"/>
            <a:ext cx="1228222" cy="1600200"/>
          </a:xfrm>
          <a:prstGeom prst="roundRect">
            <a:avLst>
              <a:gd name="adj" fmla="val 4467"/>
            </a:avLst>
          </a:prstGeom>
          <a:solidFill>
            <a:srgbClr val="FFFFFF"/>
          </a:solidFill>
          <a:ln w="6350">
            <a:solidFill>
              <a:srgbClr val="D5DCE3"/>
            </a:solidFill>
            <a:prstDash val="solid"/>
          </a:ln>
        </p:spPr>
      </p:sp>
      <p:sp>
        <p:nvSpPr>
          <p:cNvPr id="107" name="Text 96"/>
          <p:cNvSpPr txBox="1"/>
          <p:nvPr/>
        </p:nvSpPr>
        <p:spPr>
          <a:xfrm>
            <a:off x="7751186" y="4791456"/>
            <a:ext cx="1008766"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Đề xuất bảo trì</a:t>
            </a:r>
            <a:endParaRPr lang="en-US" sz="850" dirty="0"/>
          </a:p>
        </p:txBody>
      </p:sp>
      <p:sp>
        <p:nvSpPr>
          <p:cNvPr id="108" name="Text 97"/>
          <p:cNvSpPr txBox="1"/>
          <p:nvPr/>
        </p:nvSpPr>
        <p:spPr>
          <a:xfrm>
            <a:off x="7751186" y="5056632"/>
            <a:ext cx="1008766" cy="548640"/>
          </a:xfrm>
          <a:prstGeom prst="rect">
            <a:avLst/>
          </a:prstGeom>
          <a:noFill/>
          <a:ln/>
        </p:spPr>
        <p:txBody>
          <a:bodyPr wrap="square" lIns="0" tIns="0" rIns="0" bIns="0" rtlCol="0" anchor="t"/>
          <a:lstStyle/>
          <a:p>
            <a:pPr algn="l" indent="0" marL="0">
              <a:buNone/>
            </a:pPr>
            <a:r>
              <a:rPr lang="en-US" sz="780" dirty="0">
                <a:solidFill>
                  <a:srgbClr val="1A2330"/>
                </a:solidFill>
                <a:latin typeface="Arial" pitchFamily="34" charset="0"/>
                <a:ea typeface="Arial" pitchFamily="34" charset="-122"/>
                <a:cs typeface="Arial" pitchFamily="34" charset="-120"/>
              </a:rPr>
              <a:t>Kiểm tra van một chiều bơm tăng áp 02 trong 7 ngày</a:t>
            </a:r>
            <a:endParaRPr lang="en-US" sz="780" dirty="0"/>
          </a:p>
        </p:txBody>
      </p:sp>
      <p:sp>
        <p:nvSpPr>
          <p:cNvPr id="109" name="Text 98"/>
          <p:cNvSpPr txBox="1"/>
          <p:nvPr/>
        </p:nvSpPr>
        <p:spPr>
          <a:xfrm>
            <a:off x="7751186" y="5605272"/>
            <a:ext cx="1008766" cy="457200"/>
          </a:xfrm>
          <a:prstGeom prst="rect">
            <a:avLst/>
          </a:prstGeom>
          <a:noFill/>
          <a:ln/>
        </p:spPr>
        <p:txBody>
          <a:bodyPr wrap="square" lIns="0" tIns="0" rIns="0" bIns="0" rtlCol="0" anchor="t"/>
          <a:lstStyle/>
          <a:p>
            <a:pPr algn="l" indent="0" marL="0">
              <a:buNone/>
            </a:pPr>
            <a:r>
              <a:rPr lang="en-US" sz="700" i="1" dirty="0">
                <a:solidFill>
                  <a:srgbClr val="6B7785"/>
                </a:solidFill>
                <a:latin typeface="Arial" pitchFamily="34" charset="0"/>
                <a:ea typeface="Arial" pitchFamily="34" charset="-122"/>
                <a:cs typeface="Arial" pitchFamily="34" charset="-120"/>
              </a:rPr>
              <a:t>Nếu bỏ qua: bơm chạy liên tục, nguy cơ cháy động cơ</a:t>
            </a:r>
            <a:endParaRPr lang="en-US" sz="700" dirty="0"/>
          </a:p>
        </p:txBody>
      </p:sp>
      <p:sp>
        <p:nvSpPr>
          <p:cNvPr id="110" name="Shape 99"/>
          <p:cNvSpPr/>
          <p:nvPr/>
        </p:nvSpPr>
        <p:spPr>
          <a:xfrm>
            <a:off x="7751186" y="5980176"/>
            <a:ext cx="1008766" cy="274320"/>
          </a:xfrm>
          <a:prstGeom prst="roundRect">
            <a:avLst>
              <a:gd name="adj" fmla="val 26667"/>
            </a:avLst>
          </a:prstGeom>
          <a:solidFill>
            <a:srgbClr val="1B7F79"/>
          </a:solidFill>
          <a:ln/>
        </p:spPr>
      </p:sp>
      <p:sp>
        <p:nvSpPr>
          <p:cNvPr id="111" name="Text 100"/>
          <p:cNvSpPr txBox="1"/>
          <p:nvPr/>
        </p:nvSpPr>
        <p:spPr>
          <a:xfrm>
            <a:off x="7751186" y="5980176"/>
            <a:ext cx="100876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Tạo phiếu việc</a:t>
            </a:r>
            <a:endParaRPr lang="en-US" sz="800" dirty="0"/>
          </a:p>
        </p:txBody>
      </p:sp>
      <p:sp>
        <p:nvSpPr>
          <p:cNvPr id="112" name="Shape 101"/>
          <p:cNvSpPr/>
          <p:nvPr/>
        </p:nvSpPr>
        <p:spPr>
          <a:xfrm>
            <a:off x="5394960" y="2176272"/>
            <a:ext cx="274320" cy="274320"/>
          </a:xfrm>
          <a:prstGeom prst="ellipse">
            <a:avLst/>
          </a:prstGeom>
          <a:solidFill>
            <a:srgbClr val="E8833A"/>
          </a:solidFill>
          <a:ln w="19050">
            <a:solidFill>
              <a:srgbClr val="FFFFFF"/>
            </a:solidFill>
            <a:prstDash val="solid"/>
          </a:ln>
        </p:spPr>
      </p:sp>
      <p:sp>
        <p:nvSpPr>
          <p:cNvPr id="113" name="Text 102"/>
          <p:cNvSpPr txBox="1"/>
          <p:nvPr/>
        </p:nvSpPr>
        <p:spPr>
          <a:xfrm>
            <a:off x="5394960" y="21762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4" name="Shape 103"/>
          <p:cNvSpPr/>
          <p:nvPr/>
        </p:nvSpPr>
        <p:spPr>
          <a:xfrm>
            <a:off x="8549640" y="2176272"/>
            <a:ext cx="274320" cy="274320"/>
          </a:xfrm>
          <a:prstGeom prst="ellipse">
            <a:avLst/>
          </a:prstGeom>
          <a:solidFill>
            <a:srgbClr val="E8833A"/>
          </a:solidFill>
          <a:ln w="19050">
            <a:solidFill>
              <a:srgbClr val="FFFFFF"/>
            </a:solidFill>
            <a:prstDash val="solid"/>
          </a:ln>
        </p:spPr>
      </p:sp>
      <p:sp>
        <p:nvSpPr>
          <p:cNvPr id="115" name="Text 104"/>
          <p:cNvSpPr txBox="1"/>
          <p:nvPr/>
        </p:nvSpPr>
        <p:spPr>
          <a:xfrm>
            <a:off x="8549640" y="21762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16" name="Shape 105"/>
          <p:cNvSpPr/>
          <p:nvPr/>
        </p:nvSpPr>
        <p:spPr>
          <a:xfrm>
            <a:off x="7229978" y="4736592"/>
            <a:ext cx="274320" cy="274320"/>
          </a:xfrm>
          <a:prstGeom prst="ellipse">
            <a:avLst/>
          </a:prstGeom>
          <a:solidFill>
            <a:srgbClr val="E8833A"/>
          </a:solidFill>
          <a:ln w="19050">
            <a:solidFill>
              <a:srgbClr val="FFFFFF"/>
            </a:solidFill>
            <a:prstDash val="solid"/>
          </a:ln>
        </p:spPr>
      </p:sp>
      <p:sp>
        <p:nvSpPr>
          <p:cNvPr id="117" name="Text 106"/>
          <p:cNvSpPr txBox="1"/>
          <p:nvPr/>
        </p:nvSpPr>
        <p:spPr>
          <a:xfrm>
            <a:off x="7229978" y="47365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18" name="Shape 107"/>
          <p:cNvSpPr/>
          <p:nvPr/>
        </p:nvSpPr>
        <p:spPr>
          <a:xfrm>
            <a:off x="8549640" y="4736592"/>
            <a:ext cx="274320" cy="274320"/>
          </a:xfrm>
          <a:prstGeom prst="ellipse">
            <a:avLst/>
          </a:prstGeom>
          <a:solidFill>
            <a:srgbClr val="E8833A"/>
          </a:solidFill>
          <a:ln w="19050">
            <a:solidFill>
              <a:srgbClr val="FFFFFF"/>
            </a:solidFill>
            <a:prstDash val="solid"/>
          </a:ln>
        </p:spPr>
      </p:sp>
      <p:sp>
        <p:nvSpPr>
          <p:cNvPr id="119" name="Text 108"/>
          <p:cNvSpPr txBox="1"/>
          <p:nvPr/>
        </p:nvSpPr>
        <p:spPr>
          <a:xfrm>
            <a:off x="8549640" y="47365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20" name="Shape 109"/>
          <p:cNvSpPr/>
          <p:nvPr/>
        </p:nvSpPr>
        <p:spPr>
          <a:xfrm>
            <a:off x="9189720" y="1325880"/>
            <a:ext cx="2560320" cy="5120640"/>
          </a:xfrm>
          <a:prstGeom prst="roundRect">
            <a:avLst>
              <a:gd name="adj" fmla="val 1786"/>
            </a:avLst>
          </a:prstGeom>
          <a:solidFill>
            <a:srgbClr val="E8F3F2"/>
          </a:solidFill>
          <a:ln/>
        </p:spPr>
      </p:sp>
      <p:sp>
        <p:nvSpPr>
          <p:cNvPr id="121" name="Text 110"/>
          <p:cNvSpPr txBox="1"/>
          <p:nvPr/>
        </p:nvSpPr>
        <p:spPr>
          <a:xfrm>
            <a:off x="9372600" y="1435608"/>
            <a:ext cx="219456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122" name="Shape 111"/>
          <p:cNvSpPr/>
          <p:nvPr/>
        </p:nvSpPr>
        <p:spPr>
          <a:xfrm>
            <a:off x="9372600" y="1892808"/>
            <a:ext cx="274320" cy="274320"/>
          </a:xfrm>
          <a:prstGeom prst="ellipse">
            <a:avLst/>
          </a:prstGeom>
          <a:solidFill>
            <a:srgbClr val="E8833A"/>
          </a:solidFill>
          <a:ln w="19050">
            <a:solidFill>
              <a:srgbClr val="FFFFFF"/>
            </a:solidFill>
            <a:prstDash val="solid"/>
          </a:ln>
        </p:spPr>
      </p:sp>
      <p:sp>
        <p:nvSpPr>
          <p:cNvPr id="123" name="Text 112"/>
          <p:cNvSpPr txBox="1"/>
          <p:nvPr/>
        </p:nvSpPr>
        <p:spPr>
          <a:xfrm>
            <a:off x="937260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4" name="Text 113"/>
          <p:cNvSpPr txBox="1"/>
          <p:nvPr/>
        </p:nvSpPr>
        <p:spPr>
          <a:xfrm>
            <a:off x="9738360" y="187452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Sơ đồ xám, điểm bất thường có màu</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Kỹ thuật thấy ngay vị trí cần đến, không phải đọc danh sách</a:t>
            </a:r>
            <a:endParaRPr lang="en-US" sz="1050" dirty="0"/>
          </a:p>
        </p:txBody>
      </p:sp>
      <p:sp>
        <p:nvSpPr>
          <p:cNvPr id="125" name="Shape 114"/>
          <p:cNvSpPr/>
          <p:nvPr/>
        </p:nvSpPr>
        <p:spPr>
          <a:xfrm>
            <a:off x="9372600" y="3012948"/>
            <a:ext cx="274320" cy="274320"/>
          </a:xfrm>
          <a:prstGeom prst="ellipse">
            <a:avLst/>
          </a:prstGeom>
          <a:solidFill>
            <a:srgbClr val="E8833A"/>
          </a:solidFill>
          <a:ln w="19050">
            <a:solidFill>
              <a:srgbClr val="FFFFFF"/>
            </a:solidFill>
            <a:prstDash val="solid"/>
          </a:ln>
        </p:spPr>
      </p:sp>
      <p:sp>
        <p:nvSpPr>
          <p:cNvPr id="126" name="Text 115"/>
          <p:cNvSpPr txBox="1"/>
          <p:nvPr/>
        </p:nvSpPr>
        <p:spPr>
          <a:xfrm>
            <a:off x="9372600" y="3012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7" name="Text 116"/>
          <p:cNvSpPr txBox="1"/>
          <p:nvPr/>
        </p:nvSpPr>
        <p:spPr>
          <a:xfrm>
            <a:off x="9738360" y="299466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Điểm sức khỏe kèm lý do</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Mỗi con số có câu giải thích; AI không là “hộp đen”</a:t>
            </a:r>
            <a:endParaRPr lang="en-US" sz="1050" dirty="0"/>
          </a:p>
        </p:txBody>
      </p:sp>
      <p:sp>
        <p:nvSpPr>
          <p:cNvPr id="128" name="Shape 117"/>
          <p:cNvSpPr/>
          <p:nvPr/>
        </p:nvSpPr>
        <p:spPr>
          <a:xfrm>
            <a:off x="9372600" y="4133088"/>
            <a:ext cx="274320" cy="274320"/>
          </a:xfrm>
          <a:prstGeom prst="ellipse">
            <a:avLst/>
          </a:prstGeom>
          <a:solidFill>
            <a:srgbClr val="E8833A"/>
          </a:solidFill>
          <a:ln w="19050">
            <a:solidFill>
              <a:srgbClr val="FFFFFF"/>
            </a:solidFill>
            <a:prstDash val="solid"/>
          </a:ln>
        </p:spPr>
      </p:sp>
      <p:sp>
        <p:nvSpPr>
          <p:cNvPr id="129" name="Text 118"/>
          <p:cNvSpPr txBox="1"/>
          <p:nvPr/>
        </p:nvSpPr>
        <p:spPr>
          <a:xfrm>
            <a:off x="937260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0" name="Text 119"/>
          <p:cNvSpPr txBox="1"/>
          <p:nvPr/>
        </p:nvSpPr>
        <p:spPr>
          <a:xfrm>
            <a:off x="9738360" y="411480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Xu hướng hơn giá trị tức thời</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Số lần khởi động tăng dần trong 7 ngày là dấu hiệu sớm của hỏng van</a:t>
            </a:r>
            <a:endParaRPr lang="en-US" sz="1050" dirty="0"/>
          </a:p>
        </p:txBody>
      </p:sp>
      <p:sp>
        <p:nvSpPr>
          <p:cNvPr id="131" name="Shape 120"/>
          <p:cNvSpPr/>
          <p:nvPr/>
        </p:nvSpPr>
        <p:spPr>
          <a:xfrm>
            <a:off x="9372600" y="5253228"/>
            <a:ext cx="274320" cy="274320"/>
          </a:xfrm>
          <a:prstGeom prst="ellipse">
            <a:avLst/>
          </a:prstGeom>
          <a:solidFill>
            <a:srgbClr val="E8833A"/>
          </a:solidFill>
          <a:ln w="19050">
            <a:solidFill>
              <a:srgbClr val="FFFFFF"/>
            </a:solidFill>
            <a:prstDash val="solid"/>
          </a:ln>
        </p:spPr>
      </p:sp>
      <p:sp>
        <p:nvSpPr>
          <p:cNvPr id="132" name="Text 121"/>
          <p:cNvSpPr txBox="1"/>
          <p:nvPr/>
        </p:nvSpPr>
        <p:spPr>
          <a:xfrm>
            <a:off x="9372600" y="52532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33" name="Text 122"/>
          <p:cNvSpPr txBox="1"/>
          <p:nvPr/>
        </p:nvSpPr>
        <p:spPr>
          <a:xfrm>
            <a:off x="9738360" y="523494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Đề xuất có hệ quả</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Nói rõ việc cần làm, thời hạn và rủi ro nếu bỏ qua; một chạm tạo phiếu việc</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An ninh và vào ra: biết ai đang ở đâu, chỉ báo khi sai quyền</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bảo vệ, BQL · Kịch bản K8 (người ngoài giờ) và phân luồng theo ma trận phân quyền Z1–Z10</a:t>
            </a:r>
            <a:endParaRPr lang="en-US" sz="1300" dirty="0"/>
          </a:p>
        </p:txBody>
      </p:sp>
      <p:sp>
        <p:nvSpPr>
          <p:cNvPr id="4" name="Shape 2"/>
          <p:cNvSpPr/>
          <p:nvPr/>
        </p:nvSpPr>
        <p:spPr>
          <a:xfrm>
            <a:off x="457200" y="1325880"/>
            <a:ext cx="8549640" cy="5120640"/>
          </a:xfrm>
          <a:prstGeom prst="roundRect">
            <a:avLst>
              <a:gd name="adj" fmla="val 714"/>
            </a:avLst>
          </a:prstGeom>
          <a:solidFill>
            <a:srgbClr val="FFFFFF"/>
          </a:solidFill>
          <a:ln w="9525">
            <a:solidFill>
              <a:srgbClr val="B9C3CC"/>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457200" y="1325880"/>
            <a:ext cx="8549640" cy="274320"/>
          </a:xfrm>
          <a:prstGeom prst="roundRect">
            <a:avLst>
              <a:gd name="adj" fmla="val 13333"/>
            </a:avLst>
          </a:prstGeom>
          <a:solidFill>
            <a:srgbClr val="E9EDF1"/>
          </a:solidFill>
          <a:ln/>
        </p:spPr>
      </p:sp>
      <p:sp>
        <p:nvSpPr>
          <p:cNvPr id="6" name="Shape 4"/>
          <p:cNvSpPr/>
          <p:nvPr/>
        </p:nvSpPr>
        <p:spPr>
          <a:xfrm>
            <a:off x="457200" y="1463040"/>
            <a:ext cx="8549640" cy="137160"/>
          </a:xfrm>
          <a:prstGeom prst="rect">
            <a:avLst/>
          </a:prstGeom>
          <a:solidFill>
            <a:srgbClr val="E9EDF1"/>
          </a:solidFill>
          <a:ln/>
        </p:spPr>
      </p:sp>
      <p:sp>
        <p:nvSpPr>
          <p:cNvPr id="7" name="Shape 5"/>
          <p:cNvSpPr/>
          <p:nvPr/>
        </p:nvSpPr>
        <p:spPr>
          <a:xfrm>
            <a:off x="566928" y="1408176"/>
            <a:ext cx="100584" cy="100584"/>
          </a:xfrm>
          <a:prstGeom prst="ellipse">
            <a:avLst/>
          </a:prstGeom>
          <a:solidFill>
            <a:srgbClr val="E0605A"/>
          </a:solidFill>
          <a:ln/>
        </p:spPr>
      </p:sp>
      <p:sp>
        <p:nvSpPr>
          <p:cNvPr id="8" name="Shape 6"/>
          <p:cNvSpPr/>
          <p:nvPr/>
        </p:nvSpPr>
        <p:spPr>
          <a:xfrm>
            <a:off x="713232" y="1408176"/>
            <a:ext cx="100584" cy="100584"/>
          </a:xfrm>
          <a:prstGeom prst="ellipse">
            <a:avLst/>
          </a:prstGeom>
          <a:solidFill>
            <a:srgbClr val="E8B341"/>
          </a:solidFill>
          <a:ln/>
        </p:spPr>
      </p:sp>
      <p:sp>
        <p:nvSpPr>
          <p:cNvPr id="9" name="Shape 7"/>
          <p:cNvSpPr/>
          <p:nvPr/>
        </p:nvSpPr>
        <p:spPr>
          <a:xfrm>
            <a:off x="859536" y="1408176"/>
            <a:ext cx="100584" cy="100584"/>
          </a:xfrm>
          <a:prstGeom prst="ellipse">
            <a:avLst/>
          </a:prstGeom>
          <a:solidFill>
            <a:srgbClr val="5DB85C"/>
          </a:solidFill>
          <a:ln/>
        </p:spPr>
      </p:sp>
      <p:sp>
        <p:nvSpPr>
          <p:cNvPr id="10" name="Shape 8"/>
          <p:cNvSpPr/>
          <p:nvPr/>
        </p:nvSpPr>
        <p:spPr>
          <a:xfrm>
            <a:off x="1143000" y="1380744"/>
            <a:ext cx="7635240" cy="173736"/>
          </a:xfrm>
          <a:prstGeom prst="roundRect">
            <a:avLst>
              <a:gd name="adj" fmla="val 42105"/>
            </a:avLst>
          </a:prstGeom>
          <a:solidFill>
            <a:srgbClr val="FFFFFF"/>
          </a:solidFill>
          <a:ln/>
        </p:spPr>
      </p:sp>
      <p:sp>
        <p:nvSpPr>
          <p:cNvPr id="11" name="Text 9"/>
          <p:cNvSpPr txBox="1"/>
          <p:nvPr/>
        </p:nvSpPr>
        <p:spPr>
          <a:xfrm>
            <a:off x="1234440" y="1380744"/>
            <a:ext cx="7452360" cy="173736"/>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ops.tnv-building.vn/an-ninh</a:t>
            </a:r>
            <a:endParaRPr lang="en-US" sz="700" dirty="0"/>
          </a:p>
        </p:txBody>
      </p:sp>
      <p:sp>
        <p:nvSpPr>
          <p:cNvPr id="12" name="Shape 10"/>
          <p:cNvSpPr/>
          <p:nvPr/>
        </p:nvSpPr>
        <p:spPr>
          <a:xfrm>
            <a:off x="457200" y="1600200"/>
            <a:ext cx="1325880" cy="4846320"/>
          </a:xfrm>
          <a:prstGeom prst="rect">
            <a:avLst/>
          </a:prstGeom>
          <a:solidFill>
            <a:srgbClr val="12324A"/>
          </a:solidFill>
          <a:ln/>
        </p:spPr>
      </p:sp>
      <p:sp>
        <p:nvSpPr>
          <p:cNvPr id="13" name="Text 11"/>
          <p:cNvSpPr txBox="1"/>
          <p:nvPr/>
        </p:nvSpPr>
        <p:spPr>
          <a:xfrm>
            <a:off x="594360" y="1691640"/>
            <a:ext cx="1143000" cy="27432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TNV · Smart Ops</a:t>
            </a:r>
            <a:endParaRPr lang="en-US" sz="850" dirty="0"/>
          </a:p>
        </p:txBody>
      </p:sp>
      <p:pic>
        <p:nvPicPr>
          <p:cNvPr id="14" name="Image 0" descr="preencoded.png">    </p:cNvPr>
          <p:cNvPicPr>
            <a:picLocks noChangeAspect="1"/>
          </p:cNvPicPr>
          <p:nvPr/>
        </p:nvPicPr>
        <p:blipFill>
          <a:blip r:embed="rId1"/>
          <a:stretch>
            <a:fillRect/>
          </a:stretch>
        </p:blipFill>
        <p:spPr>
          <a:xfrm>
            <a:off x="603504" y="2130552"/>
            <a:ext cx="146304" cy="146304"/>
          </a:xfrm>
          <a:prstGeom prst="rect">
            <a:avLst/>
          </a:prstGeom>
        </p:spPr>
      </p:pic>
      <p:sp>
        <p:nvSpPr>
          <p:cNvPr id="15" name="Text 12"/>
          <p:cNvSpPr txBox="1"/>
          <p:nvPr/>
        </p:nvSpPr>
        <p:spPr>
          <a:xfrm>
            <a:off x="822960" y="207568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Tổng quan</a:t>
            </a:r>
            <a:endParaRPr lang="en-US" sz="750" dirty="0"/>
          </a:p>
        </p:txBody>
      </p:sp>
      <p:pic>
        <p:nvPicPr>
          <p:cNvPr id="16" name="Image 1" descr="preencoded.png">    </p:cNvPr>
          <p:cNvPicPr>
            <a:picLocks noChangeAspect="1"/>
          </p:cNvPicPr>
          <p:nvPr/>
        </p:nvPicPr>
        <p:blipFill>
          <a:blip r:embed="rId2"/>
          <a:stretch>
            <a:fillRect/>
          </a:stretch>
        </p:blipFill>
        <p:spPr>
          <a:xfrm>
            <a:off x="603504" y="2459736"/>
            <a:ext cx="146304" cy="146304"/>
          </a:xfrm>
          <a:prstGeom prst="rect">
            <a:avLst/>
          </a:prstGeom>
        </p:spPr>
      </p:pic>
      <p:sp>
        <p:nvSpPr>
          <p:cNvPr id="17" name="Text 13"/>
          <p:cNvSpPr txBox="1"/>
          <p:nvPr/>
        </p:nvSpPr>
        <p:spPr>
          <a:xfrm>
            <a:off x="822960" y="240487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Cảnh báo</a:t>
            </a:r>
            <a:endParaRPr lang="en-US" sz="750" dirty="0"/>
          </a:p>
        </p:txBody>
      </p:sp>
      <p:pic>
        <p:nvPicPr>
          <p:cNvPr id="18" name="Image 2" descr="preencoded.png">    </p:cNvPr>
          <p:cNvPicPr>
            <a:picLocks noChangeAspect="1"/>
          </p:cNvPicPr>
          <p:nvPr/>
        </p:nvPicPr>
        <p:blipFill>
          <a:blip r:embed="rId3"/>
          <a:stretch>
            <a:fillRect/>
          </a:stretch>
        </p:blipFill>
        <p:spPr>
          <a:xfrm>
            <a:off x="603504" y="2788920"/>
            <a:ext cx="146304" cy="146304"/>
          </a:xfrm>
          <a:prstGeom prst="rect">
            <a:avLst/>
          </a:prstGeom>
        </p:spPr>
      </p:pic>
      <p:sp>
        <p:nvSpPr>
          <p:cNvPr id="19" name="Text 14"/>
          <p:cNvSpPr txBox="1"/>
          <p:nvPr/>
        </p:nvSpPr>
        <p:spPr>
          <a:xfrm>
            <a:off x="822960" y="273405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Điện &amp; nước</a:t>
            </a:r>
            <a:endParaRPr lang="en-US" sz="750" dirty="0"/>
          </a:p>
        </p:txBody>
      </p:sp>
      <p:pic>
        <p:nvPicPr>
          <p:cNvPr id="20" name="Image 3" descr="preencoded.png">    </p:cNvPr>
          <p:cNvPicPr>
            <a:picLocks noChangeAspect="1"/>
          </p:cNvPicPr>
          <p:nvPr/>
        </p:nvPicPr>
        <p:blipFill>
          <a:blip r:embed="rId4"/>
          <a:stretch>
            <a:fillRect/>
          </a:stretch>
        </p:blipFill>
        <p:spPr>
          <a:xfrm>
            <a:off x="603504" y="3118104"/>
            <a:ext cx="146304" cy="146304"/>
          </a:xfrm>
          <a:prstGeom prst="rect">
            <a:avLst/>
          </a:prstGeom>
        </p:spPr>
      </p:pic>
      <p:sp>
        <p:nvSpPr>
          <p:cNvPr id="21" name="Text 15"/>
          <p:cNvSpPr txBox="1"/>
          <p:nvPr/>
        </p:nvSpPr>
        <p:spPr>
          <a:xfrm>
            <a:off x="822960" y="3063240"/>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Thiết bị</a:t>
            </a:r>
            <a:endParaRPr lang="en-US" sz="750" dirty="0"/>
          </a:p>
        </p:txBody>
      </p:sp>
      <p:sp>
        <p:nvSpPr>
          <p:cNvPr id="22" name="Shape 16"/>
          <p:cNvSpPr/>
          <p:nvPr/>
        </p:nvSpPr>
        <p:spPr>
          <a:xfrm>
            <a:off x="521208" y="3383280"/>
            <a:ext cx="1197864" cy="274320"/>
          </a:xfrm>
          <a:prstGeom prst="roundRect">
            <a:avLst>
              <a:gd name="adj" fmla="val 26667"/>
            </a:avLst>
          </a:prstGeom>
          <a:solidFill>
            <a:srgbClr val="1B7F79"/>
          </a:solidFill>
          <a:ln/>
        </p:spPr>
      </p:sp>
      <p:pic>
        <p:nvPicPr>
          <p:cNvPr id="23" name="Image 4" descr="preencoded.png">    </p:cNvPr>
          <p:cNvPicPr>
            <a:picLocks noChangeAspect="1"/>
          </p:cNvPicPr>
          <p:nvPr/>
        </p:nvPicPr>
        <p:blipFill>
          <a:blip r:embed="rId5"/>
          <a:stretch>
            <a:fillRect/>
          </a:stretch>
        </p:blipFill>
        <p:spPr>
          <a:xfrm>
            <a:off x="603504" y="3447288"/>
            <a:ext cx="146304" cy="146304"/>
          </a:xfrm>
          <a:prstGeom prst="rect">
            <a:avLst/>
          </a:prstGeom>
        </p:spPr>
      </p:pic>
      <p:sp>
        <p:nvSpPr>
          <p:cNvPr id="24" name="Text 17"/>
          <p:cNvSpPr txBox="1"/>
          <p:nvPr/>
        </p:nvSpPr>
        <p:spPr>
          <a:xfrm>
            <a:off x="822960" y="3392424"/>
            <a:ext cx="914400" cy="256032"/>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An ninh &amp; vào ra</a:t>
            </a:r>
            <a:endParaRPr lang="en-US" sz="750" dirty="0"/>
          </a:p>
        </p:txBody>
      </p:sp>
      <p:pic>
        <p:nvPicPr>
          <p:cNvPr id="25" name="Image 5" descr="preencoded.png">    </p:cNvPr>
          <p:cNvPicPr>
            <a:picLocks noChangeAspect="1"/>
          </p:cNvPicPr>
          <p:nvPr/>
        </p:nvPicPr>
        <p:blipFill>
          <a:blip r:embed="rId6"/>
          <a:stretch>
            <a:fillRect/>
          </a:stretch>
        </p:blipFill>
        <p:spPr>
          <a:xfrm>
            <a:off x="603504" y="3776472"/>
            <a:ext cx="146304" cy="146304"/>
          </a:xfrm>
          <a:prstGeom prst="rect">
            <a:avLst/>
          </a:prstGeom>
        </p:spPr>
      </p:pic>
      <p:sp>
        <p:nvSpPr>
          <p:cNvPr id="26" name="Text 18"/>
          <p:cNvSpPr txBox="1"/>
          <p:nvPr/>
        </p:nvSpPr>
        <p:spPr>
          <a:xfrm>
            <a:off x="822960" y="372160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Trợ lý AI</a:t>
            </a:r>
            <a:endParaRPr lang="en-US" sz="750" dirty="0"/>
          </a:p>
        </p:txBody>
      </p:sp>
      <p:pic>
        <p:nvPicPr>
          <p:cNvPr id="27" name="Image 6" descr="preencoded.png">    </p:cNvPr>
          <p:cNvPicPr>
            <a:picLocks noChangeAspect="1"/>
          </p:cNvPicPr>
          <p:nvPr/>
        </p:nvPicPr>
        <p:blipFill>
          <a:blip r:embed="rId7"/>
          <a:stretch>
            <a:fillRect/>
          </a:stretch>
        </p:blipFill>
        <p:spPr>
          <a:xfrm>
            <a:off x="603504" y="4105656"/>
            <a:ext cx="146304" cy="146304"/>
          </a:xfrm>
          <a:prstGeom prst="rect">
            <a:avLst/>
          </a:prstGeom>
        </p:spPr>
      </p:pic>
      <p:sp>
        <p:nvSpPr>
          <p:cNvPr id="28" name="Text 19"/>
          <p:cNvSpPr txBox="1"/>
          <p:nvPr/>
        </p:nvSpPr>
        <p:spPr>
          <a:xfrm>
            <a:off x="822960" y="405079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Báo cáo</a:t>
            </a:r>
            <a:endParaRPr lang="en-US" sz="750" dirty="0"/>
          </a:p>
        </p:txBody>
      </p:sp>
      <p:pic>
        <p:nvPicPr>
          <p:cNvPr id="29" name="Image 7" descr="preencoded.png">    </p:cNvPr>
          <p:cNvPicPr>
            <a:picLocks noChangeAspect="1"/>
          </p:cNvPicPr>
          <p:nvPr/>
        </p:nvPicPr>
        <p:blipFill>
          <a:blip r:embed="rId8"/>
          <a:stretch>
            <a:fillRect/>
          </a:stretch>
        </p:blipFill>
        <p:spPr>
          <a:xfrm>
            <a:off x="603504" y="4434840"/>
            <a:ext cx="146304" cy="146304"/>
          </a:xfrm>
          <a:prstGeom prst="rect">
            <a:avLst/>
          </a:prstGeom>
        </p:spPr>
      </p:pic>
      <p:sp>
        <p:nvSpPr>
          <p:cNvPr id="30" name="Text 20"/>
          <p:cNvSpPr txBox="1"/>
          <p:nvPr/>
        </p:nvSpPr>
        <p:spPr>
          <a:xfrm>
            <a:off x="822960" y="437997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Cấu hình</a:t>
            </a:r>
            <a:endParaRPr lang="en-US" sz="750" dirty="0"/>
          </a:p>
        </p:txBody>
      </p:sp>
      <p:sp>
        <p:nvSpPr>
          <p:cNvPr id="31" name="Text 21"/>
          <p:cNvSpPr txBox="1"/>
          <p:nvPr/>
        </p:nvSpPr>
        <p:spPr>
          <a:xfrm>
            <a:off x="548640" y="6080760"/>
            <a:ext cx="1143000" cy="274320"/>
          </a:xfrm>
          <a:prstGeom prst="rect">
            <a:avLst/>
          </a:prstGeom>
          <a:noFill/>
          <a:ln/>
        </p:spPr>
        <p:txBody>
          <a:bodyPr wrap="square" lIns="0" tIns="0" rIns="0" bIns="0" rtlCol="0" anchor="ctr"/>
          <a:lstStyle/>
          <a:p>
            <a:pPr algn="l" indent="0" marL="0">
              <a:buNone/>
            </a:pPr>
            <a:r>
              <a:rPr lang="en-US" sz="600" dirty="0">
                <a:solidFill>
                  <a:srgbClr val="8FA6B8"/>
                </a:solidFill>
                <a:latin typeface="Arial" pitchFamily="34" charset="0"/>
                <a:ea typeface="Arial" pitchFamily="34" charset="-122"/>
                <a:cs typeface="Arial" pitchFamily="34" charset="-120"/>
              </a:rPr>
              <a:t>Claude · Gemini qua cổng AI Gimasys</a:t>
            </a:r>
            <a:endParaRPr lang="en-US" sz="600" dirty="0"/>
          </a:p>
        </p:txBody>
      </p:sp>
      <p:sp>
        <p:nvSpPr>
          <p:cNvPr id="32" name="Shape 22"/>
          <p:cNvSpPr/>
          <p:nvPr/>
        </p:nvSpPr>
        <p:spPr>
          <a:xfrm>
            <a:off x="1783080" y="1600200"/>
            <a:ext cx="7223760" cy="411480"/>
          </a:xfrm>
          <a:prstGeom prst="rect">
            <a:avLst/>
          </a:prstGeom>
          <a:solidFill>
            <a:srgbClr val="FFFFFF"/>
          </a:solidFill>
          <a:ln/>
        </p:spPr>
      </p:sp>
      <p:sp>
        <p:nvSpPr>
          <p:cNvPr id="33" name="Shape 23"/>
          <p:cNvSpPr/>
          <p:nvPr/>
        </p:nvSpPr>
        <p:spPr>
          <a:xfrm>
            <a:off x="1783080" y="2011680"/>
            <a:ext cx="7223760" cy="0"/>
          </a:xfrm>
          <a:prstGeom prst="line">
            <a:avLst/>
          </a:prstGeom>
          <a:noFill/>
          <a:ln w="9525">
            <a:solidFill>
              <a:srgbClr val="E4E8EC"/>
            </a:solidFill>
            <a:prstDash val="solid"/>
          </a:ln>
        </p:spPr>
      </p:sp>
      <p:sp>
        <p:nvSpPr>
          <p:cNvPr id="34" name="Text 24"/>
          <p:cNvSpPr txBox="1"/>
          <p:nvPr/>
        </p:nvSpPr>
        <p:spPr>
          <a:xfrm>
            <a:off x="1947672" y="1600200"/>
            <a:ext cx="3657600" cy="411480"/>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An ninh &amp; vào ra</a:t>
            </a:r>
            <a:endParaRPr lang="en-US" sz="1100" dirty="0"/>
          </a:p>
        </p:txBody>
      </p:sp>
      <p:sp>
        <p:nvSpPr>
          <p:cNvPr id="35" name="Text 25"/>
          <p:cNvSpPr txBox="1"/>
          <p:nvPr/>
        </p:nvSpPr>
        <p:spPr>
          <a:xfrm>
            <a:off x="5074920" y="1600200"/>
            <a:ext cx="3337560" cy="411480"/>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Ca đêm · 23:47</a:t>
            </a:r>
            <a:endParaRPr lang="en-US" sz="750" dirty="0"/>
          </a:p>
        </p:txBody>
      </p:sp>
      <p:sp>
        <p:nvSpPr>
          <p:cNvPr id="36" name="Shape 26"/>
          <p:cNvSpPr/>
          <p:nvPr/>
        </p:nvSpPr>
        <p:spPr>
          <a:xfrm>
            <a:off x="8549640" y="1682496"/>
            <a:ext cx="246888" cy="246888"/>
          </a:xfrm>
          <a:prstGeom prst="ellipse">
            <a:avLst/>
          </a:prstGeom>
          <a:solidFill>
            <a:srgbClr val="1B7F79"/>
          </a:solidFill>
          <a:ln/>
        </p:spPr>
      </p:sp>
      <p:sp>
        <p:nvSpPr>
          <p:cNvPr id="37" name="Text 27"/>
          <p:cNvSpPr txBox="1"/>
          <p:nvPr/>
        </p:nvSpPr>
        <p:spPr>
          <a:xfrm>
            <a:off x="8549640" y="1682496"/>
            <a:ext cx="246888" cy="24688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BQL</a:t>
            </a:r>
            <a:endParaRPr lang="en-US" sz="600" dirty="0"/>
          </a:p>
        </p:txBody>
      </p:sp>
      <p:sp>
        <p:nvSpPr>
          <p:cNvPr id="38" name="Shape 28"/>
          <p:cNvSpPr/>
          <p:nvPr/>
        </p:nvSpPr>
        <p:spPr>
          <a:xfrm>
            <a:off x="1783080" y="2020824"/>
            <a:ext cx="7223760" cy="4416552"/>
          </a:xfrm>
          <a:prstGeom prst="rect">
            <a:avLst/>
          </a:prstGeom>
          <a:solidFill>
            <a:srgbClr val="F5F7F9"/>
          </a:solidFill>
          <a:ln/>
        </p:spPr>
      </p:sp>
      <p:sp>
        <p:nvSpPr>
          <p:cNvPr id="39" name="Shape 29"/>
          <p:cNvSpPr/>
          <p:nvPr/>
        </p:nvSpPr>
        <p:spPr>
          <a:xfrm>
            <a:off x="1920240" y="2130552"/>
            <a:ext cx="3017520" cy="2377440"/>
          </a:xfrm>
          <a:prstGeom prst="roundRect">
            <a:avLst>
              <a:gd name="adj" fmla="val 2308"/>
            </a:avLst>
          </a:prstGeom>
          <a:solidFill>
            <a:srgbClr val="FFFFFF"/>
          </a:solidFill>
          <a:ln w="6350">
            <a:solidFill>
              <a:srgbClr val="D5DCE3"/>
            </a:solidFill>
            <a:prstDash val="solid"/>
          </a:ln>
        </p:spPr>
      </p:sp>
      <p:sp>
        <p:nvSpPr>
          <p:cNvPr id="40" name="Text 30"/>
          <p:cNvSpPr txBox="1"/>
          <p:nvPr/>
        </p:nvSpPr>
        <p:spPr>
          <a:xfrm>
            <a:off x="2029968" y="2185416"/>
            <a:ext cx="279806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Sự kiện camera AI</a:t>
            </a:r>
            <a:endParaRPr lang="en-US" sz="850" dirty="0"/>
          </a:p>
        </p:txBody>
      </p:sp>
      <p:sp>
        <p:nvSpPr>
          <p:cNvPr id="41" name="Shape 31"/>
          <p:cNvSpPr/>
          <p:nvPr/>
        </p:nvSpPr>
        <p:spPr>
          <a:xfrm>
            <a:off x="2029968" y="2450592"/>
            <a:ext cx="2798064" cy="1188720"/>
          </a:xfrm>
          <a:prstGeom prst="roundRect">
            <a:avLst>
              <a:gd name="adj" fmla="val 3077"/>
            </a:avLst>
          </a:prstGeom>
          <a:solidFill>
            <a:srgbClr val="2B3A47"/>
          </a:solidFill>
          <a:ln/>
        </p:spPr>
      </p:sp>
      <p:pic>
        <p:nvPicPr>
          <p:cNvPr id="42" name="Image 8" descr="preencoded.png">    </p:cNvPr>
          <p:cNvPicPr>
            <a:picLocks noChangeAspect="1"/>
          </p:cNvPicPr>
          <p:nvPr/>
        </p:nvPicPr>
        <p:blipFill>
          <a:blip r:embed="rId9"/>
          <a:stretch>
            <a:fillRect/>
          </a:stretch>
        </p:blipFill>
        <p:spPr>
          <a:xfrm>
            <a:off x="3154680" y="2816352"/>
            <a:ext cx="548640" cy="548640"/>
          </a:xfrm>
          <a:prstGeom prst="rect">
            <a:avLst/>
          </a:prstGeom>
        </p:spPr>
      </p:pic>
      <p:sp>
        <p:nvSpPr>
          <p:cNvPr id="43" name="Shape 32"/>
          <p:cNvSpPr/>
          <p:nvPr/>
        </p:nvSpPr>
        <p:spPr>
          <a:xfrm>
            <a:off x="2971800" y="2697480"/>
            <a:ext cx="914400" cy="868680"/>
          </a:xfrm>
          <a:prstGeom prst="rect">
            <a:avLst/>
          </a:prstGeom>
          <a:solidFill>
            <a:srgbClr val="FFFFFF">
              <a:alpha val="0"/>
            </a:srgbClr>
          </a:solidFill>
          <a:ln w="19050">
            <a:solidFill>
              <a:srgbClr val="E8833A"/>
            </a:solidFill>
            <a:prstDash val="solid"/>
          </a:ln>
        </p:spPr>
      </p:sp>
      <p:sp>
        <p:nvSpPr>
          <p:cNvPr id="44" name="Shape 33"/>
          <p:cNvSpPr/>
          <p:nvPr/>
        </p:nvSpPr>
        <p:spPr>
          <a:xfrm>
            <a:off x="2971800" y="2542032"/>
            <a:ext cx="914400" cy="155448"/>
          </a:xfrm>
          <a:prstGeom prst="roundRect">
            <a:avLst>
              <a:gd name="adj" fmla="val 58824"/>
            </a:avLst>
          </a:prstGeom>
          <a:solidFill>
            <a:srgbClr val="E8833A"/>
          </a:solidFill>
          <a:ln/>
        </p:spPr>
      </p:sp>
      <p:sp>
        <p:nvSpPr>
          <p:cNvPr id="45" name="Text 34"/>
          <p:cNvSpPr txBox="1"/>
          <p:nvPr/>
        </p:nvSpPr>
        <p:spPr>
          <a:xfrm>
            <a:off x="2971800" y="2542032"/>
            <a:ext cx="914400"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NGƯỜI · 0,94</a:t>
            </a:r>
            <a:endParaRPr lang="en-US" sz="650" dirty="0"/>
          </a:p>
        </p:txBody>
      </p:sp>
      <p:sp>
        <p:nvSpPr>
          <p:cNvPr id="46" name="Text 35"/>
          <p:cNvSpPr txBox="1"/>
          <p:nvPr/>
        </p:nvSpPr>
        <p:spPr>
          <a:xfrm>
            <a:off x="2103120" y="3429000"/>
            <a:ext cx="1828800" cy="182880"/>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CAM-B2-17 · 23:47:12</a:t>
            </a:r>
            <a:endParaRPr lang="en-US" sz="650" dirty="0"/>
          </a:p>
        </p:txBody>
      </p:sp>
      <p:sp>
        <p:nvSpPr>
          <p:cNvPr id="47" name="Shape 36"/>
          <p:cNvSpPr/>
          <p:nvPr/>
        </p:nvSpPr>
        <p:spPr>
          <a:xfrm>
            <a:off x="2029968" y="3730752"/>
            <a:ext cx="411480" cy="182880"/>
          </a:xfrm>
          <a:prstGeom prst="roundRect">
            <a:avLst>
              <a:gd name="adj" fmla="val 50000"/>
            </a:avLst>
          </a:prstGeom>
          <a:solidFill>
            <a:srgbClr val="E8833A"/>
          </a:solidFill>
          <a:ln/>
        </p:spPr>
      </p:sp>
      <p:sp>
        <p:nvSpPr>
          <p:cNvPr id="48" name="Text 37"/>
          <p:cNvSpPr txBox="1"/>
          <p:nvPr/>
        </p:nvSpPr>
        <p:spPr>
          <a:xfrm>
            <a:off x="2029968" y="3730752"/>
            <a:ext cx="4114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CAO</a:t>
            </a:r>
            <a:endParaRPr lang="en-US" sz="700" dirty="0"/>
          </a:p>
        </p:txBody>
      </p:sp>
      <p:sp>
        <p:nvSpPr>
          <p:cNvPr id="49" name="Text 38"/>
          <p:cNvSpPr txBox="1"/>
          <p:nvPr/>
        </p:nvSpPr>
        <p:spPr>
          <a:xfrm>
            <a:off x="2514600" y="3685032"/>
            <a:ext cx="2331720" cy="27432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Có người ở khu kỹ thuật Z10 ngoài giờ</a:t>
            </a:r>
            <a:endParaRPr lang="en-US" sz="780" dirty="0"/>
          </a:p>
        </p:txBody>
      </p:sp>
      <p:sp>
        <p:nvSpPr>
          <p:cNvPr id="50" name="Text 39"/>
          <p:cNvSpPr txBox="1"/>
          <p:nvPr/>
        </p:nvSpPr>
        <p:spPr>
          <a:xfrm>
            <a:off x="2029968" y="3941064"/>
            <a:ext cx="2798064"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Không có lượt quét vào ra hợp lệ trong 10 phút trước</a:t>
            </a:r>
            <a:endParaRPr lang="en-US" sz="700" dirty="0"/>
          </a:p>
        </p:txBody>
      </p:sp>
      <p:sp>
        <p:nvSpPr>
          <p:cNvPr id="51" name="Shape 40"/>
          <p:cNvSpPr/>
          <p:nvPr/>
        </p:nvSpPr>
        <p:spPr>
          <a:xfrm>
            <a:off x="2029968" y="4160520"/>
            <a:ext cx="914400" cy="256032"/>
          </a:xfrm>
          <a:prstGeom prst="roundRect">
            <a:avLst>
              <a:gd name="adj" fmla="val 28571"/>
            </a:avLst>
          </a:prstGeom>
          <a:solidFill>
            <a:srgbClr val="1B7F79"/>
          </a:solidFill>
          <a:ln/>
        </p:spPr>
      </p:sp>
      <p:sp>
        <p:nvSpPr>
          <p:cNvPr id="52" name="Text 41"/>
          <p:cNvSpPr txBox="1"/>
          <p:nvPr/>
        </p:nvSpPr>
        <p:spPr>
          <a:xfrm>
            <a:off x="2029968" y="4160520"/>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Gọi bảo vệ</a:t>
            </a:r>
            <a:endParaRPr lang="en-US" sz="800" dirty="0"/>
          </a:p>
        </p:txBody>
      </p:sp>
      <p:sp>
        <p:nvSpPr>
          <p:cNvPr id="53" name="Shape 42"/>
          <p:cNvSpPr/>
          <p:nvPr/>
        </p:nvSpPr>
        <p:spPr>
          <a:xfrm>
            <a:off x="2999232" y="4160520"/>
            <a:ext cx="914400" cy="256032"/>
          </a:xfrm>
          <a:prstGeom prst="roundRect">
            <a:avLst>
              <a:gd name="adj" fmla="val 28571"/>
            </a:avLst>
          </a:prstGeom>
          <a:solidFill>
            <a:srgbClr val="FFFFFF"/>
          </a:solidFill>
          <a:ln w="9525">
            <a:solidFill>
              <a:srgbClr val="1B7F79"/>
            </a:solidFill>
            <a:prstDash val="solid"/>
          </a:ln>
        </p:spPr>
      </p:sp>
      <p:sp>
        <p:nvSpPr>
          <p:cNvPr id="54" name="Text 43"/>
          <p:cNvSpPr txBox="1"/>
          <p:nvPr/>
        </p:nvSpPr>
        <p:spPr>
          <a:xfrm>
            <a:off x="2999232" y="4160520"/>
            <a:ext cx="914400" cy="256032"/>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Đã xác minh</a:t>
            </a:r>
            <a:endParaRPr lang="en-US" sz="800" dirty="0"/>
          </a:p>
        </p:txBody>
      </p:sp>
      <p:sp>
        <p:nvSpPr>
          <p:cNvPr id="55" name="Shape 44"/>
          <p:cNvSpPr/>
          <p:nvPr/>
        </p:nvSpPr>
        <p:spPr>
          <a:xfrm>
            <a:off x="3968496" y="4160520"/>
            <a:ext cx="859536" cy="256032"/>
          </a:xfrm>
          <a:prstGeom prst="roundRect">
            <a:avLst>
              <a:gd name="adj" fmla="val 28571"/>
            </a:avLst>
          </a:prstGeom>
          <a:solidFill>
            <a:srgbClr val="FFFFFF"/>
          </a:solidFill>
          <a:ln w="9525">
            <a:solidFill>
              <a:srgbClr val="6B7785"/>
            </a:solidFill>
            <a:prstDash val="solid"/>
          </a:ln>
        </p:spPr>
      </p:sp>
      <p:sp>
        <p:nvSpPr>
          <p:cNvPr id="56" name="Text 45"/>
          <p:cNvSpPr txBox="1"/>
          <p:nvPr/>
        </p:nvSpPr>
        <p:spPr>
          <a:xfrm>
            <a:off x="3968496" y="4160520"/>
            <a:ext cx="859536" cy="256032"/>
          </a:xfrm>
          <a:prstGeom prst="rect">
            <a:avLst/>
          </a:prstGeom>
          <a:noFill/>
          <a:ln/>
        </p:spPr>
        <p:txBody>
          <a:bodyPr wrap="square" lIns="0" tIns="0" rIns="0" bIns="0" rtlCol="0" anchor="ctr"/>
          <a:lstStyle/>
          <a:p>
            <a:pPr algn="ctr" indent="0" marL="0">
              <a:buNone/>
            </a:pPr>
            <a:r>
              <a:rPr lang="en-US" sz="800" b="1" dirty="0">
                <a:solidFill>
                  <a:srgbClr val="6B7785"/>
                </a:solidFill>
                <a:latin typeface="Arial" pitchFamily="34" charset="0"/>
                <a:ea typeface="Arial" pitchFamily="34" charset="-122"/>
                <a:cs typeface="Arial" pitchFamily="34" charset="-120"/>
              </a:rPr>
              <a:t>Báo giả</a:t>
            </a:r>
            <a:endParaRPr lang="en-US" sz="800" dirty="0"/>
          </a:p>
        </p:txBody>
      </p:sp>
      <p:sp>
        <p:nvSpPr>
          <p:cNvPr id="57" name="Shape 46"/>
          <p:cNvSpPr/>
          <p:nvPr/>
        </p:nvSpPr>
        <p:spPr>
          <a:xfrm>
            <a:off x="5047488" y="2130552"/>
            <a:ext cx="3822192" cy="2377440"/>
          </a:xfrm>
          <a:prstGeom prst="roundRect">
            <a:avLst>
              <a:gd name="adj" fmla="val 2308"/>
            </a:avLst>
          </a:prstGeom>
          <a:solidFill>
            <a:srgbClr val="FFFFFF"/>
          </a:solidFill>
          <a:ln w="6350">
            <a:solidFill>
              <a:srgbClr val="D5DCE3"/>
            </a:solidFill>
            <a:prstDash val="solid"/>
          </a:ln>
        </p:spPr>
      </p:sp>
      <p:sp>
        <p:nvSpPr>
          <p:cNvPr id="58" name="Text 47"/>
          <p:cNvSpPr txBox="1"/>
          <p:nvPr/>
        </p:nvSpPr>
        <p:spPr>
          <a:xfrm>
            <a:off x="5157216" y="2185416"/>
            <a:ext cx="3602736"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Nhật ký vào ra</a:t>
            </a:r>
            <a:endParaRPr lang="en-US" sz="850" dirty="0"/>
          </a:p>
        </p:txBody>
      </p:sp>
      <p:sp>
        <p:nvSpPr>
          <p:cNvPr id="59" name="Text 48"/>
          <p:cNvSpPr txBox="1"/>
          <p:nvPr/>
        </p:nvSpPr>
        <p:spPr>
          <a:xfrm>
            <a:off x="5157216" y="2423160"/>
            <a:ext cx="914400" cy="182880"/>
          </a:xfrm>
          <a:prstGeom prst="rect">
            <a:avLst/>
          </a:prstGeom>
          <a:noFill/>
          <a:ln/>
        </p:spPr>
        <p:txBody>
          <a:bodyPr wrap="square" lIns="0" tIns="0" rIns="0" bIns="0" rtlCol="0" anchor="ctr"/>
          <a:lstStyle/>
          <a:p>
            <a:pPr algn="l" indent="0" marL="0">
              <a:buNone/>
            </a:pPr>
            <a:r>
              <a:rPr lang="en-US" sz="680" b="1" dirty="0">
                <a:solidFill>
                  <a:srgbClr val="6B7785"/>
                </a:solidFill>
                <a:latin typeface="Arial" pitchFamily="34" charset="0"/>
                <a:ea typeface="Arial" pitchFamily="34" charset="-122"/>
                <a:cs typeface="Arial" pitchFamily="34" charset="-120"/>
              </a:rPr>
              <a:t>Giờ</a:t>
            </a:r>
            <a:endParaRPr lang="en-US" sz="680" dirty="0"/>
          </a:p>
        </p:txBody>
      </p:sp>
      <p:sp>
        <p:nvSpPr>
          <p:cNvPr id="60" name="Text 49"/>
          <p:cNvSpPr txBox="1"/>
          <p:nvPr/>
        </p:nvSpPr>
        <p:spPr>
          <a:xfrm>
            <a:off x="5550408" y="2423160"/>
            <a:ext cx="914400" cy="182880"/>
          </a:xfrm>
          <a:prstGeom prst="rect">
            <a:avLst/>
          </a:prstGeom>
          <a:noFill/>
          <a:ln/>
        </p:spPr>
        <p:txBody>
          <a:bodyPr wrap="square" lIns="0" tIns="0" rIns="0" bIns="0" rtlCol="0" anchor="ctr"/>
          <a:lstStyle/>
          <a:p>
            <a:pPr algn="l" indent="0" marL="0">
              <a:buNone/>
            </a:pPr>
            <a:r>
              <a:rPr lang="en-US" sz="680" b="1" dirty="0">
                <a:solidFill>
                  <a:srgbClr val="6B7785"/>
                </a:solidFill>
                <a:latin typeface="Arial" pitchFamily="34" charset="0"/>
                <a:ea typeface="Arial" pitchFamily="34" charset="-122"/>
                <a:cs typeface="Arial" pitchFamily="34" charset="-120"/>
              </a:rPr>
              <a:t>Người</a:t>
            </a:r>
            <a:endParaRPr lang="en-US" sz="680" dirty="0"/>
          </a:p>
        </p:txBody>
      </p:sp>
      <p:sp>
        <p:nvSpPr>
          <p:cNvPr id="61" name="Text 50"/>
          <p:cNvSpPr txBox="1"/>
          <p:nvPr/>
        </p:nvSpPr>
        <p:spPr>
          <a:xfrm>
            <a:off x="6419088" y="2423160"/>
            <a:ext cx="914400" cy="182880"/>
          </a:xfrm>
          <a:prstGeom prst="rect">
            <a:avLst/>
          </a:prstGeom>
          <a:noFill/>
          <a:ln/>
        </p:spPr>
        <p:txBody>
          <a:bodyPr wrap="square" lIns="0" tIns="0" rIns="0" bIns="0" rtlCol="0" anchor="ctr"/>
          <a:lstStyle/>
          <a:p>
            <a:pPr algn="l" indent="0" marL="0">
              <a:buNone/>
            </a:pPr>
            <a:r>
              <a:rPr lang="en-US" sz="680" b="1" dirty="0">
                <a:solidFill>
                  <a:srgbClr val="6B7785"/>
                </a:solidFill>
                <a:latin typeface="Arial" pitchFamily="34" charset="0"/>
                <a:ea typeface="Arial" pitchFamily="34" charset="-122"/>
                <a:cs typeface="Arial" pitchFamily="34" charset="-120"/>
              </a:rPr>
              <a:t>Cách xác thực</a:t>
            </a:r>
            <a:endParaRPr lang="en-US" sz="680" dirty="0"/>
          </a:p>
        </p:txBody>
      </p:sp>
      <p:sp>
        <p:nvSpPr>
          <p:cNvPr id="62" name="Text 51"/>
          <p:cNvSpPr txBox="1"/>
          <p:nvPr/>
        </p:nvSpPr>
        <p:spPr>
          <a:xfrm>
            <a:off x="7196328" y="2423160"/>
            <a:ext cx="914400" cy="182880"/>
          </a:xfrm>
          <a:prstGeom prst="rect">
            <a:avLst/>
          </a:prstGeom>
          <a:noFill/>
          <a:ln/>
        </p:spPr>
        <p:txBody>
          <a:bodyPr wrap="square" lIns="0" tIns="0" rIns="0" bIns="0" rtlCol="0" anchor="ctr"/>
          <a:lstStyle/>
          <a:p>
            <a:pPr algn="l" indent="0" marL="0">
              <a:buNone/>
            </a:pPr>
            <a:r>
              <a:rPr lang="en-US" sz="680" b="1" dirty="0">
                <a:solidFill>
                  <a:srgbClr val="6B7785"/>
                </a:solidFill>
                <a:latin typeface="Arial" pitchFamily="34" charset="0"/>
                <a:ea typeface="Arial" pitchFamily="34" charset="-122"/>
                <a:cs typeface="Arial" pitchFamily="34" charset="-120"/>
              </a:rPr>
              <a:t>Điểm vào</a:t>
            </a:r>
            <a:endParaRPr lang="en-US" sz="680" dirty="0"/>
          </a:p>
        </p:txBody>
      </p:sp>
      <p:sp>
        <p:nvSpPr>
          <p:cNvPr id="63" name="Text 52"/>
          <p:cNvSpPr txBox="1"/>
          <p:nvPr/>
        </p:nvSpPr>
        <p:spPr>
          <a:xfrm>
            <a:off x="8549640" y="2423160"/>
            <a:ext cx="914400" cy="182880"/>
          </a:xfrm>
          <a:prstGeom prst="rect">
            <a:avLst/>
          </a:prstGeom>
          <a:noFill/>
          <a:ln/>
        </p:spPr>
        <p:txBody>
          <a:bodyPr wrap="square" lIns="0" tIns="0" rIns="0" bIns="0" rtlCol="0" anchor="ctr"/>
          <a:lstStyle/>
          <a:p>
            <a:pPr algn="l" indent="0" marL="0">
              <a:buNone/>
            </a:pPr>
            <a:endParaRPr lang="en-US" sz="680" dirty="0"/>
          </a:p>
        </p:txBody>
      </p:sp>
      <p:sp>
        <p:nvSpPr>
          <p:cNvPr id="64" name="Shape 53"/>
          <p:cNvSpPr/>
          <p:nvPr/>
        </p:nvSpPr>
        <p:spPr>
          <a:xfrm>
            <a:off x="5138928" y="2889504"/>
            <a:ext cx="3639312" cy="0"/>
          </a:xfrm>
          <a:prstGeom prst="line">
            <a:avLst/>
          </a:prstGeom>
          <a:noFill/>
          <a:ln w="6350">
            <a:solidFill>
              <a:srgbClr val="E4E8EC"/>
            </a:solidFill>
            <a:prstDash val="solid"/>
          </a:ln>
        </p:spPr>
      </p:sp>
      <p:sp>
        <p:nvSpPr>
          <p:cNvPr id="65" name="Text 54"/>
          <p:cNvSpPr txBox="1"/>
          <p:nvPr/>
        </p:nvSpPr>
        <p:spPr>
          <a:xfrm>
            <a:off x="5157216" y="2606040"/>
            <a:ext cx="411480" cy="274320"/>
          </a:xfrm>
          <a:prstGeom prst="rect">
            <a:avLst/>
          </a:prstGeom>
          <a:noFill/>
          <a:ln/>
        </p:spPr>
        <p:txBody>
          <a:bodyPr wrap="square" lIns="0" tIns="0" rIns="0" bIns="0" rtlCol="0" anchor="ctr"/>
          <a:lstStyle/>
          <a:p>
            <a:pPr algn="l" indent="0" marL="0">
              <a:buNone/>
            </a:pPr>
            <a:r>
              <a:rPr lang="en-US" sz="720" dirty="0">
                <a:solidFill>
                  <a:srgbClr val="1A2330"/>
                </a:solidFill>
                <a:latin typeface="Arial" pitchFamily="34" charset="0"/>
                <a:ea typeface="Arial" pitchFamily="34" charset="-122"/>
                <a:cs typeface="Arial" pitchFamily="34" charset="-120"/>
              </a:rPr>
              <a:t>18:02</a:t>
            </a:r>
            <a:endParaRPr lang="en-US" sz="720" dirty="0"/>
          </a:p>
        </p:txBody>
      </p:sp>
      <p:sp>
        <p:nvSpPr>
          <p:cNvPr id="66" name="Text 55"/>
          <p:cNvSpPr txBox="1"/>
          <p:nvPr/>
        </p:nvSpPr>
        <p:spPr>
          <a:xfrm>
            <a:off x="5550408" y="2606040"/>
            <a:ext cx="868680" cy="274320"/>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Cư dân · 4B</a:t>
            </a:r>
            <a:endParaRPr lang="en-US" sz="720" dirty="0"/>
          </a:p>
        </p:txBody>
      </p:sp>
      <p:sp>
        <p:nvSpPr>
          <p:cNvPr id="67" name="Text 56"/>
          <p:cNvSpPr txBox="1"/>
          <p:nvPr/>
        </p:nvSpPr>
        <p:spPr>
          <a:xfrm>
            <a:off x="6419088" y="2606040"/>
            <a:ext cx="777240" cy="27432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Khuôn mặt</a:t>
            </a:r>
            <a:endParaRPr lang="en-US" sz="700" dirty="0"/>
          </a:p>
        </p:txBody>
      </p:sp>
      <p:sp>
        <p:nvSpPr>
          <p:cNvPr id="68" name="Text 57"/>
          <p:cNvSpPr txBox="1"/>
          <p:nvPr/>
        </p:nvSpPr>
        <p:spPr>
          <a:xfrm>
            <a:off x="7196328" y="2606040"/>
            <a:ext cx="1307592" cy="274320"/>
          </a:xfrm>
          <a:prstGeom prst="rect">
            <a:avLst/>
          </a:prstGeom>
          <a:noFill/>
          <a:ln/>
        </p:spPr>
        <p:txBody>
          <a:bodyPr wrap="square" lIns="0" tIns="0" rIns="0" bIns="0" rtlCol="0" anchor="ctr"/>
          <a:lstStyle/>
          <a:p>
            <a:pPr algn="l" indent="0" marL="0">
              <a:buNone/>
            </a:pPr>
            <a:r>
              <a:rPr lang="en-US" sz="700" dirty="0">
                <a:solidFill>
                  <a:srgbClr val="1A2330"/>
                </a:solidFill>
                <a:latin typeface="Arial" pitchFamily="34" charset="0"/>
                <a:ea typeface="Arial" pitchFamily="34" charset="-122"/>
                <a:cs typeface="Arial" pitchFamily="34" charset="-120"/>
              </a:rPr>
              <a:t>Sảnh thang B2 → tầng 4</a:t>
            </a:r>
            <a:endParaRPr lang="en-US" sz="700" dirty="0"/>
          </a:p>
        </p:txBody>
      </p:sp>
      <p:pic>
        <p:nvPicPr>
          <p:cNvPr id="69" name="Image 9" descr="preencoded.png">    </p:cNvPr>
          <p:cNvPicPr>
            <a:picLocks noChangeAspect="1"/>
          </p:cNvPicPr>
          <p:nvPr/>
        </p:nvPicPr>
        <p:blipFill>
          <a:blip r:embed="rId10"/>
          <a:stretch>
            <a:fillRect/>
          </a:stretch>
        </p:blipFill>
        <p:spPr>
          <a:xfrm>
            <a:off x="8577072" y="2670048"/>
            <a:ext cx="146304" cy="146304"/>
          </a:xfrm>
          <a:prstGeom prst="rect">
            <a:avLst/>
          </a:prstGeom>
        </p:spPr>
      </p:pic>
      <p:sp>
        <p:nvSpPr>
          <p:cNvPr id="70" name="Shape 58"/>
          <p:cNvSpPr/>
          <p:nvPr/>
        </p:nvSpPr>
        <p:spPr>
          <a:xfrm>
            <a:off x="5138928" y="3200400"/>
            <a:ext cx="3639312" cy="0"/>
          </a:xfrm>
          <a:prstGeom prst="line">
            <a:avLst/>
          </a:prstGeom>
          <a:noFill/>
          <a:ln w="6350">
            <a:solidFill>
              <a:srgbClr val="E4E8EC"/>
            </a:solidFill>
            <a:prstDash val="solid"/>
          </a:ln>
        </p:spPr>
      </p:sp>
      <p:sp>
        <p:nvSpPr>
          <p:cNvPr id="71" name="Text 59"/>
          <p:cNvSpPr txBox="1"/>
          <p:nvPr/>
        </p:nvSpPr>
        <p:spPr>
          <a:xfrm>
            <a:off x="5157216" y="2916936"/>
            <a:ext cx="411480" cy="274320"/>
          </a:xfrm>
          <a:prstGeom prst="rect">
            <a:avLst/>
          </a:prstGeom>
          <a:noFill/>
          <a:ln/>
        </p:spPr>
        <p:txBody>
          <a:bodyPr wrap="square" lIns="0" tIns="0" rIns="0" bIns="0" rtlCol="0" anchor="ctr"/>
          <a:lstStyle/>
          <a:p>
            <a:pPr algn="l" indent="0" marL="0">
              <a:buNone/>
            </a:pPr>
            <a:r>
              <a:rPr lang="en-US" sz="720" dirty="0">
                <a:solidFill>
                  <a:srgbClr val="1A2330"/>
                </a:solidFill>
                <a:latin typeface="Arial" pitchFamily="34" charset="0"/>
                <a:ea typeface="Arial" pitchFamily="34" charset="-122"/>
                <a:cs typeface="Arial" pitchFamily="34" charset="-120"/>
              </a:rPr>
              <a:t>18:05</a:t>
            </a:r>
            <a:endParaRPr lang="en-US" sz="720" dirty="0"/>
          </a:p>
        </p:txBody>
      </p:sp>
      <p:sp>
        <p:nvSpPr>
          <p:cNvPr id="72" name="Text 60"/>
          <p:cNvSpPr txBox="1"/>
          <p:nvPr/>
        </p:nvSpPr>
        <p:spPr>
          <a:xfrm>
            <a:off x="5550408" y="2916936"/>
            <a:ext cx="868680" cy="274320"/>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Khách của 2C</a:t>
            </a:r>
            <a:endParaRPr lang="en-US" sz="720" dirty="0"/>
          </a:p>
        </p:txBody>
      </p:sp>
      <p:sp>
        <p:nvSpPr>
          <p:cNvPr id="73" name="Text 61"/>
          <p:cNvSpPr txBox="1"/>
          <p:nvPr/>
        </p:nvSpPr>
        <p:spPr>
          <a:xfrm>
            <a:off x="6419088" y="2916936"/>
            <a:ext cx="777240" cy="27432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QR mời</a:t>
            </a:r>
            <a:endParaRPr lang="en-US" sz="700" dirty="0"/>
          </a:p>
        </p:txBody>
      </p:sp>
      <p:sp>
        <p:nvSpPr>
          <p:cNvPr id="74" name="Text 62"/>
          <p:cNvSpPr txBox="1"/>
          <p:nvPr/>
        </p:nvSpPr>
        <p:spPr>
          <a:xfrm>
            <a:off x="7196328" y="2916936"/>
            <a:ext cx="1307592" cy="274320"/>
          </a:xfrm>
          <a:prstGeom prst="rect">
            <a:avLst/>
          </a:prstGeom>
          <a:noFill/>
          <a:ln/>
        </p:spPr>
        <p:txBody>
          <a:bodyPr wrap="square" lIns="0" tIns="0" rIns="0" bIns="0" rtlCol="0" anchor="ctr"/>
          <a:lstStyle/>
          <a:p>
            <a:pPr algn="l" indent="0" marL="0">
              <a:buNone/>
            </a:pPr>
            <a:r>
              <a:rPr lang="en-US" sz="700" dirty="0">
                <a:solidFill>
                  <a:srgbClr val="1A2330"/>
                </a:solidFill>
                <a:latin typeface="Arial" pitchFamily="34" charset="0"/>
                <a:ea typeface="Arial" pitchFamily="34" charset="-122"/>
                <a:cs typeface="Arial" pitchFamily="34" charset="-120"/>
              </a:rPr>
              <a:t>Sảnh T1 → tầng 2</a:t>
            </a:r>
            <a:endParaRPr lang="en-US" sz="700" dirty="0"/>
          </a:p>
        </p:txBody>
      </p:sp>
      <p:pic>
        <p:nvPicPr>
          <p:cNvPr id="75" name="Image 10" descr="preencoded.png">    </p:cNvPr>
          <p:cNvPicPr>
            <a:picLocks noChangeAspect="1"/>
          </p:cNvPicPr>
          <p:nvPr/>
        </p:nvPicPr>
        <p:blipFill>
          <a:blip r:embed="rId11"/>
          <a:stretch>
            <a:fillRect/>
          </a:stretch>
        </p:blipFill>
        <p:spPr>
          <a:xfrm>
            <a:off x="8577072" y="2980944"/>
            <a:ext cx="146304" cy="146304"/>
          </a:xfrm>
          <a:prstGeom prst="rect">
            <a:avLst/>
          </a:prstGeom>
        </p:spPr>
      </p:pic>
      <p:sp>
        <p:nvSpPr>
          <p:cNvPr id="76" name="Shape 63"/>
          <p:cNvSpPr/>
          <p:nvPr/>
        </p:nvSpPr>
        <p:spPr>
          <a:xfrm>
            <a:off x="5138928" y="3511296"/>
            <a:ext cx="3639312" cy="0"/>
          </a:xfrm>
          <a:prstGeom prst="line">
            <a:avLst/>
          </a:prstGeom>
          <a:noFill/>
          <a:ln w="6350">
            <a:solidFill>
              <a:srgbClr val="E4E8EC"/>
            </a:solidFill>
            <a:prstDash val="solid"/>
          </a:ln>
        </p:spPr>
      </p:sp>
      <p:sp>
        <p:nvSpPr>
          <p:cNvPr id="77" name="Text 64"/>
          <p:cNvSpPr txBox="1"/>
          <p:nvPr/>
        </p:nvSpPr>
        <p:spPr>
          <a:xfrm>
            <a:off x="5157216" y="3227832"/>
            <a:ext cx="411480" cy="274320"/>
          </a:xfrm>
          <a:prstGeom prst="rect">
            <a:avLst/>
          </a:prstGeom>
          <a:noFill/>
          <a:ln/>
        </p:spPr>
        <p:txBody>
          <a:bodyPr wrap="square" lIns="0" tIns="0" rIns="0" bIns="0" rtlCol="0" anchor="ctr"/>
          <a:lstStyle/>
          <a:p>
            <a:pPr algn="l" indent="0" marL="0">
              <a:buNone/>
            </a:pPr>
            <a:r>
              <a:rPr lang="en-US" sz="720" dirty="0">
                <a:solidFill>
                  <a:srgbClr val="1A2330"/>
                </a:solidFill>
                <a:latin typeface="Arial" pitchFamily="34" charset="0"/>
                <a:ea typeface="Arial" pitchFamily="34" charset="-122"/>
                <a:cs typeface="Arial" pitchFamily="34" charset="-120"/>
              </a:rPr>
              <a:t>18:07</a:t>
            </a:r>
            <a:endParaRPr lang="en-US" sz="720" dirty="0"/>
          </a:p>
        </p:txBody>
      </p:sp>
      <p:sp>
        <p:nvSpPr>
          <p:cNvPr id="78" name="Text 65"/>
          <p:cNvSpPr txBox="1"/>
          <p:nvPr/>
        </p:nvSpPr>
        <p:spPr>
          <a:xfrm>
            <a:off x="5550408" y="3227832"/>
            <a:ext cx="868680" cy="274320"/>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30A-•••.12</a:t>
            </a:r>
            <a:endParaRPr lang="en-US" sz="720" dirty="0"/>
          </a:p>
        </p:txBody>
      </p:sp>
      <p:sp>
        <p:nvSpPr>
          <p:cNvPr id="79" name="Text 66"/>
          <p:cNvSpPr txBox="1"/>
          <p:nvPr/>
        </p:nvSpPr>
        <p:spPr>
          <a:xfrm>
            <a:off x="6419088" y="3227832"/>
            <a:ext cx="777240" cy="27432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Biển số</a:t>
            </a:r>
            <a:endParaRPr lang="en-US" sz="700" dirty="0"/>
          </a:p>
        </p:txBody>
      </p:sp>
      <p:sp>
        <p:nvSpPr>
          <p:cNvPr id="80" name="Text 67"/>
          <p:cNvSpPr txBox="1"/>
          <p:nvPr/>
        </p:nvSpPr>
        <p:spPr>
          <a:xfrm>
            <a:off x="7196328" y="3227832"/>
            <a:ext cx="1307592" cy="274320"/>
          </a:xfrm>
          <a:prstGeom prst="rect">
            <a:avLst/>
          </a:prstGeom>
          <a:noFill/>
          <a:ln/>
        </p:spPr>
        <p:txBody>
          <a:bodyPr wrap="square" lIns="0" tIns="0" rIns="0" bIns="0" rtlCol="0" anchor="ctr"/>
          <a:lstStyle/>
          <a:p>
            <a:pPr algn="l" indent="0" marL="0">
              <a:buNone/>
            </a:pPr>
            <a:r>
              <a:rPr lang="en-US" sz="700" dirty="0">
                <a:solidFill>
                  <a:srgbClr val="1A2330"/>
                </a:solidFill>
                <a:latin typeface="Arial" pitchFamily="34" charset="0"/>
                <a:ea typeface="Arial" pitchFamily="34" charset="-122"/>
                <a:cs typeface="Arial" pitchFamily="34" charset="-120"/>
              </a:rPr>
              <a:t>Barie vào hầm</a:t>
            </a:r>
            <a:endParaRPr lang="en-US" sz="700" dirty="0"/>
          </a:p>
        </p:txBody>
      </p:sp>
      <p:pic>
        <p:nvPicPr>
          <p:cNvPr id="81" name="Image 11" descr="preencoded.png">    </p:cNvPr>
          <p:cNvPicPr>
            <a:picLocks noChangeAspect="1"/>
          </p:cNvPicPr>
          <p:nvPr/>
        </p:nvPicPr>
        <p:blipFill>
          <a:blip r:embed="rId12"/>
          <a:stretch>
            <a:fillRect/>
          </a:stretch>
        </p:blipFill>
        <p:spPr>
          <a:xfrm>
            <a:off x="8577072" y="3291840"/>
            <a:ext cx="146304" cy="146304"/>
          </a:xfrm>
          <a:prstGeom prst="rect">
            <a:avLst/>
          </a:prstGeom>
        </p:spPr>
      </p:pic>
      <p:sp>
        <p:nvSpPr>
          <p:cNvPr id="82" name="Shape 68"/>
          <p:cNvSpPr/>
          <p:nvPr/>
        </p:nvSpPr>
        <p:spPr>
          <a:xfrm>
            <a:off x="5138928" y="3822192"/>
            <a:ext cx="3639312" cy="0"/>
          </a:xfrm>
          <a:prstGeom prst="line">
            <a:avLst/>
          </a:prstGeom>
          <a:noFill/>
          <a:ln w="6350">
            <a:solidFill>
              <a:srgbClr val="E4E8EC"/>
            </a:solidFill>
            <a:prstDash val="solid"/>
          </a:ln>
        </p:spPr>
      </p:sp>
      <p:sp>
        <p:nvSpPr>
          <p:cNvPr id="83" name="Text 69"/>
          <p:cNvSpPr txBox="1"/>
          <p:nvPr/>
        </p:nvSpPr>
        <p:spPr>
          <a:xfrm>
            <a:off x="5157216" y="3538728"/>
            <a:ext cx="411480" cy="274320"/>
          </a:xfrm>
          <a:prstGeom prst="rect">
            <a:avLst/>
          </a:prstGeom>
          <a:noFill/>
          <a:ln/>
        </p:spPr>
        <p:txBody>
          <a:bodyPr wrap="square" lIns="0" tIns="0" rIns="0" bIns="0" rtlCol="0" anchor="ctr"/>
          <a:lstStyle/>
          <a:p>
            <a:pPr algn="l" indent="0" marL="0">
              <a:buNone/>
            </a:pPr>
            <a:r>
              <a:rPr lang="en-US" sz="720" dirty="0">
                <a:solidFill>
                  <a:srgbClr val="1A2330"/>
                </a:solidFill>
                <a:latin typeface="Arial" pitchFamily="34" charset="0"/>
                <a:ea typeface="Arial" pitchFamily="34" charset="-122"/>
                <a:cs typeface="Arial" pitchFamily="34" charset="-120"/>
              </a:rPr>
              <a:t>18:31</a:t>
            </a:r>
            <a:endParaRPr lang="en-US" sz="720" dirty="0"/>
          </a:p>
        </p:txBody>
      </p:sp>
      <p:sp>
        <p:nvSpPr>
          <p:cNvPr id="84" name="Text 70"/>
          <p:cNvSpPr txBox="1"/>
          <p:nvPr/>
        </p:nvSpPr>
        <p:spPr>
          <a:xfrm>
            <a:off x="5550408" y="3538728"/>
            <a:ext cx="868680" cy="274320"/>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NV nhà hàng</a:t>
            </a:r>
            <a:endParaRPr lang="en-US" sz="720" dirty="0"/>
          </a:p>
        </p:txBody>
      </p:sp>
      <p:sp>
        <p:nvSpPr>
          <p:cNvPr id="85" name="Text 71"/>
          <p:cNvSpPr txBox="1"/>
          <p:nvPr/>
        </p:nvSpPr>
        <p:spPr>
          <a:xfrm>
            <a:off x="6419088" y="3538728"/>
            <a:ext cx="777240" cy="27432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Khuôn mặt + ca</a:t>
            </a:r>
            <a:endParaRPr lang="en-US" sz="700" dirty="0"/>
          </a:p>
        </p:txBody>
      </p:sp>
      <p:sp>
        <p:nvSpPr>
          <p:cNvPr id="86" name="Text 72"/>
          <p:cNvSpPr txBox="1"/>
          <p:nvPr/>
        </p:nvSpPr>
        <p:spPr>
          <a:xfrm>
            <a:off x="7196328" y="3538728"/>
            <a:ext cx="1307592" cy="274320"/>
          </a:xfrm>
          <a:prstGeom prst="rect">
            <a:avLst/>
          </a:prstGeom>
          <a:noFill/>
          <a:ln/>
        </p:spPr>
        <p:txBody>
          <a:bodyPr wrap="square" lIns="0" tIns="0" rIns="0" bIns="0" rtlCol="0" anchor="ctr"/>
          <a:lstStyle/>
          <a:p>
            <a:pPr algn="l" indent="0" marL="0">
              <a:buNone/>
            </a:pPr>
            <a:r>
              <a:rPr lang="en-US" sz="700" dirty="0">
                <a:solidFill>
                  <a:srgbClr val="1A2330"/>
                </a:solidFill>
                <a:latin typeface="Arial" pitchFamily="34" charset="0"/>
                <a:ea typeface="Arial" pitchFamily="34" charset="-122"/>
                <a:cs typeface="Arial" pitchFamily="34" charset="-120"/>
              </a:rPr>
              <a:t>Cửa hậu cần B1</a:t>
            </a:r>
            <a:endParaRPr lang="en-US" sz="700" dirty="0"/>
          </a:p>
        </p:txBody>
      </p:sp>
      <p:pic>
        <p:nvPicPr>
          <p:cNvPr id="87" name="Image 12" descr="preencoded.png">    </p:cNvPr>
          <p:cNvPicPr>
            <a:picLocks noChangeAspect="1"/>
          </p:cNvPicPr>
          <p:nvPr/>
        </p:nvPicPr>
        <p:blipFill>
          <a:blip r:embed="rId13"/>
          <a:stretch>
            <a:fillRect/>
          </a:stretch>
        </p:blipFill>
        <p:spPr>
          <a:xfrm>
            <a:off x="8577072" y="3602736"/>
            <a:ext cx="146304" cy="146304"/>
          </a:xfrm>
          <a:prstGeom prst="rect">
            <a:avLst/>
          </a:prstGeom>
        </p:spPr>
      </p:pic>
      <p:sp>
        <p:nvSpPr>
          <p:cNvPr id="88" name="Shape 73"/>
          <p:cNvSpPr/>
          <p:nvPr/>
        </p:nvSpPr>
        <p:spPr>
          <a:xfrm>
            <a:off x="5138928" y="4133088"/>
            <a:ext cx="3639312" cy="0"/>
          </a:xfrm>
          <a:prstGeom prst="line">
            <a:avLst/>
          </a:prstGeom>
          <a:noFill/>
          <a:ln w="6350">
            <a:solidFill>
              <a:srgbClr val="E4E8EC"/>
            </a:solidFill>
            <a:prstDash val="solid"/>
          </a:ln>
        </p:spPr>
      </p:sp>
      <p:sp>
        <p:nvSpPr>
          <p:cNvPr id="89" name="Text 74"/>
          <p:cNvSpPr txBox="1"/>
          <p:nvPr/>
        </p:nvSpPr>
        <p:spPr>
          <a:xfrm>
            <a:off x="5157216" y="3849624"/>
            <a:ext cx="411480" cy="274320"/>
          </a:xfrm>
          <a:prstGeom prst="rect">
            <a:avLst/>
          </a:prstGeom>
          <a:noFill/>
          <a:ln/>
        </p:spPr>
        <p:txBody>
          <a:bodyPr wrap="square" lIns="0" tIns="0" rIns="0" bIns="0" rtlCol="0" anchor="ctr"/>
          <a:lstStyle/>
          <a:p>
            <a:pPr algn="l" indent="0" marL="0">
              <a:buNone/>
            </a:pPr>
            <a:r>
              <a:rPr lang="en-US" sz="720" dirty="0">
                <a:solidFill>
                  <a:srgbClr val="1A2330"/>
                </a:solidFill>
                <a:latin typeface="Arial" pitchFamily="34" charset="0"/>
                <a:ea typeface="Arial" pitchFamily="34" charset="-122"/>
                <a:cs typeface="Arial" pitchFamily="34" charset="-120"/>
              </a:rPr>
              <a:t>18:40</a:t>
            </a:r>
            <a:endParaRPr lang="en-US" sz="720" dirty="0"/>
          </a:p>
        </p:txBody>
      </p:sp>
      <p:sp>
        <p:nvSpPr>
          <p:cNvPr id="90" name="Text 75"/>
          <p:cNvSpPr txBox="1"/>
          <p:nvPr/>
        </p:nvSpPr>
        <p:spPr>
          <a:xfrm>
            <a:off x="5550408" y="3849624"/>
            <a:ext cx="868680" cy="274320"/>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Không xác định</a:t>
            </a:r>
            <a:endParaRPr lang="en-US" sz="720" dirty="0"/>
          </a:p>
        </p:txBody>
      </p:sp>
      <p:sp>
        <p:nvSpPr>
          <p:cNvPr id="91" name="Text 76"/>
          <p:cNvSpPr txBox="1"/>
          <p:nvPr/>
        </p:nvSpPr>
        <p:spPr>
          <a:xfrm>
            <a:off x="6419088" y="3849624"/>
            <a:ext cx="777240" cy="27432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Thẻ</a:t>
            </a:r>
            <a:endParaRPr lang="en-US" sz="700" dirty="0"/>
          </a:p>
        </p:txBody>
      </p:sp>
      <p:sp>
        <p:nvSpPr>
          <p:cNvPr id="92" name="Text 77"/>
          <p:cNvSpPr txBox="1"/>
          <p:nvPr/>
        </p:nvSpPr>
        <p:spPr>
          <a:xfrm>
            <a:off x="7196328" y="3849624"/>
            <a:ext cx="1307592" cy="274320"/>
          </a:xfrm>
          <a:prstGeom prst="rect">
            <a:avLst/>
          </a:prstGeom>
          <a:noFill/>
          <a:ln/>
        </p:spPr>
        <p:txBody>
          <a:bodyPr wrap="square" lIns="0" tIns="0" rIns="0" bIns="0" rtlCol="0" anchor="ctr"/>
          <a:lstStyle/>
          <a:p>
            <a:pPr algn="l" indent="0" marL="0">
              <a:buNone/>
            </a:pPr>
            <a:r>
              <a:rPr lang="en-US" sz="700" dirty="0">
                <a:solidFill>
                  <a:srgbClr val="1A2330"/>
                </a:solidFill>
                <a:latin typeface="Arial" pitchFamily="34" charset="0"/>
                <a:ea typeface="Arial" pitchFamily="34" charset="-122"/>
                <a:cs typeface="Arial" pitchFamily="34" charset="-120"/>
              </a:rPr>
              <a:t>Cửa kỹ thuật Z10</a:t>
            </a:r>
            <a:endParaRPr lang="en-US" sz="700" dirty="0"/>
          </a:p>
        </p:txBody>
      </p:sp>
      <p:pic>
        <p:nvPicPr>
          <p:cNvPr id="93" name="Image 13" descr="preencoded.png">    </p:cNvPr>
          <p:cNvPicPr>
            <a:picLocks noChangeAspect="1"/>
          </p:cNvPicPr>
          <p:nvPr/>
        </p:nvPicPr>
        <p:blipFill>
          <a:blip r:embed="rId14"/>
          <a:stretch>
            <a:fillRect/>
          </a:stretch>
        </p:blipFill>
        <p:spPr>
          <a:xfrm>
            <a:off x="8577072" y="3913632"/>
            <a:ext cx="146304" cy="146304"/>
          </a:xfrm>
          <a:prstGeom prst="rect">
            <a:avLst/>
          </a:prstGeom>
        </p:spPr>
      </p:pic>
      <p:sp>
        <p:nvSpPr>
          <p:cNvPr id="94" name="Shape 78"/>
          <p:cNvSpPr/>
          <p:nvPr/>
        </p:nvSpPr>
        <p:spPr>
          <a:xfrm>
            <a:off x="5138928" y="4443984"/>
            <a:ext cx="3639312" cy="0"/>
          </a:xfrm>
          <a:prstGeom prst="line">
            <a:avLst/>
          </a:prstGeom>
          <a:noFill/>
          <a:ln w="6350">
            <a:solidFill>
              <a:srgbClr val="E4E8EC"/>
            </a:solidFill>
            <a:prstDash val="solid"/>
          </a:ln>
        </p:spPr>
      </p:sp>
      <p:sp>
        <p:nvSpPr>
          <p:cNvPr id="95" name="Text 79"/>
          <p:cNvSpPr txBox="1"/>
          <p:nvPr/>
        </p:nvSpPr>
        <p:spPr>
          <a:xfrm>
            <a:off x="5157216" y="4160520"/>
            <a:ext cx="411480" cy="274320"/>
          </a:xfrm>
          <a:prstGeom prst="rect">
            <a:avLst/>
          </a:prstGeom>
          <a:noFill/>
          <a:ln/>
        </p:spPr>
        <p:txBody>
          <a:bodyPr wrap="square" lIns="0" tIns="0" rIns="0" bIns="0" rtlCol="0" anchor="ctr"/>
          <a:lstStyle/>
          <a:p>
            <a:pPr algn="l" indent="0" marL="0">
              <a:buNone/>
            </a:pPr>
            <a:r>
              <a:rPr lang="en-US" sz="720" dirty="0">
                <a:solidFill>
                  <a:srgbClr val="1A2330"/>
                </a:solidFill>
                <a:latin typeface="Arial" pitchFamily="34" charset="0"/>
                <a:ea typeface="Arial" pitchFamily="34" charset="-122"/>
                <a:cs typeface="Arial" pitchFamily="34" charset="-120"/>
              </a:rPr>
              <a:t>19:15</a:t>
            </a:r>
            <a:endParaRPr lang="en-US" sz="720" dirty="0"/>
          </a:p>
        </p:txBody>
      </p:sp>
      <p:sp>
        <p:nvSpPr>
          <p:cNvPr id="96" name="Text 80"/>
          <p:cNvSpPr txBox="1"/>
          <p:nvPr/>
        </p:nvSpPr>
        <p:spPr>
          <a:xfrm>
            <a:off x="5550408" y="4160520"/>
            <a:ext cx="868680" cy="274320"/>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Khách bar</a:t>
            </a:r>
            <a:endParaRPr lang="en-US" sz="720" dirty="0"/>
          </a:p>
        </p:txBody>
      </p:sp>
      <p:sp>
        <p:nvSpPr>
          <p:cNvPr id="97" name="Text 81"/>
          <p:cNvSpPr txBox="1"/>
          <p:nvPr/>
        </p:nvSpPr>
        <p:spPr>
          <a:xfrm>
            <a:off x="6419088" y="4160520"/>
            <a:ext cx="777240" cy="27432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Không định danh</a:t>
            </a:r>
            <a:endParaRPr lang="en-US" sz="700" dirty="0"/>
          </a:p>
        </p:txBody>
      </p:sp>
      <p:sp>
        <p:nvSpPr>
          <p:cNvPr id="98" name="Text 82"/>
          <p:cNvSpPr txBox="1"/>
          <p:nvPr/>
        </p:nvSpPr>
        <p:spPr>
          <a:xfrm>
            <a:off x="7196328" y="4160520"/>
            <a:ext cx="1307592" cy="274320"/>
          </a:xfrm>
          <a:prstGeom prst="rect">
            <a:avLst/>
          </a:prstGeom>
          <a:noFill/>
          <a:ln/>
        </p:spPr>
        <p:txBody>
          <a:bodyPr wrap="square" lIns="0" tIns="0" rIns="0" bIns="0" rtlCol="0" anchor="ctr"/>
          <a:lstStyle/>
          <a:p>
            <a:pPr algn="l" indent="0" marL="0">
              <a:buNone/>
            </a:pPr>
            <a:r>
              <a:rPr lang="en-US" sz="700" dirty="0">
                <a:solidFill>
                  <a:srgbClr val="1A2330"/>
                </a:solidFill>
                <a:latin typeface="Arial" pitchFamily="34" charset="0"/>
                <a:ea typeface="Arial" pitchFamily="34" charset="-122"/>
                <a:cs typeface="Arial" pitchFamily="34" charset="-120"/>
              </a:rPr>
              <a:t>Thang công cộng → tum</a:t>
            </a:r>
            <a:endParaRPr lang="en-US" sz="700" dirty="0"/>
          </a:p>
        </p:txBody>
      </p:sp>
      <p:pic>
        <p:nvPicPr>
          <p:cNvPr id="99" name="Image 14" descr="preencoded.png">    </p:cNvPr>
          <p:cNvPicPr>
            <a:picLocks noChangeAspect="1"/>
          </p:cNvPicPr>
          <p:nvPr/>
        </p:nvPicPr>
        <p:blipFill>
          <a:blip r:embed="rId15"/>
          <a:stretch>
            <a:fillRect/>
          </a:stretch>
        </p:blipFill>
        <p:spPr>
          <a:xfrm>
            <a:off x="8577072" y="4224528"/>
            <a:ext cx="146304" cy="146304"/>
          </a:xfrm>
          <a:prstGeom prst="rect">
            <a:avLst/>
          </a:prstGeom>
        </p:spPr>
      </p:pic>
      <p:sp>
        <p:nvSpPr>
          <p:cNvPr id="100" name="Shape 83"/>
          <p:cNvSpPr/>
          <p:nvPr/>
        </p:nvSpPr>
        <p:spPr>
          <a:xfrm>
            <a:off x="1920240" y="4599432"/>
            <a:ext cx="4754880" cy="1737360"/>
          </a:xfrm>
          <a:prstGeom prst="roundRect">
            <a:avLst>
              <a:gd name="adj" fmla="val 3158"/>
            </a:avLst>
          </a:prstGeom>
          <a:solidFill>
            <a:srgbClr val="FFFFFF"/>
          </a:solidFill>
          <a:ln w="6350">
            <a:solidFill>
              <a:srgbClr val="D5DCE3"/>
            </a:solidFill>
            <a:prstDash val="solid"/>
          </a:ln>
        </p:spPr>
      </p:sp>
      <p:sp>
        <p:nvSpPr>
          <p:cNvPr id="101" name="Text 84"/>
          <p:cNvSpPr txBox="1"/>
          <p:nvPr/>
        </p:nvSpPr>
        <p:spPr>
          <a:xfrm>
            <a:off x="2029968" y="4654296"/>
            <a:ext cx="4535424"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Ma trận quyền (rút gọn) · chỉnh trên phần mềm</a:t>
            </a:r>
            <a:endParaRPr lang="en-US" sz="850" dirty="0"/>
          </a:p>
        </p:txBody>
      </p:sp>
      <p:sp>
        <p:nvSpPr>
          <p:cNvPr id="102" name="Text 85"/>
          <p:cNvSpPr txBox="1"/>
          <p:nvPr/>
        </p:nvSpPr>
        <p:spPr>
          <a:xfrm>
            <a:off x="3063240" y="4873752"/>
            <a:ext cx="594360" cy="201168"/>
          </a:xfrm>
          <a:prstGeom prst="rect">
            <a:avLst/>
          </a:prstGeom>
          <a:noFill/>
          <a:ln/>
        </p:spPr>
        <p:txBody>
          <a:bodyPr wrap="square" lIns="0" tIns="0" rIns="0" bIns="0" rtlCol="0" anchor="ctr"/>
          <a:lstStyle/>
          <a:p>
            <a:pPr algn="ctr" indent="0" marL="0">
              <a:buNone/>
            </a:pPr>
            <a:r>
              <a:rPr lang="en-US" sz="650" b="1" dirty="0">
                <a:solidFill>
                  <a:srgbClr val="6B7785"/>
                </a:solidFill>
                <a:latin typeface="Arial" pitchFamily="34" charset="0"/>
                <a:ea typeface="Arial" pitchFamily="34" charset="-122"/>
                <a:cs typeface="Arial" pitchFamily="34" charset="-120"/>
              </a:rPr>
              <a:t>Z1 Sảnh</a:t>
            </a:r>
            <a:endParaRPr lang="en-US" sz="650" dirty="0"/>
          </a:p>
        </p:txBody>
      </p:sp>
      <p:sp>
        <p:nvSpPr>
          <p:cNvPr id="103" name="Text 86"/>
          <p:cNvSpPr txBox="1"/>
          <p:nvPr/>
        </p:nvSpPr>
        <p:spPr>
          <a:xfrm>
            <a:off x="3657600" y="4873752"/>
            <a:ext cx="594360" cy="201168"/>
          </a:xfrm>
          <a:prstGeom prst="rect">
            <a:avLst/>
          </a:prstGeom>
          <a:noFill/>
          <a:ln/>
        </p:spPr>
        <p:txBody>
          <a:bodyPr wrap="square" lIns="0" tIns="0" rIns="0" bIns="0" rtlCol="0" anchor="ctr"/>
          <a:lstStyle/>
          <a:p>
            <a:pPr algn="ctr" indent="0" marL="0">
              <a:buNone/>
            </a:pPr>
            <a:r>
              <a:rPr lang="en-US" sz="650" b="1" dirty="0">
                <a:solidFill>
                  <a:srgbClr val="6B7785"/>
                </a:solidFill>
                <a:latin typeface="Arial" pitchFamily="34" charset="0"/>
                <a:ea typeface="Arial" pitchFamily="34" charset="-122"/>
                <a:cs typeface="Arial" pitchFamily="34" charset="-120"/>
              </a:rPr>
              <a:t>Z2 Hầm</a:t>
            </a:r>
            <a:endParaRPr lang="en-US" sz="650" dirty="0"/>
          </a:p>
        </p:txBody>
      </p:sp>
      <p:sp>
        <p:nvSpPr>
          <p:cNvPr id="104" name="Text 87"/>
          <p:cNvSpPr txBox="1"/>
          <p:nvPr/>
        </p:nvSpPr>
        <p:spPr>
          <a:xfrm>
            <a:off x="4251960" y="4873752"/>
            <a:ext cx="594360" cy="201168"/>
          </a:xfrm>
          <a:prstGeom prst="rect">
            <a:avLst/>
          </a:prstGeom>
          <a:noFill/>
          <a:ln/>
        </p:spPr>
        <p:txBody>
          <a:bodyPr wrap="square" lIns="0" tIns="0" rIns="0" bIns="0" rtlCol="0" anchor="ctr"/>
          <a:lstStyle/>
          <a:p>
            <a:pPr algn="ctr" indent="0" marL="0">
              <a:buNone/>
            </a:pPr>
            <a:r>
              <a:rPr lang="en-US" sz="650" b="1" dirty="0">
                <a:solidFill>
                  <a:srgbClr val="6B7785"/>
                </a:solidFill>
                <a:latin typeface="Arial" pitchFamily="34" charset="0"/>
                <a:ea typeface="Arial" pitchFamily="34" charset="-122"/>
                <a:cs typeface="Arial" pitchFamily="34" charset="-120"/>
              </a:rPr>
              <a:t>Z3 Căn hộ</a:t>
            </a:r>
            <a:endParaRPr lang="en-US" sz="650" dirty="0"/>
          </a:p>
        </p:txBody>
      </p:sp>
      <p:sp>
        <p:nvSpPr>
          <p:cNvPr id="105" name="Text 88"/>
          <p:cNvSpPr txBox="1"/>
          <p:nvPr/>
        </p:nvSpPr>
        <p:spPr>
          <a:xfrm>
            <a:off x="4846320" y="4873752"/>
            <a:ext cx="594360" cy="201168"/>
          </a:xfrm>
          <a:prstGeom prst="rect">
            <a:avLst/>
          </a:prstGeom>
          <a:noFill/>
          <a:ln/>
        </p:spPr>
        <p:txBody>
          <a:bodyPr wrap="square" lIns="0" tIns="0" rIns="0" bIns="0" rtlCol="0" anchor="ctr"/>
          <a:lstStyle/>
          <a:p>
            <a:pPr algn="ctr" indent="0" marL="0">
              <a:buNone/>
            </a:pPr>
            <a:r>
              <a:rPr lang="en-US" sz="650" b="1" dirty="0">
                <a:solidFill>
                  <a:srgbClr val="6B7785"/>
                </a:solidFill>
                <a:latin typeface="Arial" pitchFamily="34" charset="0"/>
                <a:ea typeface="Arial" pitchFamily="34" charset="-122"/>
                <a:cs typeface="Arial" pitchFamily="34" charset="-120"/>
              </a:rPr>
              <a:t>Z8 Nhà hàng</a:t>
            </a:r>
            <a:endParaRPr lang="en-US" sz="650" dirty="0"/>
          </a:p>
        </p:txBody>
      </p:sp>
      <p:sp>
        <p:nvSpPr>
          <p:cNvPr id="106" name="Text 89"/>
          <p:cNvSpPr txBox="1"/>
          <p:nvPr/>
        </p:nvSpPr>
        <p:spPr>
          <a:xfrm>
            <a:off x="5440680" y="4873752"/>
            <a:ext cx="594360" cy="201168"/>
          </a:xfrm>
          <a:prstGeom prst="rect">
            <a:avLst/>
          </a:prstGeom>
          <a:noFill/>
          <a:ln/>
        </p:spPr>
        <p:txBody>
          <a:bodyPr wrap="square" lIns="0" tIns="0" rIns="0" bIns="0" rtlCol="0" anchor="ctr"/>
          <a:lstStyle/>
          <a:p>
            <a:pPr algn="ctr" indent="0" marL="0">
              <a:buNone/>
            </a:pPr>
            <a:r>
              <a:rPr lang="en-US" sz="650" b="1" dirty="0">
                <a:solidFill>
                  <a:srgbClr val="6B7785"/>
                </a:solidFill>
                <a:latin typeface="Arial" pitchFamily="34" charset="0"/>
                <a:ea typeface="Arial" pitchFamily="34" charset="-122"/>
                <a:cs typeface="Arial" pitchFamily="34" charset="-120"/>
              </a:rPr>
              <a:t>Z7 Rooftop</a:t>
            </a:r>
            <a:endParaRPr lang="en-US" sz="650" dirty="0"/>
          </a:p>
        </p:txBody>
      </p:sp>
      <p:sp>
        <p:nvSpPr>
          <p:cNvPr id="107" name="Text 90"/>
          <p:cNvSpPr txBox="1"/>
          <p:nvPr/>
        </p:nvSpPr>
        <p:spPr>
          <a:xfrm>
            <a:off x="6035040" y="4873752"/>
            <a:ext cx="594360" cy="201168"/>
          </a:xfrm>
          <a:prstGeom prst="rect">
            <a:avLst/>
          </a:prstGeom>
          <a:noFill/>
          <a:ln/>
        </p:spPr>
        <p:txBody>
          <a:bodyPr wrap="square" lIns="0" tIns="0" rIns="0" bIns="0" rtlCol="0" anchor="ctr"/>
          <a:lstStyle/>
          <a:p>
            <a:pPr algn="ctr" indent="0" marL="0">
              <a:buNone/>
            </a:pPr>
            <a:r>
              <a:rPr lang="en-US" sz="650" b="1" dirty="0">
                <a:solidFill>
                  <a:srgbClr val="6B7785"/>
                </a:solidFill>
                <a:latin typeface="Arial" pitchFamily="34" charset="0"/>
                <a:ea typeface="Arial" pitchFamily="34" charset="-122"/>
                <a:cs typeface="Arial" pitchFamily="34" charset="-120"/>
              </a:rPr>
              <a:t>Z10 KT</a:t>
            </a:r>
            <a:endParaRPr lang="en-US" sz="650" dirty="0"/>
          </a:p>
        </p:txBody>
      </p:sp>
      <p:sp>
        <p:nvSpPr>
          <p:cNvPr id="108" name="Text 91"/>
          <p:cNvSpPr txBox="1"/>
          <p:nvPr/>
        </p:nvSpPr>
        <p:spPr>
          <a:xfrm>
            <a:off x="2029968" y="5056632"/>
            <a:ext cx="1005840" cy="237744"/>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Cư dân</a:t>
            </a:r>
            <a:endParaRPr lang="en-US" sz="720" dirty="0"/>
          </a:p>
        </p:txBody>
      </p:sp>
      <p:sp>
        <p:nvSpPr>
          <p:cNvPr id="109" name="Shape 92"/>
          <p:cNvSpPr/>
          <p:nvPr/>
        </p:nvSpPr>
        <p:spPr>
          <a:xfrm>
            <a:off x="3081528" y="5074920"/>
            <a:ext cx="557784" cy="201168"/>
          </a:xfrm>
          <a:prstGeom prst="roundRect">
            <a:avLst>
              <a:gd name="adj" fmla="val 18182"/>
            </a:avLst>
          </a:prstGeom>
          <a:solidFill>
            <a:srgbClr val="E8F3F2"/>
          </a:solidFill>
          <a:ln/>
        </p:spPr>
      </p:sp>
      <p:sp>
        <p:nvSpPr>
          <p:cNvPr id="110" name="Text 93"/>
          <p:cNvSpPr txBox="1"/>
          <p:nvPr/>
        </p:nvSpPr>
        <p:spPr>
          <a:xfrm>
            <a:off x="3081528" y="5074920"/>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11" name="Shape 94"/>
          <p:cNvSpPr/>
          <p:nvPr/>
        </p:nvSpPr>
        <p:spPr>
          <a:xfrm>
            <a:off x="3675888" y="5074920"/>
            <a:ext cx="557784" cy="201168"/>
          </a:xfrm>
          <a:prstGeom prst="roundRect">
            <a:avLst>
              <a:gd name="adj" fmla="val 18182"/>
            </a:avLst>
          </a:prstGeom>
          <a:solidFill>
            <a:srgbClr val="E8F3F2"/>
          </a:solidFill>
          <a:ln/>
        </p:spPr>
      </p:sp>
      <p:sp>
        <p:nvSpPr>
          <p:cNvPr id="112" name="Text 95"/>
          <p:cNvSpPr txBox="1"/>
          <p:nvPr/>
        </p:nvSpPr>
        <p:spPr>
          <a:xfrm>
            <a:off x="3675888" y="5074920"/>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13" name="Shape 96"/>
          <p:cNvSpPr/>
          <p:nvPr/>
        </p:nvSpPr>
        <p:spPr>
          <a:xfrm>
            <a:off x="4270248" y="5074920"/>
            <a:ext cx="557784" cy="201168"/>
          </a:xfrm>
          <a:prstGeom prst="roundRect">
            <a:avLst>
              <a:gd name="adj" fmla="val 18182"/>
            </a:avLst>
          </a:prstGeom>
          <a:solidFill>
            <a:srgbClr val="E8F3F2"/>
          </a:solidFill>
          <a:ln/>
        </p:spPr>
      </p:sp>
      <p:sp>
        <p:nvSpPr>
          <p:cNvPr id="114" name="Text 97"/>
          <p:cNvSpPr txBox="1"/>
          <p:nvPr/>
        </p:nvSpPr>
        <p:spPr>
          <a:xfrm>
            <a:off x="4270248" y="5074920"/>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15" name="Shape 98"/>
          <p:cNvSpPr/>
          <p:nvPr/>
        </p:nvSpPr>
        <p:spPr>
          <a:xfrm>
            <a:off x="4864608" y="5074920"/>
            <a:ext cx="557784" cy="201168"/>
          </a:xfrm>
          <a:prstGeom prst="roundRect">
            <a:avLst>
              <a:gd name="adj" fmla="val 18182"/>
            </a:avLst>
          </a:prstGeom>
          <a:solidFill>
            <a:srgbClr val="F2F4F6"/>
          </a:solidFill>
          <a:ln/>
        </p:spPr>
      </p:sp>
      <p:sp>
        <p:nvSpPr>
          <p:cNvPr id="116" name="Text 99"/>
          <p:cNvSpPr txBox="1"/>
          <p:nvPr/>
        </p:nvSpPr>
        <p:spPr>
          <a:xfrm>
            <a:off x="4864608" y="5074920"/>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T</a:t>
            </a:r>
            <a:endParaRPr lang="en-US" sz="700" dirty="0"/>
          </a:p>
        </p:txBody>
      </p:sp>
      <p:sp>
        <p:nvSpPr>
          <p:cNvPr id="117" name="Shape 100"/>
          <p:cNvSpPr/>
          <p:nvPr/>
        </p:nvSpPr>
        <p:spPr>
          <a:xfrm>
            <a:off x="5458968" y="5074920"/>
            <a:ext cx="557784" cy="201168"/>
          </a:xfrm>
          <a:prstGeom prst="roundRect">
            <a:avLst>
              <a:gd name="adj" fmla="val 18182"/>
            </a:avLst>
          </a:prstGeom>
          <a:solidFill>
            <a:srgbClr val="FFF4E5"/>
          </a:solidFill>
          <a:ln/>
        </p:spPr>
      </p:sp>
      <p:sp>
        <p:nvSpPr>
          <p:cNvPr id="118" name="Text 101"/>
          <p:cNvSpPr txBox="1"/>
          <p:nvPr/>
        </p:nvSpPr>
        <p:spPr>
          <a:xfrm>
            <a:off x="5458968" y="5074920"/>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G</a:t>
            </a:r>
            <a:endParaRPr lang="en-US" sz="700" dirty="0"/>
          </a:p>
        </p:txBody>
      </p:sp>
      <p:sp>
        <p:nvSpPr>
          <p:cNvPr id="119" name="Shape 102"/>
          <p:cNvSpPr/>
          <p:nvPr/>
        </p:nvSpPr>
        <p:spPr>
          <a:xfrm>
            <a:off x="6053328" y="5074920"/>
            <a:ext cx="557784" cy="201168"/>
          </a:xfrm>
          <a:prstGeom prst="roundRect">
            <a:avLst>
              <a:gd name="adj" fmla="val 18182"/>
            </a:avLst>
          </a:prstGeom>
          <a:solidFill>
            <a:srgbClr val="FDEDED"/>
          </a:solidFill>
          <a:ln/>
        </p:spPr>
      </p:sp>
      <p:sp>
        <p:nvSpPr>
          <p:cNvPr id="120" name="Text 103"/>
          <p:cNvSpPr txBox="1"/>
          <p:nvPr/>
        </p:nvSpPr>
        <p:spPr>
          <a:xfrm>
            <a:off x="6053328" y="5074920"/>
            <a:ext cx="557784" cy="201168"/>
          </a:xfrm>
          <a:prstGeom prst="rect">
            <a:avLst/>
          </a:prstGeom>
          <a:noFill/>
          <a:ln/>
        </p:spPr>
        <p:txBody>
          <a:bodyPr wrap="square" lIns="0" tIns="0" rIns="0" bIns="0" rtlCol="0" anchor="ctr"/>
          <a:lstStyle/>
          <a:p>
            <a:pPr algn="ctr" indent="0" marL="0">
              <a:buNone/>
            </a:pPr>
            <a:r>
              <a:rPr lang="en-US" sz="700" b="1" dirty="0">
                <a:solidFill>
                  <a:srgbClr val="D64545"/>
                </a:solidFill>
                <a:latin typeface="Arial" pitchFamily="34" charset="0"/>
                <a:ea typeface="Arial" pitchFamily="34" charset="-122"/>
                <a:cs typeface="Arial" pitchFamily="34" charset="-120"/>
              </a:rPr>
              <a:t>✕</a:t>
            </a:r>
            <a:endParaRPr lang="en-US" sz="700" dirty="0"/>
          </a:p>
        </p:txBody>
      </p:sp>
      <p:sp>
        <p:nvSpPr>
          <p:cNvPr id="121" name="Text 104"/>
          <p:cNvSpPr txBox="1"/>
          <p:nvPr/>
        </p:nvSpPr>
        <p:spPr>
          <a:xfrm>
            <a:off x="2029968" y="5312664"/>
            <a:ext cx="1005840" cy="237744"/>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Khách cư dân</a:t>
            </a:r>
            <a:endParaRPr lang="en-US" sz="720" dirty="0"/>
          </a:p>
        </p:txBody>
      </p:sp>
      <p:sp>
        <p:nvSpPr>
          <p:cNvPr id="122" name="Shape 105"/>
          <p:cNvSpPr/>
          <p:nvPr/>
        </p:nvSpPr>
        <p:spPr>
          <a:xfrm>
            <a:off x="3081528" y="5330952"/>
            <a:ext cx="557784" cy="201168"/>
          </a:xfrm>
          <a:prstGeom prst="roundRect">
            <a:avLst>
              <a:gd name="adj" fmla="val 18182"/>
            </a:avLst>
          </a:prstGeom>
          <a:solidFill>
            <a:srgbClr val="FFF4E5"/>
          </a:solidFill>
          <a:ln/>
        </p:spPr>
      </p:sp>
      <p:sp>
        <p:nvSpPr>
          <p:cNvPr id="123" name="Text 106"/>
          <p:cNvSpPr txBox="1"/>
          <p:nvPr/>
        </p:nvSpPr>
        <p:spPr>
          <a:xfrm>
            <a:off x="3081528" y="5330952"/>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QR</a:t>
            </a:r>
            <a:endParaRPr lang="en-US" sz="700" dirty="0"/>
          </a:p>
        </p:txBody>
      </p:sp>
      <p:sp>
        <p:nvSpPr>
          <p:cNvPr id="124" name="Shape 107"/>
          <p:cNvSpPr/>
          <p:nvPr/>
        </p:nvSpPr>
        <p:spPr>
          <a:xfrm>
            <a:off x="3675888" y="5330952"/>
            <a:ext cx="557784" cy="201168"/>
          </a:xfrm>
          <a:prstGeom prst="roundRect">
            <a:avLst>
              <a:gd name="adj" fmla="val 18182"/>
            </a:avLst>
          </a:prstGeom>
          <a:solidFill>
            <a:srgbClr val="FFF4E5"/>
          </a:solidFill>
          <a:ln/>
        </p:spPr>
      </p:sp>
      <p:sp>
        <p:nvSpPr>
          <p:cNvPr id="125" name="Text 108"/>
          <p:cNvSpPr txBox="1"/>
          <p:nvPr/>
        </p:nvSpPr>
        <p:spPr>
          <a:xfrm>
            <a:off x="3675888" y="5330952"/>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QR</a:t>
            </a:r>
            <a:endParaRPr lang="en-US" sz="700" dirty="0"/>
          </a:p>
        </p:txBody>
      </p:sp>
      <p:sp>
        <p:nvSpPr>
          <p:cNvPr id="126" name="Shape 109"/>
          <p:cNvSpPr/>
          <p:nvPr/>
        </p:nvSpPr>
        <p:spPr>
          <a:xfrm>
            <a:off x="4270248" y="5330952"/>
            <a:ext cx="557784" cy="201168"/>
          </a:xfrm>
          <a:prstGeom prst="roundRect">
            <a:avLst>
              <a:gd name="adj" fmla="val 18182"/>
            </a:avLst>
          </a:prstGeom>
          <a:solidFill>
            <a:srgbClr val="FFF4E5"/>
          </a:solidFill>
          <a:ln/>
        </p:spPr>
      </p:sp>
      <p:sp>
        <p:nvSpPr>
          <p:cNvPr id="127" name="Text 110"/>
          <p:cNvSpPr txBox="1"/>
          <p:nvPr/>
        </p:nvSpPr>
        <p:spPr>
          <a:xfrm>
            <a:off x="4270248" y="5330952"/>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QR*</a:t>
            </a:r>
            <a:endParaRPr lang="en-US" sz="700" dirty="0"/>
          </a:p>
        </p:txBody>
      </p:sp>
      <p:sp>
        <p:nvSpPr>
          <p:cNvPr id="128" name="Shape 111"/>
          <p:cNvSpPr/>
          <p:nvPr/>
        </p:nvSpPr>
        <p:spPr>
          <a:xfrm>
            <a:off x="4864608" y="5330952"/>
            <a:ext cx="557784" cy="201168"/>
          </a:xfrm>
          <a:prstGeom prst="roundRect">
            <a:avLst>
              <a:gd name="adj" fmla="val 18182"/>
            </a:avLst>
          </a:prstGeom>
          <a:solidFill>
            <a:srgbClr val="F2F4F6"/>
          </a:solidFill>
          <a:ln/>
        </p:spPr>
      </p:sp>
      <p:sp>
        <p:nvSpPr>
          <p:cNvPr id="129" name="Text 112"/>
          <p:cNvSpPr txBox="1"/>
          <p:nvPr/>
        </p:nvSpPr>
        <p:spPr>
          <a:xfrm>
            <a:off x="4864608" y="5330952"/>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T</a:t>
            </a:r>
            <a:endParaRPr lang="en-US" sz="700" dirty="0"/>
          </a:p>
        </p:txBody>
      </p:sp>
      <p:sp>
        <p:nvSpPr>
          <p:cNvPr id="130" name="Shape 113"/>
          <p:cNvSpPr/>
          <p:nvPr/>
        </p:nvSpPr>
        <p:spPr>
          <a:xfrm>
            <a:off x="5458968" y="5330952"/>
            <a:ext cx="557784" cy="201168"/>
          </a:xfrm>
          <a:prstGeom prst="roundRect">
            <a:avLst>
              <a:gd name="adj" fmla="val 18182"/>
            </a:avLst>
          </a:prstGeom>
          <a:solidFill>
            <a:srgbClr val="FFF4E5"/>
          </a:solidFill>
          <a:ln/>
        </p:spPr>
      </p:sp>
      <p:sp>
        <p:nvSpPr>
          <p:cNvPr id="131" name="Text 114"/>
          <p:cNvSpPr txBox="1"/>
          <p:nvPr/>
        </p:nvSpPr>
        <p:spPr>
          <a:xfrm>
            <a:off x="5458968" y="5330952"/>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G</a:t>
            </a:r>
            <a:endParaRPr lang="en-US" sz="700" dirty="0"/>
          </a:p>
        </p:txBody>
      </p:sp>
      <p:sp>
        <p:nvSpPr>
          <p:cNvPr id="132" name="Shape 115"/>
          <p:cNvSpPr/>
          <p:nvPr/>
        </p:nvSpPr>
        <p:spPr>
          <a:xfrm>
            <a:off x="6053328" y="5330952"/>
            <a:ext cx="557784" cy="201168"/>
          </a:xfrm>
          <a:prstGeom prst="roundRect">
            <a:avLst>
              <a:gd name="adj" fmla="val 18182"/>
            </a:avLst>
          </a:prstGeom>
          <a:solidFill>
            <a:srgbClr val="FDEDED"/>
          </a:solidFill>
          <a:ln/>
        </p:spPr>
      </p:sp>
      <p:sp>
        <p:nvSpPr>
          <p:cNvPr id="133" name="Text 116"/>
          <p:cNvSpPr txBox="1"/>
          <p:nvPr/>
        </p:nvSpPr>
        <p:spPr>
          <a:xfrm>
            <a:off x="6053328" y="5330952"/>
            <a:ext cx="557784" cy="201168"/>
          </a:xfrm>
          <a:prstGeom prst="rect">
            <a:avLst/>
          </a:prstGeom>
          <a:noFill/>
          <a:ln/>
        </p:spPr>
        <p:txBody>
          <a:bodyPr wrap="square" lIns="0" tIns="0" rIns="0" bIns="0" rtlCol="0" anchor="ctr"/>
          <a:lstStyle/>
          <a:p>
            <a:pPr algn="ctr" indent="0" marL="0">
              <a:buNone/>
            </a:pPr>
            <a:r>
              <a:rPr lang="en-US" sz="700" b="1" dirty="0">
                <a:solidFill>
                  <a:srgbClr val="D64545"/>
                </a:solidFill>
                <a:latin typeface="Arial" pitchFamily="34" charset="0"/>
                <a:ea typeface="Arial" pitchFamily="34" charset="-122"/>
                <a:cs typeface="Arial" pitchFamily="34" charset="-120"/>
              </a:rPr>
              <a:t>✕</a:t>
            </a:r>
            <a:endParaRPr lang="en-US" sz="700" dirty="0"/>
          </a:p>
        </p:txBody>
      </p:sp>
      <p:sp>
        <p:nvSpPr>
          <p:cNvPr id="134" name="Text 117"/>
          <p:cNvSpPr txBox="1"/>
          <p:nvPr/>
        </p:nvSpPr>
        <p:spPr>
          <a:xfrm>
            <a:off x="2029968" y="5568696"/>
            <a:ext cx="1005840" cy="237744"/>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Khách nhà hàng</a:t>
            </a:r>
            <a:endParaRPr lang="en-US" sz="720" dirty="0"/>
          </a:p>
        </p:txBody>
      </p:sp>
      <p:sp>
        <p:nvSpPr>
          <p:cNvPr id="135" name="Shape 118"/>
          <p:cNvSpPr/>
          <p:nvPr/>
        </p:nvSpPr>
        <p:spPr>
          <a:xfrm>
            <a:off x="3081528" y="5586984"/>
            <a:ext cx="557784" cy="201168"/>
          </a:xfrm>
          <a:prstGeom prst="roundRect">
            <a:avLst>
              <a:gd name="adj" fmla="val 18182"/>
            </a:avLst>
          </a:prstGeom>
          <a:solidFill>
            <a:srgbClr val="F2F4F6"/>
          </a:solidFill>
          <a:ln/>
        </p:spPr>
      </p:sp>
      <p:sp>
        <p:nvSpPr>
          <p:cNvPr id="136" name="Text 119"/>
          <p:cNvSpPr txBox="1"/>
          <p:nvPr/>
        </p:nvSpPr>
        <p:spPr>
          <a:xfrm>
            <a:off x="3081528" y="5586984"/>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T</a:t>
            </a:r>
            <a:endParaRPr lang="en-US" sz="700" dirty="0"/>
          </a:p>
        </p:txBody>
      </p:sp>
      <p:sp>
        <p:nvSpPr>
          <p:cNvPr id="137" name="Shape 120"/>
          <p:cNvSpPr/>
          <p:nvPr/>
        </p:nvSpPr>
        <p:spPr>
          <a:xfrm>
            <a:off x="3675888" y="5586984"/>
            <a:ext cx="557784" cy="201168"/>
          </a:xfrm>
          <a:prstGeom prst="roundRect">
            <a:avLst>
              <a:gd name="adj" fmla="val 18182"/>
            </a:avLst>
          </a:prstGeom>
          <a:solidFill>
            <a:srgbClr val="FFF4E5"/>
          </a:solidFill>
          <a:ln/>
        </p:spPr>
      </p:sp>
      <p:sp>
        <p:nvSpPr>
          <p:cNvPr id="138" name="Text 121"/>
          <p:cNvSpPr txBox="1"/>
          <p:nvPr/>
        </p:nvSpPr>
        <p:spPr>
          <a:xfrm>
            <a:off x="3675888" y="5586984"/>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G</a:t>
            </a:r>
            <a:endParaRPr lang="en-US" sz="700" dirty="0"/>
          </a:p>
        </p:txBody>
      </p:sp>
      <p:sp>
        <p:nvSpPr>
          <p:cNvPr id="139" name="Shape 122"/>
          <p:cNvSpPr/>
          <p:nvPr/>
        </p:nvSpPr>
        <p:spPr>
          <a:xfrm>
            <a:off x="4270248" y="5586984"/>
            <a:ext cx="557784" cy="201168"/>
          </a:xfrm>
          <a:prstGeom prst="roundRect">
            <a:avLst>
              <a:gd name="adj" fmla="val 18182"/>
            </a:avLst>
          </a:prstGeom>
          <a:solidFill>
            <a:srgbClr val="FDEDED"/>
          </a:solidFill>
          <a:ln/>
        </p:spPr>
      </p:sp>
      <p:sp>
        <p:nvSpPr>
          <p:cNvPr id="140" name="Text 123"/>
          <p:cNvSpPr txBox="1"/>
          <p:nvPr/>
        </p:nvSpPr>
        <p:spPr>
          <a:xfrm>
            <a:off x="4270248" y="5586984"/>
            <a:ext cx="557784" cy="201168"/>
          </a:xfrm>
          <a:prstGeom prst="rect">
            <a:avLst/>
          </a:prstGeom>
          <a:noFill/>
          <a:ln/>
        </p:spPr>
        <p:txBody>
          <a:bodyPr wrap="square" lIns="0" tIns="0" rIns="0" bIns="0" rtlCol="0" anchor="ctr"/>
          <a:lstStyle/>
          <a:p>
            <a:pPr algn="ctr" indent="0" marL="0">
              <a:buNone/>
            </a:pPr>
            <a:r>
              <a:rPr lang="en-US" sz="700" b="1" dirty="0">
                <a:solidFill>
                  <a:srgbClr val="D64545"/>
                </a:solidFill>
                <a:latin typeface="Arial" pitchFamily="34" charset="0"/>
                <a:ea typeface="Arial" pitchFamily="34" charset="-122"/>
                <a:cs typeface="Arial" pitchFamily="34" charset="-120"/>
              </a:rPr>
              <a:t>✕</a:t>
            </a:r>
            <a:endParaRPr lang="en-US" sz="700" dirty="0"/>
          </a:p>
        </p:txBody>
      </p:sp>
      <p:sp>
        <p:nvSpPr>
          <p:cNvPr id="141" name="Shape 124"/>
          <p:cNvSpPr/>
          <p:nvPr/>
        </p:nvSpPr>
        <p:spPr>
          <a:xfrm>
            <a:off x="4864608" y="5586984"/>
            <a:ext cx="557784" cy="201168"/>
          </a:xfrm>
          <a:prstGeom prst="roundRect">
            <a:avLst>
              <a:gd name="adj" fmla="val 18182"/>
            </a:avLst>
          </a:prstGeom>
          <a:solidFill>
            <a:srgbClr val="FFF4E5"/>
          </a:solidFill>
          <a:ln/>
        </p:spPr>
      </p:sp>
      <p:sp>
        <p:nvSpPr>
          <p:cNvPr id="142" name="Text 125"/>
          <p:cNvSpPr txBox="1"/>
          <p:nvPr/>
        </p:nvSpPr>
        <p:spPr>
          <a:xfrm>
            <a:off x="4864608" y="5586984"/>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G</a:t>
            </a:r>
            <a:endParaRPr lang="en-US" sz="700" dirty="0"/>
          </a:p>
        </p:txBody>
      </p:sp>
      <p:sp>
        <p:nvSpPr>
          <p:cNvPr id="143" name="Shape 126"/>
          <p:cNvSpPr/>
          <p:nvPr/>
        </p:nvSpPr>
        <p:spPr>
          <a:xfrm>
            <a:off x="5458968" y="5586984"/>
            <a:ext cx="557784" cy="201168"/>
          </a:xfrm>
          <a:prstGeom prst="roundRect">
            <a:avLst>
              <a:gd name="adj" fmla="val 18182"/>
            </a:avLst>
          </a:prstGeom>
          <a:solidFill>
            <a:srgbClr val="FFF4E5"/>
          </a:solidFill>
          <a:ln/>
        </p:spPr>
      </p:sp>
      <p:sp>
        <p:nvSpPr>
          <p:cNvPr id="144" name="Text 127"/>
          <p:cNvSpPr txBox="1"/>
          <p:nvPr/>
        </p:nvSpPr>
        <p:spPr>
          <a:xfrm>
            <a:off x="5458968" y="5586984"/>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G</a:t>
            </a:r>
            <a:endParaRPr lang="en-US" sz="700" dirty="0"/>
          </a:p>
        </p:txBody>
      </p:sp>
      <p:sp>
        <p:nvSpPr>
          <p:cNvPr id="145" name="Shape 128"/>
          <p:cNvSpPr/>
          <p:nvPr/>
        </p:nvSpPr>
        <p:spPr>
          <a:xfrm>
            <a:off x="6053328" y="5586984"/>
            <a:ext cx="557784" cy="201168"/>
          </a:xfrm>
          <a:prstGeom prst="roundRect">
            <a:avLst>
              <a:gd name="adj" fmla="val 18182"/>
            </a:avLst>
          </a:prstGeom>
          <a:solidFill>
            <a:srgbClr val="FDEDED"/>
          </a:solidFill>
          <a:ln/>
        </p:spPr>
      </p:sp>
      <p:sp>
        <p:nvSpPr>
          <p:cNvPr id="146" name="Text 129"/>
          <p:cNvSpPr txBox="1"/>
          <p:nvPr/>
        </p:nvSpPr>
        <p:spPr>
          <a:xfrm>
            <a:off x="6053328" y="5586984"/>
            <a:ext cx="557784" cy="201168"/>
          </a:xfrm>
          <a:prstGeom prst="rect">
            <a:avLst/>
          </a:prstGeom>
          <a:noFill/>
          <a:ln/>
        </p:spPr>
        <p:txBody>
          <a:bodyPr wrap="square" lIns="0" tIns="0" rIns="0" bIns="0" rtlCol="0" anchor="ctr"/>
          <a:lstStyle/>
          <a:p>
            <a:pPr algn="ctr" indent="0" marL="0">
              <a:buNone/>
            </a:pPr>
            <a:r>
              <a:rPr lang="en-US" sz="700" b="1" dirty="0">
                <a:solidFill>
                  <a:srgbClr val="D64545"/>
                </a:solidFill>
                <a:latin typeface="Arial" pitchFamily="34" charset="0"/>
                <a:ea typeface="Arial" pitchFamily="34" charset="-122"/>
                <a:cs typeface="Arial" pitchFamily="34" charset="-120"/>
              </a:rPr>
              <a:t>✕</a:t>
            </a:r>
            <a:endParaRPr lang="en-US" sz="700" dirty="0"/>
          </a:p>
        </p:txBody>
      </p:sp>
      <p:sp>
        <p:nvSpPr>
          <p:cNvPr id="147" name="Text 130"/>
          <p:cNvSpPr txBox="1"/>
          <p:nvPr/>
        </p:nvSpPr>
        <p:spPr>
          <a:xfrm>
            <a:off x="2029968" y="5824728"/>
            <a:ext cx="1005840" cy="237744"/>
          </a:xfrm>
          <a:prstGeom prst="rect">
            <a:avLst/>
          </a:prstGeom>
          <a:noFill/>
          <a:ln/>
        </p:spPr>
        <p:txBody>
          <a:bodyPr wrap="square" lIns="0" tIns="0" rIns="0" bIns="0" rtlCol="0" anchor="ctr"/>
          <a:lstStyle/>
          <a:p>
            <a:pPr algn="l" indent="0" marL="0">
              <a:buNone/>
            </a:pPr>
            <a:r>
              <a:rPr lang="en-US" sz="720" b="1" dirty="0">
                <a:solidFill>
                  <a:srgbClr val="1A2330"/>
                </a:solidFill>
                <a:latin typeface="Arial" pitchFamily="34" charset="0"/>
                <a:ea typeface="Arial" pitchFamily="34" charset="-122"/>
                <a:cs typeface="Arial" pitchFamily="34" charset="-120"/>
              </a:rPr>
              <a:t>BQL, kỹ thuật</a:t>
            </a:r>
            <a:endParaRPr lang="en-US" sz="720" dirty="0"/>
          </a:p>
        </p:txBody>
      </p:sp>
      <p:sp>
        <p:nvSpPr>
          <p:cNvPr id="148" name="Shape 131"/>
          <p:cNvSpPr/>
          <p:nvPr/>
        </p:nvSpPr>
        <p:spPr>
          <a:xfrm>
            <a:off x="3081528" y="5843016"/>
            <a:ext cx="557784" cy="201168"/>
          </a:xfrm>
          <a:prstGeom prst="roundRect">
            <a:avLst>
              <a:gd name="adj" fmla="val 18182"/>
            </a:avLst>
          </a:prstGeom>
          <a:solidFill>
            <a:srgbClr val="E8F3F2"/>
          </a:solidFill>
          <a:ln/>
        </p:spPr>
      </p:sp>
      <p:sp>
        <p:nvSpPr>
          <p:cNvPr id="149" name="Text 132"/>
          <p:cNvSpPr txBox="1"/>
          <p:nvPr/>
        </p:nvSpPr>
        <p:spPr>
          <a:xfrm>
            <a:off x="3081528" y="5843016"/>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50" name="Shape 133"/>
          <p:cNvSpPr/>
          <p:nvPr/>
        </p:nvSpPr>
        <p:spPr>
          <a:xfrm>
            <a:off x="3675888" y="5843016"/>
            <a:ext cx="557784" cy="201168"/>
          </a:xfrm>
          <a:prstGeom prst="roundRect">
            <a:avLst>
              <a:gd name="adj" fmla="val 18182"/>
            </a:avLst>
          </a:prstGeom>
          <a:solidFill>
            <a:srgbClr val="E8F3F2"/>
          </a:solidFill>
          <a:ln/>
        </p:spPr>
      </p:sp>
      <p:sp>
        <p:nvSpPr>
          <p:cNvPr id="151" name="Text 134"/>
          <p:cNvSpPr txBox="1"/>
          <p:nvPr/>
        </p:nvSpPr>
        <p:spPr>
          <a:xfrm>
            <a:off x="3675888" y="5843016"/>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52" name="Shape 135"/>
          <p:cNvSpPr/>
          <p:nvPr/>
        </p:nvSpPr>
        <p:spPr>
          <a:xfrm>
            <a:off x="4270248" y="5843016"/>
            <a:ext cx="557784" cy="201168"/>
          </a:xfrm>
          <a:prstGeom prst="roundRect">
            <a:avLst>
              <a:gd name="adj" fmla="val 18182"/>
            </a:avLst>
          </a:prstGeom>
          <a:solidFill>
            <a:srgbClr val="E8F3F2"/>
          </a:solidFill>
          <a:ln/>
        </p:spPr>
      </p:sp>
      <p:sp>
        <p:nvSpPr>
          <p:cNvPr id="153" name="Text 136"/>
          <p:cNvSpPr txBox="1"/>
          <p:nvPr/>
        </p:nvSpPr>
        <p:spPr>
          <a:xfrm>
            <a:off x="4270248" y="5843016"/>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54" name="Shape 137"/>
          <p:cNvSpPr/>
          <p:nvPr/>
        </p:nvSpPr>
        <p:spPr>
          <a:xfrm>
            <a:off x="4864608" y="5843016"/>
            <a:ext cx="557784" cy="201168"/>
          </a:xfrm>
          <a:prstGeom prst="roundRect">
            <a:avLst>
              <a:gd name="adj" fmla="val 18182"/>
            </a:avLst>
          </a:prstGeom>
          <a:solidFill>
            <a:srgbClr val="E8F3F2"/>
          </a:solidFill>
          <a:ln/>
        </p:spPr>
      </p:sp>
      <p:sp>
        <p:nvSpPr>
          <p:cNvPr id="155" name="Text 138"/>
          <p:cNvSpPr txBox="1"/>
          <p:nvPr/>
        </p:nvSpPr>
        <p:spPr>
          <a:xfrm>
            <a:off x="4864608" y="5843016"/>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56" name="Shape 139"/>
          <p:cNvSpPr/>
          <p:nvPr/>
        </p:nvSpPr>
        <p:spPr>
          <a:xfrm>
            <a:off x="5458968" y="5843016"/>
            <a:ext cx="557784" cy="201168"/>
          </a:xfrm>
          <a:prstGeom prst="roundRect">
            <a:avLst>
              <a:gd name="adj" fmla="val 18182"/>
            </a:avLst>
          </a:prstGeom>
          <a:solidFill>
            <a:srgbClr val="E8F3F2"/>
          </a:solidFill>
          <a:ln/>
        </p:spPr>
      </p:sp>
      <p:sp>
        <p:nvSpPr>
          <p:cNvPr id="157" name="Text 140"/>
          <p:cNvSpPr txBox="1"/>
          <p:nvPr/>
        </p:nvSpPr>
        <p:spPr>
          <a:xfrm>
            <a:off x="5458968" y="5843016"/>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58" name="Shape 141"/>
          <p:cNvSpPr/>
          <p:nvPr/>
        </p:nvSpPr>
        <p:spPr>
          <a:xfrm>
            <a:off x="6053328" y="5843016"/>
            <a:ext cx="557784" cy="201168"/>
          </a:xfrm>
          <a:prstGeom prst="roundRect">
            <a:avLst>
              <a:gd name="adj" fmla="val 18182"/>
            </a:avLst>
          </a:prstGeom>
          <a:solidFill>
            <a:srgbClr val="E8F3F2"/>
          </a:solidFill>
          <a:ln/>
        </p:spPr>
      </p:sp>
      <p:sp>
        <p:nvSpPr>
          <p:cNvPr id="159" name="Text 142"/>
          <p:cNvSpPr txBox="1"/>
          <p:nvPr/>
        </p:nvSpPr>
        <p:spPr>
          <a:xfrm>
            <a:off x="6053328" y="5843016"/>
            <a:ext cx="557784" cy="201168"/>
          </a:xfrm>
          <a:prstGeom prst="rect">
            <a:avLst/>
          </a:prstGeom>
          <a:noFill/>
          <a:ln/>
        </p:spPr>
        <p:txBody>
          <a:bodyPr wrap="square" lIns="0" tIns="0" rIns="0" bIns="0" rtlCol="0" anchor="ctr"/>
          <a:lstStyle/>
          <a:p>
            <a:pPr algn="ctr" indent="0" marL="0">
              <a:buNone/>
            </a:pPr>
            <a:r>
              <a:rPr lang="en-US" sz="700" b="1" dirty="0">
                <a:solidFill>
                  <a:srgbClr val="1A2330"/>
                </a:solidFill>
                <a:latin typeface="Arial" pitchFamily="34" charset="0"/>
                <a:ea typeface="Arial" pitchFamily="34" charset="-122"/>
                <a:cs typeface="Arial" pitchFamily="34" charset="-120"/>
              </a:rPr>
              <a:t>M</a:t>
            </a:r>
            <a:endParaRPr lang="en-US" sz="700" dirty="0"/>
          </a:p>
        </p:txBody>
      </p:sp>
      <p:sp>
        <p:nvSpPr>
          <p:cNvPr id="160" name="Text 143"/>
          <p:cNvSpPr txBox="1"/>
          <p:nvPr/>
        </p:nvSpPr>
        <p:spPr>
          <a:xfrm>
            <a:off x="2029968" y="6117336"/>
            <a:ext cx="4572000" cy="182880"/>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M: khuôn mặt · QR: mã mời · G: trong giờ · T: tự do · *: chỉ tầng được phép</a:t>
            </a:r>
            <a:endParaRPr lang="en-US" sz="650" dirty="0"/>
          </a:p>
        </p:txBody>
      </p:sp>
      <p:sp>
        <p:nvSpPr>
          <p:cNvPr id="161" name="Shape 144"/>
          <p:cNvSpPr/>
          <p:nvPr/>
        </p:nvSpPr>
        <p:spPr>
          <a:xfrm>
            <a:off x="6784848" y="4599432"/>
            <a:ext cx="2084832" cy="1737360"/>
          </a:xfrm>
          <a:prstGeom prst="roundRect">
            <a:avLst>
              <a:gd name="adj" fmla="val 3158"/>
            </a:avLst>
          </a:prstGeom>
          <a:solidFill>
            <a:srgbClr val="FFFFFF"/>
          </a:solidFill>
          <a:ln w="6350">
            <a:solidFill>
              <a:srgbClr val="D5DCE3"/>
            </a:solidFill>
            <a:prstDash val="solid"/>
          </a:ln>
        </p:spPr>
      </p:sp>
      <p:sp>
        <p:nvSpPr>
          <p:cNvPr id="162" name="Text 145"/>
          <p:cNvSpPr txBox="1"/>
          <p:nvPr/>
        </p:nvSpPr>
        <p:spPr>
          <a:xfrm>
            <a:off x="6894576" y="4654296"/>
            <a:ext cx="1865376"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Sức chứa theo khu</a:t>
            </a:r>
            <a:endParaRPr lang="en-US" sz="850" dirty="0"/>
          </a:p>
        </p:txBody>
      </p:sp>
      <p:sp>
        <p:nvSpPr>
          <p:cNvPr id="163" name="Text 146"/>
          <p:cNvSpPr txBox="1"/>
          <p:nvPr/>
        </p:nvSpPr>
        <p:spPr>
          <a:xfrm>
            <a:off x="6894576" y="4928616"/>
            <a:ext cx="118872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Rooftop</a:t>
            </a:r>
            <a:endParaRPr lang="en-US" sz="780" dirty="0"/>
          </a:p>
        </p:txBody>
      </p:sp>
      <p:sp>
        <p:nvSpPr>
          <p:cNvPr id="164" name="Text 147"/>
          <p:cNvSpPr txBox="1"/>
          <p:nvPr/>
        </p:nvSpPr>
        <p:spPr>
          <a:xfrm>
            <a:off x="8321040" y="4928616"/>
            <a:ext cx="457200" cy="201168"/>
          </a:xfrm>
          <a:prstGeom prst="rect">
            <a:avLst/>
          </a:prstGeom>
          <a:noFill/>
          <a:ln/>
        </p:spPr>
        <p:txBody>
          <a:bodyPr wrap="square" lIns="0" tIns="0" rIns="0" bIns="0" rtlCol="0" anchor="ctr"/>
          <a:lstStyle/>
          <a:p>
            <a:pPr algn="r" indent="0" marL="0">
              <a:buNone/>
            </a:pPr>
            <a:r>
              <a:rPr lang="en-US" sz="800" b="1" dirty="0">
                <a:solidFill>
                  <a:srgbClr val="E8833A"/>
                </a:solidFill>
                <a:latin typeface="Arial" pitchFamily="34" charset="0"/>
                <a:ea typeface="Arial" pitchFamily="34" charset="-122"/>
                <a:cs typeface="Arial" pitchFamily="34" charset="-120"/>
              </a:rPr>
              <a:t>90%</a:t>
            </a:r>
            <a:endParaRPr lang="en-US" sz="800" dirty="0"/>
          </a:p>
        </p:txBody>
      </p:sp>
      <p:sp>
        <p:nvSpPr>
          <p:cNvPr id="165" name="Shape 148"/>
          <p:cNvSpPr/>
          <p:nvPr/>
        </p:nvSpPr>
        <p:spPr>
          <a:xfrm>
            <a:off x="6894576" y="5175504"/>
            <a:ext cx="1865376" cy="109728"/>
          </a:xfrm>
          <a:prstGeom prst="roundRect">
            <a:avLst>
              <a:gd name="adj" fmla="val 41667"/>
            </a:avLst>
          </a:prstGeom>
          <a:solidFill>
            <a:srgbClr val="E4E8EC"/>
          </a:solidFill>
          <a:ln/>
        </p:spPr>
      </p:sp>
      <p:sp>
        <p:nvSpPr>
          <p:cNvPr id="166" name="Shape 149"/>
          <p:cNvSpPr/>
          <p:nvPr/>
        </p:nvSpPr>
        <p:spPr>
          <a:xfrm>
            <a:off x="6894576" y="5175504"/>
            <a:ext cx="1678838" cy="109728"/>
          </a:xfrm>
          <a:prstGeom prst="roundRect">
            <a:avLst>
              <a:gd name="adj" fmla="val 41667"/>
            </a:avLst>
          </a:prstGeom>
          <a:solidFill>
            <a:srgbClr val="E8833A"/>
          </a:solidFill>
          <a:ln/>
        </p:spPr>
      </p:sp>
      <p:sp>
        <p:nvSpPr>
          <p:cNvPr id="167" name="Text 150"/>
          <p:cNvSpPr txBox="1"/>
          <p:nvPr/>
        </p:nvSpPr>
        <p:spPr>
          <a:xfrm>
            <a:off x="6894576" y="5385816"/>
            <a:ext cx="118872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Nhà hàng B1</a:t>
            </a:r>
            <a:endParaRPr lang="en-US" sz="780" dirty="0"/>
          </a:p>
        </p:txBody>
      </p:sp>
      <p:sp>
        <p:nvSpPr>
          <p:cNvPr id="168" name="Text 151"/>
          <p:cNvSpPr txBox="1"/>
          <p:nvPr/>
        </p:nvSpPr>
        <p:spPr>
          <a:xfrm>
            <a:off x="8321040" y="5385816"/>
            <a:ext cx="457200" cy="201168"/>
          </a:xfrm>
          <a:prstGeom prst="rect">
            <a:avLst/>
          </a:prstGeom>
          <a:noFill/>
          <a:ln/>
        </p:spPr>
        <p:txBody>
          <a:bodyPr wrap="square" lIns="0" tIns="0" rIns="0" bIns="0" rtlCol="0" anchor="ctr"/>
          <a:lstStyle/>
          <a:p>
            <a:pPr algn="r" indent="0" marL="0">
              <a:buNone/>
            </a:pPr>
            <a:r>
              <a:rPr lang="en-US" sz="800" b="1" dirty="0">
                <a:solidFill>
                  <a:srgbClr val="1A2330"/>
                </a:solidFill>
                <a:latin typeface="Arial" pitchFamily="34" charset="0"/>
                <a:ea typeface="Arial" pitchFamily="34" charset="-122"/>
                <a:cs typeface="Arial" pitchFamily="34" charset="-120"/>
              </a:rPr>
              <a:t>57%</a:t>
            </a:r>
            <a:endParaRPr lang="en-US" sz="800" dirty="0"/>
          </a:p>
        </p:txBody>
      </p:sp>
      <p:sp>
        <p:nvSpPr>
          <p:cNvPr id="169" name="Shape 152"/>
          <p:cNvSpPr/>
          <p:nvPr/>
        </p:nvSpPr>
        <p:spPr>
          <a:xfrm>
            <a:off x="6894576" y="5632704"/>
            <a:ext cx="1865376" cy="109728"/>
          </a:xfrm>
          <a:prstGeom prst="roundRect">
            <a:avLst>
              <a:gd name="adj" fmla="val 41667"/>
            </a:avLst>
          </a:prstGeom>
          <a:solidFill>
            <a:srgbClr val="E4E8EC"/>
          </a:solidFill>
          <a:ln/>
        </p:spPr>
      </p:sp>
      <p:sp>
        <p:nvSpPr>
          <p:cNvPr id="170" name="Shape 153"/>
          <p:cNvSpPr/>
          <p:nvPr/>
        </p:nvSpPr>
        <p:spPr>
          <a:xfrm>
            <a:off x="6894576" y="5632704"/>
            <a:ext cx="1069482" cy="109728"/>
          </a:xfrm>
          <a:prstGeom prst="roundRect">
            <a:avLst>
              <a:gd name="adj" fmla="val 41667"/>
            </a:avLst>
          </a:prstGeom>
          <a:solidFill>
            <a:srgbClr val="1B7F79"/>
          </a:solidFill>
          <a:ln/>
        </p:spPr>
      </p:sp>
      <p:sp>
        <p:nvSpPr>
          <p:cNvPr id="171" name="Text 154"/>
          <p:cNvSpPr txBox="1"/>
          <p:nvPr/>
        </p:nvSpPr>
        <p:spPr>
          <a:xfrm>
            <a:off x="6894576" y="5833872"/>
            <a:ext cx="1865376" cy="365760"/>
          </a:xfrm>
          <a:prstGeom prst="rect">
            <a:avLst/>
          </a:prstGeom>
          <a:noFill/>
          <a:ln/>
        </p:spPr>
        <p:txBody>
          <a:bodyPr wrap="square" lIns="0" tIns="0" rIns="0" bIns="0" rtlCol="0" anchor="t"/>
          <a:lstStyle/>
          <a:p>
            <a:pPr algn="l" indent="0" marL="0">
              <a:buNone/>
            </a:pPr>
            <a:r>
              <a:rPr lang="en-US" sz="700" dirty="0">
                <a:solidFill>
                  <a:srgbClr val="B5651D"/>
                </a:solidFill>
                <a:latin typeface="Arial" pitchFamily="34" charset="0"/>
                <a:ea typeface="Arial" pitchFamily="34" charset="-122"/>
                <a:cs typeface="Arial" pitchFamily="34" charset="-120"/>
              </a:rPr>
              <a:t>Rooftop ≥ 90%: đã báo quầy bar, tạm dừng cho thang lên tum</a:t>
            </a:r>
            <a:endParaRPr lang="en-US" sz="700" dirty="0"/>
          </a:p>
        </p:txBody>
      </p:sp>
      <p:sp>
        <p:nvSpPr>
          <p:cNvPr id="172" name="Shape 155"/>
          <p:cNvSpPr/>
          <p:nvPr/>
        </p:nvSpPr>
        <p:spPr>
          <a:xfrm>
            <a:off x="4617720" y="2020824"/>
            <a:ext cx="274320" cy="274320"/>
          </a:xfrm>
          <a:prstGeom prst="ellipse">
            <a:avLst/>
          </a:prstGeom>
          <a:solidFill>
            <a:srgbClr val="E8833A"/>
          </a:solidFill>
          <a:ln w="19050">
            <a:solidFill>
              <a:srgbClr val="FFFFFF"/>
            </a:solidFill>
            <a:prstDash val="solid"/>
          </a:ln>
        </p:spPr>
      </p:sp>
      <p:sp>
        <p:nvSpPr>
          <p:cNvPr id="173" name="Text 156"/>
          <p:cNvSpPr txBox="1"/>
          <p:nvPr/>
        </p:nvSpPr>
        <p:spPr>
          <a:xfrm>
            <a:off x="4617720" y="20208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74" name="Shape 157"/>
          <p:cNvSpPr/>
          <p:nvPr/>
        </p:nvSpPr>
        <p:spPr>
          <a:xfrm>
            <a:off x="8549640" y="2020824"/>
            <a:ext cx="274320" cy="274320"/>
          </a:xfrm>
          <a:prstGeom prst="ellipse">
            <a:avLst/>
          </a:prstGeom>
          <a:solidFill>
            <a:srgbClr val="E8833A"/>
          </a:solidFill>
          <a:ln w="19050">
            <a:solidFill>
              <a:srgbClr val="FFFFFF"/>
            </a:solidFill>
            <a:prstDash val="solid"/>
          </a:ln>
        </p:spPr>
      </p:sp>
      <p:sp>
        <p:nvSpPr>
          <p:cNvPr id="175" name="Text 158"/>
          <p:cNvSpPr txBox="1"/>
          <p:nvPr/>
        </p:nvSpPr>
        <p:spPr>
          <a:xfrm>
            <a:off x="8549640" y="20208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6" name="Shape 159"/>
          <p:cNvSpPr/>
          <p:nvPr/>
        </p:nvSpPr>
        <p:spPr>
          <a:xfrm>
            <a:off x="6355080" y="4489704"/>
            <a:ext cx="274320" cy="274320"/>
          </a:xfrm>
          <a:prstGeom prst="ellipse">
            <a:avLst/>
          </a:prstGeom>
          <a:solidFill>
            <a:srgbClr val="E8833A"/>
          </a:solidFill>
          <a:ln w="19050">
            <a:solidFill>
              <a:srgbClr val="FFFFFF"/>
            </a:solidFill>
            <a:prstDash val="solid"/>
          </a:ln>
        </p:spPr>
      </p:sp>
      <p:sp>
        <p:nvSpPr>
          <p:cNvPr id="177" name="Text 160"/>
          <p:cNvSpPr txBox="1"/>
          <p:nvPr/>
        </p:nvSpPr>
        <p:spPr>
          <a:xfrm>
            <a:off x="6355080" y="44897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8" name="Shape 161"/>
          <p:cNvSpPr/>
          <p:nvPr/>
        </p:nvSpPr>
        <p:spPr>
          <a:xfrm>
            <a:off x="8549640" y="4489704"/>
            <a:ext cx="274320" cy="274320"/>
          </a:xfrm>
          <a:prstGeom prst="ellipse">
            <a:avLst/>
          </a:prstGeom>
          <a:solidFill>
            <a:srgbClr val="E8833A"/>
          </a:solidFill>
          <a:ln w="19050">
            <a:solidFill>
              <a:srgbClr val="FFFFFF"/>
            </a:solidFill>
            <a:prstDash val="solid"/>
          </a:ln>
        </p:spPr>
      </p:sp>
      <p:sp>
        <p:nvSpPr>
          <p:cNvPr id="179" name="Text 162"/>
          <p:cNvSpPr txBox="1"/>
          <p:nvPr/>
        </p:nvSpPr>
        <p:spPr>
          <a:xfrm>
            <a:off x="8549640" y="44897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80" name="Shape 163"/>
          <p:cNvSpPr/>
          <p:nvPr/>
        </p:nvSpPr>
        <p:spPr>
          <a:xfrm>
            <a:off x="9189720" y="1325880"/>
            <a:ext cx="2560320" cy="5120640"/>
          </a:xfrm>
          <a:prstGeom prst="roundRect">
            <a:avLst>
              <a:gd name="adj" fmla="val 1786"/>
            </a:avLst>
          </a:prstGeom>
          <a:solidFill>
            <a:srgbClr val="E8F3F2"/>
          </a:solidFill>
          <a:ln/>
        </p:spPr>
      </p:sp>
      <p:sp>
        <p:nvSpPr>
          <p:cNvPr id="181" name="Text 164"/>
          <p:cNvSpPr txBox="1"/>
          <p:nvPr/>
        </p:nvSpPr>
        <p:spPr>
          <a:xfrm>
            <a:off x="9372600" y="1435608"/>
            <a:ext cx="219456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182" name="Shape 165"/>
          <p:cNvSpPr/>
          <p:nvPr/>
        </p:nvSpPr>
        <p:spPr>
          <a:xfrm>
            <a:off x="9372600" y="1892808"/>
            <a:ext cx="274320" cy="274320"/>
          </a:xfrm>
          <a:prstGeom prst="ellipse">
            <a:avLst/>
          </a:prstGeom>
          <a:solidFill>
            <a:srgbClr val="E8833A"/>
          </a:solidFill>
          <a:ln w="19050">
            <a:solidFill>
              <a:srgbClr val="FFFFFF"/>
            </a:solidFill>
            <a:prstDash val="solid"/>
          </a:ln>
        </p:spPr>
      </p:sp>
      <p:sp>
        <p:nvSpPr>
          <p:cNvPr id="183" name="Text 166"/>
          <p:cNvSpPr txBox="1"/>
          <p:nvPr/>
        </p:nvSpPr>
        <p:spPr>
          <a:xfrm>
            <a:off x="937260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84" name="Text 167"/>
          <p:cNvSpPr txBox="1"/>
          <p:nvPr/>
        </p:nvSpPr>
        <p:spPr>
          <a:xfrm>
            <a:off x="9738360" y="187452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Cảnh báo kèm hình, đối chiếu chéo</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Camera AI so với nhật ký vào ra để giảm báo giả; mục tiêu ≤ 10 giây</a:t>
            </a:r>
            <a:endParaRPr lang="en-US" sz="1050" dirty="0"/>
          </a:p>
        </p:txBody>
      </p:sp>
      <p:sp>
        <p:nvSpPr>
          <p:cNvPr id="185" name="Shape 168"/>
          <p:cNvSpPr/>
          <p:nvPr/>
        </p:nvSpPr>
        <p:spPr>
          <a:xfrm>
            <a:off x="9372600" y="3012948"/>
            <a:ext cx="274320" cy="274320"/>
          </a:xfrm>
          <a:prstGeom prst="ellipse">
            <a:avLst/>
          </a:prstGeom>
          <a:solidFill>
            <a:srgbClr val="E8833A"/>
          </a:solidFill>
          <a:ln w="19050">
            <a:solidFill>
              <a:srgbClr val="FFFFFF"/>
            </a:solidFill>
            <a:prstDash val="solid"/>
          </a:ln>
        </p:spPr>
      </p:sp>
      <p:sp>
        <p:nvSpPr>
          <p:cNvPr id="186" name="Text 169"/>
          <p:cNvSpPr txBox="1"/>
          <p:nvPr/>
        </p:nvSpPr>
        <p:spPr>
          <a:xfrm>
            <a:off x="9372600" y="3012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7" name="Text 170"/>
          <p:cNvSpPr txBox="1"/>
          <p:nvPr/>
        </p:nvSpPr>
        <p:spPr>
          <a:xfrm>
            <a:off x="9738360" y="299466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Riêng tư mặc định</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Nhật ký không hiện ảnh khuôn mặt; biển số che một phần; khách vãng lai không định danh</a:t>
            </a:r>
            <a:endParaRPr lang="en-US" sz="1050" dirty="0"/>
          </a:p>
        </p:txBody>
      </p:sp>
      <p:sp>
        <p:nvSpPr>
          <p:cNvPr id="188" name="Shape 171"/>
          <p:cNvSpPr/>
          <p:nvPr/>
        </p:nvSpPr>
        <p:spPr>
          <a:xfrm>
            <a:off x="9372600" y="4133088"/>
            <a:ext cx="274320" cy="274320"/>
          </a:xfrm>
          <a:prstGeom prst="ellipse">
            <a:avLst/>
          </a:prstGeom>
          <a:solidFill>
            <a:srgbClr val="E8833A"/>
          </a:solidFill>
          <a:ln w="19050">
            <a:solidFill>
              <a:srgbClr val="FFFFFF"/>
            </a:solidFill>
            <a:prstDash val="solid"/>
          </a:ln>
        </p:spPr>
      </p:sp>
      <p:sp>
        <p:nvSpPr>
          <p:cNvPr id="189" name="Text 172"/>
          <p:cNvSpPr txBox="1"/>
          <p:nvPr/>
        </p:nvSpPr>
        <p:spPr>
          <a:xfrm>
            <a:off x="937260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90" name="Text 173"/>
          <p:cNvSpPr txBox="1"/>
          <p:nvPr/>
        </p:nvSpPr>
        <p:spPr>
          <a:xfrm>
            <a:off x="9738360" y="411480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Quyền là tham số, không phải code</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BQL đổi giờ mở rooftop, quyền cư dân ngay trên bảng</a:t>
            </a:r>
            <a:endParaRPr lang="en-US" sz="1050" dirty="0"/>
          </a:p>
        </p:txBody>
      </p:sp>
      <p:sp>
        <p:nvSpPr>
          <p:cNvPr id="191" name="Shape 174"/>
          <p:cNvSpPr/>
          <p:nvPr/>
        </p:nvSpPr>
        <p:spPr>
          <a:xfrm>
            <a:off x="9372600" y="5253228"/>
            <a:ext cx="274320" cy="274320"/>
          </a:xfrm>
          <a:prstGeom prst="ellipse">
            <a:avLst/>
          </a:prstGeom>
          <a:solidFill>
            <a:srgbClr val="E8833A"/>
          </a:solidFill>
          <a:ln w="19050">
            <a:solidFill>
              <a:srgbClr val="FFFFFF"/>
            </a:solidFill>
            <a:prstDash val="solid"/>
          </a:ln>
        </p:spPr>
      </p:sp>
      <p:sp>
        <p:nvSpPr>
          <p:cNvPr id="192" name="Text 175"/>
          <p:cNvSpPr txBox="1"/>
          <p:nvPr/>
        </p:nvSpPr>
        <p:spPr>
          <a:xfrm>
            <a:off x="9372600" y="52532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93" name="Text 176"/>
          <p:cNvSpPr txBox="1"/>
          <p:nvPr/>
        </p:nvSpPr>
        <p:spPr>
          <a:xfrm>
            <a:off x="9738360" y="523494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Sức chứa theo PCCC</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Gần đầy thì báo quầy và khóa thang lên tầng tum tự động</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Trợ lý vận hành tiếng Việt: hỏi bằng lời, trả lời từ dữ liệu thật</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BQL, kỹ thuật · Mô hình: Claude / Gemini qua cổng AI Gimasys · Chỉ đọc, không điều khiển thiết bị</a:t>
            </a:r>
            <a:endParaRPr lang="en-US" sz="1300" dirty="0"/>
          </a:p>
        </p:txBody>
      </p:sp>
      <p:sp>
        <p:nvSpPr>
          <p:cNvPr id="4" name="Shape 2"/>
          <p:cNvSpPr/>
          <p:nvPr/>
        </p:nvSpPr>
        <p:spPr>
          <a:xfrm>
            <a:off x="457200" y="1325880"/>
            <a:ext cx="8549640" cy="5120640"/>
          </a:xfrm>
          <a:prstGeom prst="roundRect">
            <a:avLst>
              <a:gd name="adj" fmla="val 714"/>
            </a:avLst>
          </a:prstGeom>
          <a:solidFill>
            <a:srgbClr val="FFFFFF"/>
          </a:solidFill>
          <a:ln w="9525">
            <a:solidFill>
              <a:srgbClr val="B9C3CC"/>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457200" y="1325880"/>
            <a:ext cx="8549640" cy="274320"/>
          </a:xfrm>
          <a:prstGeom prst="roundRect">
            <a:avLst>
              <a:gd name="adj" fmla="val 13333"/>
            </a:avLst>
          </a:prstGeom>
          <a:solidFill>
            <a:srgbClr val="E9EDF1"/>
          </a:solidFill>
          <a:ln/>
        </p:spPr>
      </p:sp>
      <p:sp>
        <p:nvSpPr>
          <p:cNvPr id="6" name="Shape 4"/>
          <p:cNvSpPr/>
          <p:nvPr/>
        </p:nvSpPr>
        <p:spPr>
          <a:xfrm>
            <a:off x="457200" y="1463040"/>
            <a:ext cx="8549640" cy="137160"/>
          </a:xfrm>
          <a:prstGeom prst="rect">
            <a:avLst/>
          </a:prstGeom>
          <a:solidFill>
            <a:srgbClr val="E9EDF1"/>
          </a:solidFill>
          <a:ln/>
        </p:spPr>
      </p:sp>
      <p:sp>
        <p:nvSpPr>
          <p:cNvPr id="7" name="Shape 5"/>
          <p:cNvSpPr/>
          <p:nvPr/>
        </p:nvSpPr>
        <p:spPr>
          <a:xfrm>
            <a:off x="566928" y="1408176"/>
            <a:ext cx="100584" cy="100584"/>
          </a:xfrm>
          <a:prstGeom prst="ellipse">
            <a:avLst/>
          </a:prstGeom>
          <a:solidFill>
            <a:srgbClr val="E0605A"/>
          </a:solidFill>
          <a:ln/>
        </p:spPr>
      </p:sp>
      <p:sp>
        <p:nvSpPr>
          <p:cNvPr id="8" name="Shape 6"/>
          <p:cNvSpPr/>
          <p:nvPr/>
        </p:nvSpPr>
        <p:spPr>
          <a:xfrm>
            <a:off x="713232" y="1408176"/>
            <a:ext cx="100584" cy="100584"/>
          </a:xfrm>
          <a:prstGeom prst="ellipse">
            <a:avLst/>
          </a:prstGeom>
          <a:solidFill>
            <a:srgbClr val="E8B341"/>
          </a:solidFill>
          <a:ln/>
        </p:spPr>
      </p:sp>
      <p:sp>
        <p:nvSpPr>
          <p:cNvPr id="9" name="Shape 7"/>
          <p:cNvSpPr/>
          <p:nvPr/>
        </p:nvSpPr>
        <p:spPr>
          <a:xfrm>
            <a:off x="859536" y="1408176"/>
            <a:ext cx="100584" cy="100584"/>
          </a:xfrm>
          <a:prstGeom prst="ellipse">
            <a:avLst/>
          </a:prstGeom>
          <a:solidFill>
            <a:srgbClr val="5DB85C"/>
          </a:solidFill>
          <a:ln/>
        </p:spPr>
      </p:sp>
      <p:sp>
        <p:nvSpPr>
          <p:cNvPr id="10" name="Shape 8"/>
          <p:cNvSpPr/>
          <p:nvPr/>
        </p:nvSpPr>
        <p:spPr>
          <a:xfrm>
            <a:off x="1143000" y="1380744"/>
            <a:ext cx="7635240" cy="173736"/>
          </a:xfrm>
          <a:prstGeom prst="roundRect">
            <a:avLst>
              <a:gd name="adj" fmla="val 42105"/>
            </a:avLst>
          </a:prstGeom>
          <a:solidFill>
            <a:srgbClr val="FFFFFF"/>
          </a:solidFill>
          <a:ln/>
        </p:spPr>
      </p:sp>
      <p:sp>
        <p:nvSpPr>
          <p:cNvPr id="11" name="Text 9"/>
          <p:cNvSpPr txBox="1"/>
          <p:nvPr/>
        </p:nvSpPr>
        <p:spPr>
          <a:xfrm>
            <a:off x="1234440" y="1380744"/>
            <a:ext cx="7452360" cy="173736"/>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ops.tnv-building.vn/tro-ly</a:t>
            </a:r>
            <a:endParaRPr lang="en-US" sz="700" dirty="0"/>
          </a:p>
        </p:txBody>
      </p:sp>
      <p:sp>
        <p:nvSpPr>
          <p:cNvPr id="12" name="Shape 10"/>
          <p:cNvSpPr/>
          <p:nvPr/>
        </p:nvSpPr>
        <p:spPr>
          <a:xfrm>
            <a:off x="457200" y="1600200"/>
            <a:ext cx="1325880" cy="4846320"/>
          </a:xfrm>
          <a:prstGeom prst="rect">
            <a:avLst/>
          </a:prstGeom>
          <a:solidFill>
            <a:srgbClr val="12324A"/>
          </a:solidFill>
          <a:ln/>
        </p:spPr>
      </p:sp>
      <p:sp>
        <p:nvSpPr>
          <p:cNvPr id="13" name="Text 11"/>
          <p:cNvSpPr txBox="1"/>
          <p:nvPr/>
        </p:nvSpPr>
        <p:spPr>
          <a:xfrm>
            <a:off x="594360" y="1691640"/>
            <a:ext cx="1143000" cy="27432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TNV · Smart Ops</a:t>
            </a:r>
            <a:endParaRPr lang="en-US" sz="850" dirty="0"/>
          </a:p>
        </p:txBody>
      </p:sp>
      <p:pic>
        <p:nvPicPr>
          <p:cNvPr id="14" name="Image 0" descr="preencoded.png">    </p:cNvPr>
          <p:cNvPicPr>
            <a:picLocks noChangeAspect="1"/>
          </p:cNvPicPr>
          <p:nvPr/>
        </p:nvPicPr>
        <p:blipFill>
          <a:blip r:embed="rId1"/>
          <a:stretch>
            <a:fillRect/>
          </a:stretch>
        </p:blipFill>
        <p:spPr>
          <a:xfrm>
            <a:off x="603504" y="2130552"/>
            <a:ext cx="146304" cy="146304"/>
          </a:xfrm>
          <a:prstGeom prst="rect">
            <a:avLst/>
          </a:prstGeom>
        </p:spPr>
      </p:pic>
      <p:sp>
        <p:nvSpPr>
          <p:cNvPr id="15" name="Text 12"/>
          <p:cNvSpPr txBox="1"/>
          <p:nvPr/>
        </p:nvSpPr>
        <p:spPr>
          <a:xfrm>
            <a:off x="822960" y="2075688"/>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Tổng quan</a:t>
            </a:r>
            <a:endParaRPr lang="en-US" sz="750" dirty="0"/>
          </a:p>
        </p:txBody>
      </p:sp>
      <p:pic>
        <p:nvPicPr>
          <p:cNvPr id="16" name="Image 1" descr="preencoded.png">    </p:cNvPr>
          <p:cNvPicPr>
            <a:picLocks noChangeAspect="1"/>
          </p:cNvPicPr>
          <p:nvPr/>
        </p:nvPicPr>
        <p:blipFill>
          <a:blip r:embed="rId2"/>
          <a:stretch>
            <a:fillRect/>
          </a:stretch>
        </p:blipFill>
        <p:spPr>
          <a:xfrm>
            <a:off x="603504" y="2459736"/>
            <a:ext cx="146304" cy="146304"/>
          </a:xfrm>
          <a:prstGeom prst="rect">
            <a:avLst/>
          </a:prstGeom>
        </p:spPr>
      </p:pic>
      <p:sp>
        <p:nvSpPr>
          <p:cNvPr id="17" name="Text 13"/>
          <p:cNvSpPr txBox="1"/>
          <p:nvPr/>
        </p:nvSpPr>
        <p:spPr>
          <a:xfrm>
            <a:off x="822960" y="240487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Cảnh báo</a:t>
            </a:r>
            <a:endParaRPr lang="en-US" sz="750" dirty="0"/>
          </a:p>
        </p:txBody>
      </p:sp>
      <p:pic>
        <p:nvPicPr>
          <p:cNvPr id="18" name="Image 2" descr="preencoded.png">    </p:cNvPr>
          <p:cNvPicPr>
            <a:picLocks noChangeAspect="1"/>
          </p:cNvPicPr>
          <p:nvPr/>
        </p:nvPicPr>
        <p:blipFill>
          <a:blip r:embed="rId3"/>
          <a:stretch>
            <a:fillRect/>
          </a:stretch>
        </p:blipFill>
        <p:spPr>
          <a:xfrm>
            <a:off x="603504" y="2788920"/>
            <a:ext cx="146304" cy="146304"/>
          </a:xfrm>
          <a:prstGeom prst="rect">
            <a:avLst/>
          </a:prstGeom>
        </p:spPr>
      </p:pic>
      <p:sp>
        <p:nvSpPr>
          <p:cNvPr id="19" name="Text 14"/>
          <p:cNvSpPr txBox="1"/>
          <p:nvPr/>
        </p:nvSpPr>
        <p:spPr>
          <a:xfrm>
            <a:off x="822960" y="273405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Điện &amp; nước</a:t>
            </a:r>
            <a:endParaRPr lang="en-US" sz="750" dirty="0"/>
          </a:p>
        </p:txBody>
      </p:sp>
      <p:pic>
        <p:nvPicPr>
          <p:cNvPr id="20" name="Image 3" descr="preencoded.png">    </p:cNvPr>
          <p:cNvPicPr>
            <a:picLocks noChangeAspect="1"/>
          </p:cNvPicPr>
          <p:nvPr/>
        </p:nvPicPr>
        <p:blipFill>
          <a:blip r:embed="rId4"/>
          <a:stretch>
            <a:fillRect/>
          </a:stretch>
        </p:blipFill>
        <p:spPr>
          <a:xfrm>
            <a:off x="603504" y="3118104"/>
            <a:ext cx="146304" cy="146304"/>
          </a:xfrm>
          <a:prstGeom prst="rect">
            <a:avLst/>
          </a:prstGeom>
        </p:spPr>
      </p:pic>
      <p:sp>
        <p:nvSpPr>
          <p:cNvPr id="21" name="Text 15"/>
          <p:cNvSpPr txBox="1"/>
          <p:nvPr/>
        </p:nvSpPr>
        <p:spPr>
          <a:xfrm>
            <a:off x="822960" y="3063240"/>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Thiết bị</a:t>
            </a:r>
            <a:endParaRPr lang="en-US" sz="750" dirty="0"/>
          </a:p>
        </p:txBody>
      </p:sp>
      <p:pic>
        <p:nvPicPr>
          <p:cNvPr id="22" name="Image 4" descr="preencoded.png">    </p:cNvPr>
          <p:cNvPicPr>
            <a:picLocks noChangeAspect="1"/>
          </p:cNvPicPr>
          <p:nvPr/>
        </p:nvPicPr>
        <p:blipFill>
          <a:blip r:embed="rId5"/>
          <a:stretch>
            <a:fillRect/>
          </a:stretch>
        </p:blipFill>
        <p:spPr>
          <a:xfrm>
            <a:off x="603504" y="3447288"/>
            <a:ext cx="146304" cy="146304"/>
          </a:xfrm>
          <a:prstGeom prst="rect">
            <a:avLst/>
          </a:prstGeom>
        </p:spPr>
      </p:pic>
      <p:sp>
        <p:nvSpPr>
          <p:cNvPr id="23" name="Text 16"/>
          <p:cNvSpPr txBox="1"/>
          <p:nvPr/>
        </p:nvSpPr>
        <p:spPr>
          <a:xfrm>
            <a:off x="822960" y="3392424"/>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An ninh &amp; vào ra</a:t>
            </a:r>
            <a:endParaRPr lang="en-US" sz="750" dirty="0"/>
          </a:p>
        </p:txBody>
      </p:sp>
      <p:sp>
        <p:nvSpPr>
          <p:cNvPr id="24" name="Shape 17"/>
          <p:cNvSpPr/>
          <p:nvPr/>
        </p:nvSpPr>
        <p:spPr>
          <a:xfrm>
            <a:off x="521208" y="3712464"/>
            <a:ext cx="1197864" cy="274320"/>
          </a:xfrm>
          <a:prstGeom prst="roundRect">
            <a:avLst>
              <a:gd name="adj" fmla="val 26667"/>
            </a:avLst>
          </a:prstGeom>
          <a:solidFill>
            <a:srgbClr val="1B7F79"/>
          </a:solidFill>
          <a:ln/>
        </p:spPr>
      </p:sp>
      <p:pic>
        <p:nvPicPr>
          <p:cNvPr id="25" name="Image 5" descr="preencoded.png">    </p:cNvPr>
          <p:cNvPicPr>
            <a:picLocks noChangeAspect="1"/>
          </p:cNvPicPr>
          <p:nvPr/>
        </p:nvPicPr>
        <p:blipFill>
          <a:blip r:embed="rId6"/>
          <a:stretch>
            <a:fillRect/>
          </a:stretch>
        </p:blipFill>
        <p:spPr>
          <a:xfrm>
            <a:off x="603504" y="3776472"/>
            <a:ext cx="146304" cy="146304"/>
          </a:xfrm>
          <a:prstGeom prst="rect">
            <a:avLst/>
          </a:prstGeom>
        </p:spPr>
      </p:pic>
      <p:sp>
        <p:nvSpPr>
          <p:cNvPr id="26" name="Text 18"/>
          <p:cNvSpPr txBox="1"/>
          <p:nvPr/>
        </p:nvSpPr>
        <p:spPr>
          <a:xfrm>
            <a:off x="822960" y="3721608"/>
            <a:ext cx="914400" cy="256032"/>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Trợ lý AI</a:t>
            </a:r>
            <a:endParaRPr lang="en-US" sz="750" dirty="0"/>
          </a:p>
        </p:txBody>
      </p:sp>
      <p:pic>
        <p:nvPicPr>
          <p:cNvPr id="27" name="Image 6" descr="preencoded.png">    </p:cNvPr>
          <p:cNvPicPr>
            <a:picLocks noChangeAspect="1"/>
          </p:cNvPicPr>
          <p:nvPr/>
        </p:nvPicPr>
        <p:blipFill>
          <a:blip r:embed="rId7"/>
          <a:stretch>
            <a:fillRect/>
          </a:stretch>
        </p:blipFill>
        <p:spPr>
          <a:xfrm>
            <a:off x="603504" y="4105656"/>
            <a:ext cx="146304" cy="146304"/>
          </a:xfrm>
          <a:prstGeom prst="rect">
            <a:avLst/>
          </a:prstGeom>
        </p:spPr>
      </p:pic>
      <p:sp>
        <p:nvSpPr>
          <p:cNvPr id="28" name="Text 19"/>
          <p:cNvSpPr txBox="1"/>
          <p:nvPr/>
        </p:nvSpPr>
        <p:spPr>
          <a:xfrm>
            <a:off x="822960" y="4050792"/>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Báo cáo</a:t>
            </a:r>
            <a:endParaRPr lang="en-US" sz="750" dirty="0"/>
          </a:p>
        </p:txBody>
      </p:sp>
      <p:pic>
        <p:nvPicPr>
          <p:cNvPr id="29" name="Image 7" descr="preencoded.png">    </p:cNvPr>
          <p:cNvPicPr>
            <a:picLocks noChangeAspect="1"/>
          </p:cNvPicPr>
          <p:nvPr/>
        </p:nvPicPr>
        <p:blipFill>
          <a:blip r:embed="rId8"/>
          <a:stretch>
            <a:fillRect/>
          </a:stretch>
        </p:blipFill>
        <p:spPr>
          <a:xfrm>
            <a:off x="603504" y="4434840"/>
            <a:ext cx="146304" cy="146304"/>
          </a:xfrm>
          <a:prstGeom prst="rect">
            <a:avLst/>
          </a:prstGeom>
        </p:spPr>
      </p:pic>
      <p:sp>
        <p:nvSpPr>
          <p:cNvPr id="30" name="Text 20"/>
          <p:cNvSpPr txBox="1"/>
          <p:nvPr/>
        </p:nvSpPr>
        <p:spPr>
          <a:xfrm>
            <a:off x="822960" y="4379976"/>
            <a:ext cx="914400" cy="256032"/>
          </a:xfrm>
          <a:prstGeom prst="rect">
            <a:avLst/>
          </a:prstGeom>
          <a:noFill/>
          <a:ln/>
        </p:spPr>
        <p:txBody>
          <a:bodyPr wrap="square" lIns="0" tIns="0" rIns="0" bIns="0" rtlCol="0" anchor="ctr"/>
          <a:lstStyle/>
          <a:p>
            <a:pPr algn="l" indent="0" marL="0">
              <a:buNone/>
            </a:pPr>
            <a:r>
              <a:rPr lang="en-US" sz="750" dirty="0">
                <a:solidFill>
                  <a:srgbClr val="C9D6E0"/>
                </a:solidFill>
                <a:latin typeface="Arial" pitchFamily="34" charset="0"/>
                <a:ea typeface="Arial" pitchFamily="34" charset="-122"/>
                <a:cs typeface="Arial" pitchFamily="34" charset="-120"/>
              </a:rPr>
              <a:t>Cấu hình</a:t>
            </a:r>
            <a:endParaRPr lang="en-US" sz="750" dirty="0"/>
          </a:p>
        </p:txBody>
      </p:sp>
      <p:sp>
        <p:nvSpPr>
          <p:cNvPr id="31" name="Text 21"/>
          <p:cNvSpPr txBox="1"/>
          <p:nvPr/>
        </p:nvSpPr>
        <p:spPr>
          <a:xfrm>
            <a:off x="548640" y="6080760"/>
            <a:ext cx="1143000" cy="274320"/>
          </a:xfrm>
          <a:prstGeom prst="rect">
            <a:avLst/>
          </a:prstGeom>
          <a:noFill/>
          <a:ln/>
        </p:spPr>
        <p:txBody>
          <a:bodyPr wrap="square" lIns="0" tIns="0" rIns="0" bIns="0" rtlCol="0" anchor="ctr"/>
          <a:lstStyle/>
          <a:p>
            <a:pPr algn="l" indent="0" marL="0">
              <a:buNone/>
            </a:pPr>
            <a:r>
              <a:rPr lang="en-US" sz="600" dirty="0">
                <a:solidFill>
                  <a:srgbClr val="8FA6B8"/>
                </a:solidFill>
                <a:latin typeface="Arial" pitchFamily="34" charset="0"/>
                <a:ea typeface="Arial" pitchFamily="34" charset="-122"/>
                <a:cs typeface="Arial" pitchFamily="34" charset="-120"/>
              </a:rPr>
              <a:t>Claude · Gemini qua cổng AI Gimasys</a:t>
            </a:r>
            <a:endParaRPr lang="en-US" sz="600" dirty="0"/>
          </a:p>
        </p:txBody>
      </p:sp>
      <p:sp>
        <p:nvSpPr>
          <p:cNvPr id="32" name="Shape 22"/>
          <p:cNvSpPr/>
          <p:nvPr/>
        </p:nvSpPr>
        <p:spPr>
          <a:xfrm>
            <a:off x="1783080" y="1600200"/>
            <a:ext cx="7223760" cy="411480"/>
          </a:xfrm>
          <a:prstGeom prst="rect">
            <a:avLst/>
          </a:prstGeom>
          <a:solidFill>
            <a:srgbClr val="FFFFFF"/>
          </a:solidFill>
          <a:ln/>
        </p:spPr>
      </p:sp>
      <p:sp>
        <p:nvSpPr>
          <p:cNvPr id="33" name="Shape 23"/>
          <p:cNvSpPr/>
          <p:nvPr/>
        </p:nvSpPr>
        <p:spPr>
          <a:xfrm>
            <a:off x="1783080" y="2011680"/>
            <a:ext cx="7223760" cy="0"/>
          </a:xfrm>
          <a:prstGeom prst="line">
            <a:avLst/>
          </a:prstGeom>
          <a:noFill/>
          <a:ln w="9525">
            <a:solidFill>
              <a:srgbClr val="E4E8EC"/>
            </a:solidFill>
            <a:prstDash val="solid"/>
          </a:ln>
        </p:spPr>
      </p:sp>
      <p:sp>
        <p:nvSpPr>
          <p:cNvPr id="34" name="Text 24"/>
          <p:cNvSpPr txBox="1"/>
          <p:nvPr/>
        </p:nvSpPr>
        <p:spPr>
          <a:xfrm>
            <a:off x="1947672" y="1600200"/>
            <a:ext cx="3657600" cy="411480"/>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Trợ lý AI</a:t>
            </a:r>
            <a:endParaRPr lang="en-US" sz="1100" dirty="0"/>
          </a:p>
        </p:txBody>
      </p:sp>
      <p:sp>
        <p:nvSpPr>
          <p:cNvPr id="35" name="Text 25"/>
          <p:cNvSpPr txBox="1"/>
          <p:nvPr/>
        </p:nvSpPr>
        <p:spPr>
          <a:xfrm>
            <a:off x="5074920" y="1600200"/>
            <a:ext cx="3337560" cy="411480"/>
          </a:xfrm>
          <a:prstGeom prst="rect">
            <a:avLst/>
          </a:prstGeom>
          <a:noFill/>
          <a:ln/>
        </p:spPr>
        <p:txBody>
          <a:bodyPr wrap="square" lIns="0" tIns="0" rIns="0" bIns="0" rtlCol="0" anchor="ctr"/>
          <a:lstStyle/>
          <a:p>
            <a:pPr algn="r" indent="0" marL="0">
              <a:buNone/>
            </a:pPr>
            <a:r>
              <a:rPr lang="en-US" sz="750" dirty="0">
                <a:solidFill>
                  <a:srgbClr val="6B7785"/>
                </a:solidFill>
                <a:latin typeface="Arial" pitchFamily="34" charset="0"/>
                <a:ea typeface="Arial" pitchFamily="34" charset="-122"/>
                <a:cs typeface="Arial" pitchFamily="34" charset="-120"/>
              </a:rPr>
              <a:t>Mô hình: Claude ▾ · Chỉ đọc</a:t>
            </a:r>
            <a:endParaRPr lang="en-US" sz="750" dirty="0"/>
          </a:p>
        </p:txBody>
      </p:sp>
      <p:sp>
        <p:nvSpPr>
          <p:cNvPr id="36" name="Shape 26"/>
          <p:cNvSpPr/>
          <p:nvPr/>
        </p:nvSpPr>
        <p:spPr>
          <a:xfrm>
            <a:off x="8549640" y="1682496"/>
            <a:ext cx="246888" cy="246888"/>
          </a:xfrm>
          <a:prstGeom prst="ellipse">
            <a:avLst/>
          </a:prstGeom>
          <a:solidFill>
            <a:srgbClr val="1B7F79"/>
          </a:solidFill>
          <a:ln/>
        </p:spPr>
      </p:sp>
      <p:sp>
        <p:nvSpPr>
          <p:cNvPr id="37" name="Text 27"/>
          <p:cNvSpPr txBox="1"/>
          <p:nvPr/>
        </p:nvSpPr>
        <p:spPr>
          <a:xfrm>
            <a:off x="8549640" y="1682496"/>
            <a:ext cx="246888" cy="24688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BQL</a:t>
            </a:r>
            <a:endParaRPr lang="en-US" sz="600" dirty="0"/>
          </a:p>
        </p:txBody>
      </p:sp>
      <p:sp>
        <p:nvSpPr>
          <p:cNvPr id="38" name="Shape 28"/>
          <p:cNvSpPr/>
          <p:nvPr/>
        </p:nvSpPr>
        <p:spPr>
          <a:xfrm>
            <a:off x="1783080" y="2020824"/>
            <a:ext cx="7223760" cy="4416552"/>
          </a:xfrm>
          <a:prstGeom prst="rect">
            <a:avLst/>
          </a:prstGeom>
          <a:solidFill>
            <a:srgbClr val="F5F7F9"/>
          </a:solidFill>
          <a:ln/>
        </p:spPr>
      </p:sp>
      <p:sp>
        <p:nvSpPr>
          <p:cNvPr id="39" name="Shape 29"/>
          <p:cNvSpPr/>
          <p:nvPr/>
        </p:nvSpPr>
        <p:spPr>
          <a:xfrm>
            <a:off x="1920240" y="2130552"/>
            <a:ext cx="4572000" cy="4206240"/>
          </a:xfrm>
          <a:prstGeom prst="roundRect">
            <a:avLst>
              <a:gd name="adj" fmla="val 1304"/>
            </a:avLst>
          </a:prstGeom>
          <a:solidFill>
            <a:srgbClr val="FFFFFF"/>
          </a:solidFill>
          <a:ln w="6350">
            <a:solidFill>
              <a:srgbClr val="D5DCE3"/>
            </a:solidFill>
            <a:prstDash val="solid"/>
          </a:ln>
        </p:spPr>
      </p:sp>
      <p:sp>
        <p:nvSpPr>
          <p:cNvPr id="40" name="Shape 30"/>
          <p:cNvSpPr/>
          <p:nvPr/>
        </p:nvSpPr>
        <p:spPr>
          <a:xfrm>
            <a:off x="4617720" y="2267712"/>
            <a:ext cx="1737360" cy="292608"/>
          </a:xfrm>
          <a:prstGeom prst="roundRect">
            <a:avLst>
              <a:gd name="adj" fmla="val 25000"/>
            </a:avLst>
          </a:prstGeom>
          <a:solidFill>
            <a:srgbClr val="12324A"/>
          </a:solidFill>
          <a:ln/>
        </p:spPr>
      </p:sp>
      <p:sp>
        <p:nvSpPr>
          <p:cNvPr id="41" name="Text 31"/>
          <p:cNvSpPr txBox="1"/>
          <p:nvPr/>
        </p:nvSpPr>
        <p:spPr>
          <a:xfrm>
            <a:off x="4727448" y="2304288"/>
            <a:ext cx="1517904" cy="219456"/>
          </a:xfrm>
          <a:prstGeom prst="rect">
            <a:avLst/>
          </a:prstGeom>
          <a:noFill/>
          <a:ln/>
        </p:spPr>
        <p:txBody>
          <a:bodyPr wrap="square" lIns="0" tIns="0" rIns="0" bIns="0" rtlCol="0" anchor="t"/>
          <a:lstStyle/>
          <a:p>
            <a:pPr algn="l" indent="0" marL="0">
              <a:buNone/>
            </a:pPr>
            <a:r>
              <a:rPr lang="en-US" sz="780" dirty="0">
                <a:solidFill>
                  <a:srgbClr val="FFFFFF"/>
                </a:solidFill>
                <a:latin typeface="Arial" pitchFamily="34" charset="0"/>
                <a:ea typeface="Arial" pitchFamily="34" charset="-122"/>
                <a:cs typeface="Arial" pitchFamily="34" charset="-120"/>
              </a:rPr>
              <a:t>Bơm nào đang có vấn đề?</a:t>
            </a:r>
            <a:endParaRPr lang="en-US" sz="780" dirty="0"/>
          </a:p>
        </p:txBody>
      </p:sp>
      <p:sp>
        <p:nvSpPr>
          <p:cNvPr id="42" name="Shape 32"/>
          <p:cNvSpPr/>
          <p:nvPr/>
        </p:nvSpPr>
        <p:spPr>
          <a:xfrm>
            <a:off x="2057400" y="2679192"/>
            <a:ext cx="4023360" cy="1051560"/>
          </a:xfrm>
          <a:prstGeom prst="roundRect">
            <a:avLst>
              <a:gd name="adj" fmla="val 6957"/>
            </a:avLst>
          </a:prstGeom>
          <a:solidFill>
            <a:srgbClr val="FFFFFF"/>
          </a:solidFill>
          <a:ln w="6350">
            <a:solidFill>
              <a:srgbClr val="D5DCE3"/>
            </a:solidFill>
            <a:prstDash val="solid"/>
          </a:ln>
        </p:spPr>
      </p:sp>
      <p:pic>
        <p:nvPicPr>
          <p:cNvPr id="43" name="Image 8" descr="preencoded.png">    </p:cNvPr>
          <p:cNvPicPr>
            <a:picLocks noChangeAspect="1"/>
          </p:cNvPicPr>
          <p:nvPr/>
        </p:nvPicPr>
        <p:blipFill>
          <a:blip r:embed="rId9"/>
          <a:stretch>
            <a:fillRect/>
          </a:stretch>
        </p:blipFill>
        <p:spPr>
          <a:xfrm>
            <a:off x="2148840" y="2752344"/>
            <a:ext cx="146304" cy="146304"/>
          </a:xfrm>
          <a:prstGeom prst="rect">
            <a:avLst/>
          </a:prstGeom>
        </p:spPr>
      </p:pic>
      <p:sp>
        <p:nvSpPr>
          <p:cNvPr id="44" name="Text 33"/>
          <p:cNvSpPr txBox="1"/>
          <p:nvPr/>
        </p:nvSpPr>
        <p:spPr>
          <a:xfrm>
            <a:off x="2359152" y="2734056"/>
            <a:ext cx="3657600" cy="777240"/>
          </a:xfrm>
          <a:prstGeom prst="rect">
            <a:avLst/>
          </a:prstGeom>
          <a:noFill/>
          <a:ln/>
        </p:spPr>
        <p:txBody>
          <a:bodyPr wrap="square" lIns="0" tIns="0" rIns="0" bIns="0" rtlCol="0" anchor="t"/>
          <a:lstStyle/>
          <a:p>
            <a:pPr indent="0" marL="0">
              <a:buNone/>
            </a:pPr>
            <a:r>
              <a:rPr lang="en-US" sz="780" b="1" dirty="0">
                <a:solidFill>
                  <a:srgbClr val="000000"/>
                </a:solidFill>
                <a:latin typeface="Arial" pitchFamily="34" charset="0"/>
                <a:ea typeface="Arial" pitchFamily="34" charset="-122"/>
                <a:cs typeface="Arial" pitchFamily="34" charset="-120"/>
              </a:rPr>
              <a:t>Có 1 bơm cần chú ý:</a:t>
            </a:r>
            <a:endParaRPr lang="en-US" sz="780" dirty="0"/>
          </a:p>
          <a:p>
            <a:pPr indent="0" marL="0">
              <a:buNone/>
            </a:pPr>
            <a:r>
              <a:rPr lang="en-US" sz="780" dirty="0">
                <a:solidFill>
                  <a:srgbClr val="000000"/>
                </a:solidFill>
                <a:latin typeface="Arial" pitchFamily="34" charset="0"/>
                <a:ea typeface="Arial" pitchFamily="34" charset="-122"/>
                <a:cs typeface="Arial" pitchFamily="34" charset="-120"/>
              </a:rPr>
              <a:t>Bơm tăng áp 02 (B2) khởi động 70 lần hôm qua, gấp 3 lần mức bình thường, nhiều khả năng do van một chiều. Đã có đề xuất bảo trì, chưa có phiếu việc.</a:t>
            </a:r>
            <a:endParaRPr lang="en-US" sz="780" dirty="0"/>
          </a:p>
          <a:p>
            <a:pPr indent="0" marL="0">
              <a:buNone/>
            </a:pPr>
            <a:r>
              <a:rPr lang="en-US" sz="780" dirty="0">
                <a:solidFill>
                  <a:srgbClr val="000000"/>
                </a:solidFill>
                <a:latin typeface="Arial" pitchFamily="34" charset="0"/>
                <a:ea typeface="Arial" pitchFamily="34" charset="-122"/>
                <a:cs typeface="Arial" pitchFamily="34" charset="-120"/>
              </a:rPr>
              <a:t>Các bơm còn lại hoạt động bình thường.</a:t>
            </a:r>
            <a:endParaRPr lang="en-US" sz="780" dirty="0"/>
          </a:p>
        </p:txBody>
      </p:sp>
      <p:sp>
        <p:nvSpPr>
          <p:cNvPr id="45" name="Text 34"/>
          <p:cNvSpPr txBox="1"/>
          <p:nvPr/>
        </p:nvSpPr>
        <p:spPr>
          <a:xfrm>
            <a:off x="2359152" y="3502152"/>
            <a:ext cx="3657600" cy="182880"/>
          </a:xfrm>
          <a:prstGeom prst="rect">
            <a:avLst/>
          </a:prstGeom>
          <a:noFill/>
          <a:ln/>
        </p:spPr>
        <p:txBody>
          <a:bodyPr wrap="square" lIns="0" tIns="0" rIns="0" bIns="0" rtlCol="0" anchor="ctr"/>
          <a:lstStyle/>
          <a:p>
            <a:pPr algn="l" indent="0" marL="0">
              <a:buNone/>
            </a:pPr>
            <a:r>
              <a:rPr lang="en-US" sz="650" i="1" dirty="0">
                <a:solidFill>
                  <a:srgbClr val="1B7F79"/>
                </a:solidFill>
                <a:latin typeface="Arial" pitchFamily="34" charset="0"/>
                <a:ea typeface="Arial" pitchFamily="34" charset="-122"/>
                <a:cs typeface="Arial" pitchFamily="34" charset="-120"/>
              </a:rPr>
              <a:t>Nguồn: BMS Azbil · TA-02 RUN, START_COUNT · cập nhật 10:15</a:t>
            </a:r>
            <a:endParaRPr lang="en-US" sz="650" dirty="0"/>
          </a:p>
        </p:txBody>
      </p:sp>
      <p:sp>
        <p:nvSpPr>
          <p:cNvPr id="46" name="Shape 35"/>
          <p:cNvSpPr/>
          <p:nvPr/>
        </p:nvSpPr>
        <p:spPr>
          <a:xfrm>
            <a:off x="3977640" y="3803904"/>
            <a:ext cx="2377440" cy="292608"/>
          </a:xfrm>
          <a:prstGeom prst="roundRect">
            <a:avLst>
              <a:gd name="adj" fmla="val 25000"/>
            </a:avLst>
          </a:prstGeom>
          <a:solidFill>
            <a:srgbClr val="12324A"/>
          </a:solidFill>
          <a:ln/>
        </p:spPr>
      </p:sp>
      <p:sp>
        <p:nvSpPr>
          <p:cNvPr id="47" name="Text 36"/>
          <p:cNvSpPr txBox="1"/>
          <p:nvPr/>
        </p:nvSpPr>
        <p:spPr>
          <a:xfrm>
            <a:off x="4087368" y="3840480"/>
            <a:ext cx="2157984" cy="219456"/>
          </a:xfrm>
          <a:prstGeom prst="rect">
            <a:avLst/>
          </a:prstGeom>
          <a:noFill/>
          <a:ln/>
        </p:spPr>
        <p:txBody>
          <a:bodyPr wrap="square" lIns="0" tIns="0" rIns="0" bIns="0" rtlCol="0" anchor="t"/>
          <a:lstStyle/>
          <a:p>
            <a:pPr algn="l" indent="0" marL="0">
              <a:buNone/>
            </a:pPr>
            <a:r>
              <a:rPr lang="en-US" sz="780" dirty="0">
                <a:solidFill>
                  <a:srgbClr val="FFFFFF"/>
                </a:solidFill>
                <a:latin typeface="Arial" pitchFamily="34" charset="0"/>
                <a:ea typeface="Arial" pitchFamily="34" charset="-122"/>
                <a:cs typeface="Arial" pitchFamily="34" charset="-120"/>
              </a:rPr>
              <a:t>Tháng này căn nào dùng điện nhiều nhất?</a:t>
            </a:r>
            <a:endParaRPr lang="en-US" sz="780" dirty="0"/>
          </a:p>
        </p:txBody>
      </p:sp>
      <p:sp>
        <p:nvSpPr>
          <p:cNvPr id="48" name="Shape 37"/>
          <p:cNvSpPr/>
          <p:nvPr/>
        </p:nvSpPr>
        <p:spPr>
          <a:xfrm>
            <a:off x="2057400" y="4187952"/>
            <a:ext cx="4023360" cy="1399032"/>
          </a:xfrm>
          <a:prstGeom prst="roundRect">
            <a:avLst>
              <a:gd name="adj" fmla="val 5229"/>
            </a:avLst>
          </a:prstGeom>
          <a:solidFill>
            <a:srgbClr val="FFFFFF"/>
          </a:solidFill>
          <a:ln w="6350">
            <a:solidFill>
              <a:srgbClr val="D5DCE3"/>
            </a:solidFill>
            <a:prstDash val="solid"/>
          </a:ln>
        </p:spPr>
      </p:sp>
      <p:pic>
        <p:nvPicPr>
          <p:cNvPr id="49" name="Image 9" descr="preencoded.png">    </p:cNvPr>
          <p:cNvPicPr>
            <a:picLocks noChangeAspect="1"/>
          </p:cNvPicPr>
          <p:nvPr/>
        </p:nvPicPr>
        <p:blipFill>
          <a:blip r:embed="rId10"/>
          <a:stretch>
            <a:fillRect/>
          </a:stretch>
        </p:blipFill>
        <p:spPr>
          <a:xfrm>
            <a:off x="2148840" y="4251960"/>
            <a:ext cx="146304" cy="146304"/>
          </a:xfrm>
          <a:prstGeom prst="rect">
            <a:avLst/>
          </a:prstGeom>
        </p:spPr>
      </p:pic>
      <p:sp>
        <p:nvSpPr>
          <p:cNvPr id="50" name="Text 38"/>
          <p:cNvSpPr txBox="1"/>
          <p:nvPr/>
        </p:nvSpPr>
        <p:spPr>
          <a:xfrm>
            <a:off x="2359152" y="4224528"/>
            <a:ext cx="365760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Ba căn dùng nhiều nhất tháng 10 (đến 19/10):</a:t>
            </a:r>
            <a:endParaRPr lang="en-US" sz="780" dirty="0"/>
          </a:p>
        </p:txBody>
      </p:sp>
      <p:sp>
        <p:nvSpPr>
          <p:cNvPr id="51" name="Shape 39"/>
          <p:cNvSpPr/>
          <p:nvPr/>
        </p:nvSpPr>
        <p:spPr>
          <a:xfrm>
            <a:off x="2359152" y="4443984"/>
            <a:ext cx="2377440" cy="192024"/>
          </a:xfrm>
          <a:prstGeom prst="rect">
            <a:avLst/>
          </a:prstGeom>
          <a:solidFill>
            <a:srgbClr val="F5F7F9"/>
          </a:solidFill>
          <a:ln/>
        </p:spPr>
      </p:sp>
      <p:sp>
        <p:nvSpPr>
          <p:cNvPr id="52" name="Text 40"/>
          <p:cNvSpPr txBox="1"/>
          <p:nvPr/>
        </p:nvSpPr>
        <p:spPr>
          <a:xfrm>
            <a:off x="2423160" y="4443984"/>
            <a:ext cx="731520" cy="192024"/>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Căn</a:t>
            </a:r>
            <a:endParaRPr lang="en-US" sz="750" dirty="0"/>
          </a:p>
        </p:txBody>
      </p:sp>
      <p:sp>
        <p:nvSpPr>
          <p:cNvPr id="53" name="Text 41"/>
          <p:cNvSpPr txBox="1"/>
          <p:nvPr/>
        </p:nvSpPr>
        <p:spPr>
          <a:xfrm>
            <a:off x="3200400" y="4443984"/>
            <a:ext cx="731520" cy="192024"/>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kWh</a:t>
            </a:r>
            <a:endParaRPr lang="en-US" sz="750" dirty="0"/>
          </a:p>
        </p:txBody>
      </p:sp>
      <p:sp>
        <p:nvSpPr>
          <p:cNvPr id="54" name="Text 42"/>
          <p:cNvSpPr txBox="1"/>
          <p:nvPr/>
        </p:nvSpPr>
        <p:spPr>
          <a:xfrm>
            <a:off x="3977640" y="4443984"/>
            <a:ext cx="731520" cy="192024"/>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So T9</a:t>
            </a:r>
            <a:endParaRPr lang="en-US" sz="750" dirty="0"/>
          </a:p>
        </p:txBody>
      </p:sp>
      <p:sp>
        <p:nvSpPr>
          <p:cNvPr id="55" name="Text 43"/>
          <p:cNvSpPr txBox="1"/>
          <p:nvPr/>
        </p:nvSpPr>
        <p:spPr>
          <a:xfrm>
            <a:off x="2423160" y="4636008"/>
            <a:ext cx="731520" cy="192024"/>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5A</a:t>
            </a:r>
            <a:endParaRPr lang="en-US" sz="750" dirty="0"/>
          </a:p>
        </p:txBody>
      </p:sp>
      <p:sp>
        <p:nvSpPr>
          <p:cNvPr id="56" name="Text 44"/>
          <p:cNvSpPr txBox="1"/>
          <p:nvPr/>
        </p:nvSpPr>
        <p:spPr>
          <a:xfrm>
            <a:off x="3200400" y="4636008"/>
            <a:ext cx="731520" cy="192024"/>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1.284</a:t>
            </a:r>
            <a:endParaRPr lang="en-US" sz="750" dirty="0"/>
          </a:p>
        </p:txBody>
      </p:sp>
      <p:sp>
        <p:nvSpPr>
          <p:cNvPr id="57" name="Text 45"/>
          <p:cNvSpPr txBox="1"/>
          <p:nvPr/>
        </p:nvSpPr>
        <p:spPr>
          <a:xfrm>
            <a:off x="3977640" y="4636008"/>
            <a:ext cx="731520" cy="192024"/>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+4%</a:t>
            </a:r>
            <a:endParaRPr lang="en-US" sz="750" dirty="0"/>
          </a:p>
        </p:txBody>
      </p:sp>
      <p:sp>
        <p:nvSpPr>
          <p:cNvPr id="58" name="Text 46"/>
          <p:cNvSpPr txBox="1"/>
          <p:nvPr/>
        </p:nvSpPr>
        <p:spPr>
          <a:xfrm>
            <a:off x="2423160" y="4828032"/>
            <a:ext cx="731520" cy="192024"/>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4B</a:t>
            </a:r>
            <a:endParaRPr lang="en-US" sz="750" dirty="0"/>
          </a:p>
        </p:txBody>
      </p:sp>
      <p:sp>
        <p:nvSpPr>
          <p:cNvPr id="59" name="Text 47"/>
          <p:cNvSpPr txBox="1"/>
          <p:nvPr/>
        </p:nvSpPr>
        <p:spPr>
          <a:xfrm>
            <a:off x="3200400" y="4828032"/>
            <a:ext cx="731520" cy="192024"/>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1.190</a:t>
            </a:r>
            <a:endParaRPr lang="en-US" sz="750" dirty="0"/>
          </a:p>
        </p:txBody>
      </p:sp>
      <p:sp>
        <p:nvSpPr>
          <p:cNvPr id="60" name="Text 48"/>
          <p:cNvSpPr txBox="1"/>
          <p:nvPr/>
        </p:nvSpPr>
        <p:spPr>
          <a:xfrm>
            <a:off x="3977640" y="4828032"/>
            <a:ext cx="731520" cy="192024"/>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−2%</a:t>
            </a:r>
            <a:endParaRPr lang="en-US" sz="750" dirty="0"/>
          </a:p>
        </p:txBody>
      </p:sp>
      <p:sp>
        <p:nvSpPr>
          <p:cNvPr id="61" name="Text 49"/>
          <p:cNvSpPr txBox="1"/>
          <p:nvPr/>
        </p:nvSpPr>
        <p:spPr>
          <a:xfrm>
            <a:off x="2423160" y="5020056"/>
            <a:ext cx="731520" cy="192024"/>
          </a:xfrm>
          <a:prstGeom prst="rect">
            <a:avLst/>
          </a:prstGeom>
          <a:noFill/>
          <a:ln/>
        </p:spPr>
        <p:txBody>
          <a:bodyPr wrap="square" lIns="0" tIns="0" rIns="0" bIns="0" rtlCol="0" anchor="ctr"/>
          <a:lstStyle/>
          <a:p>
            <a:pPr algn="l" indent="0" marL="0">
              <a:buNone/>
            </a:pPr>
            <a:r>
              <a:rPr lang="en-US" sz="750" b="1" dirty="0">
                <a:solidFill>
                  <a:srgbClr val="1A2330"/>
                </a:solidFill>
                <a:latin typeface="Arial" pitchFamily="34" charset="0"/>
                <a:ea typeface="Arial" pitchFamily="34" charset="-122"/>
                <a:cs typeface="Arial" pitchFamily="34" charset="-120"/>
              </a:rPr>
              <a:t>3C</a:t>
            </a:r>
            <a:endParaRPr lang="en-US" sz="750" dirty="0"/>
          </a:p>
        </p:txBody>
      </p:sp>
      <p:sp>
        <p:nvSpPr>
          <p:cNvPr id="62" name="Text 50"/>
          <p:cNvSpPr txBox="1"/>
          <p:nvPr/>
        </p:nvSpPr>
        <p:spPr>
          <a:xfrm>
            <a:off x="3200400" y="5020056"/>
            <a:ext cx="731520" cy="192024"/>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1.105</a:t>
            </a:r>
            <a:endParaRPr lang="en-US" sz="750" dirty="0"/>
          </a:p>
        </p:txBody>
      </p:sp>
      <p:sp>
        <p:nvSpPr>
          <p:cNvPr id="63" name="Text 51"/>
          <p:cNvSpPr txBox="1"/>
          <p:nvPr/>
        </p:nvSpPr>
        <p:spPr>
          <a:xfrm>
            <a:off x="3977640" y="5020056"/>
            <a:ext cx="731520" cy="192024"/>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+11%</a:t>
            </a:r>
            <a:endParaRPr lang="en-US" sz="750" dirty="0"/>
          </a:p>
        </p:txBody>
      </p:sp>
      <p:sp>
        <p:nvSpPr>
          <p:cNvPr id="64" name="Text 52"/>
          <p:cNvSpPr txBox="1"/>
          <p:nvPr/>
        </p:nvSpPr>
        <p:spPr>
          <a:xfrm>
            <a:off x="2359152" y="5212080"/>
            <a:ext cx="3657600" cy="182880"/>
          </a:xfrm>
          <a:prstGeom prst="rect">
            <a:avLst/>
          </a:prstGeom>
          <a:noFill/>
          <a:ln/>
        </p:spPr>
        <p:txBody>
          <a:bodyPr wrap="square" lIns="0" tIns="0" rIns="0" bIns="0" rtlCol="0" anchor="ctr"/>
          <a:lstStyle/>
          <a:p>
            <a:pPr algn="l" indent="0" marL="0">
              <a:buNone/>
            </a:pPr>
            <a:r>
              <a:rPr lang="en-US" sz="750" dirty="0">
                <a:solidFill>
                  <a:srgbClr val="1A2330"/>
                </a:solidFill>
                <a:latin typeface="Arial" pitchFamily="34" charset="0"/>
                <a:ea typeface="Arial" pitchFamily="34" charset="-122"/>
                <a:cs typeface="Arial" pitchFamily="34" charset="-120"/>
              </a:rPr>
              <a:t>Căn 3C tăng 11% chủ yếu từ 22:00–02:00. Xem chi tiết ở trang Năng lượng.</a:t>
            </a:r>
            <a:endParaRPr lang="en-US" sz="750" dirty="0"/>
          </a:p>
        </p:txBody>
      </p:sp>
      <p:sp>
        <p:nvSpPr>
          <p:cNvPr id="65" name="Text 53"/>
          <p:cNvSpPr txBox="1"/>
          <p:nvPr/>
        </p:nvSpPr>
        <p:spPr>
          <a:xfrm>
            <a:off x="2359152" y="5385816"/>
            <a:ext cx="3657600" cy="182880"/>
          </a:xfrm>
          <a:prstGeom prst="rect">
            <a:avLst/>
          </a:prstGeom>
          <a:noFill/>
          <a:ln/>
        </p:spPr>
        <p:txBody>
          <a:bodyPr wrap="square" lIns="0" tIns="0" rIns="0" bIns="0" rtlCol="0" anchor="ctr"/>
          <a:lstStyle/>
          <a:p>
            <a:pPr algn="l" indent="0" marL="0">
              <a:buNone/>
            </a:pPr>
            <a:r>
              <a:rPr lang="en-US" sz="650" i="1" dirty="0">
                <a:solidFill>
                  <a:srgbClr val="1B7F79"/>
                </a:solidFill>
                <a:latin typeface="Arial" pitchFamily="34" charset="0"/>
                <a:ea typeface="Arial" pitchFamily="34" charset="-122"/>
                <a:cs typeface="Arial" pitchFamily="34" charset="-120"/>
              </a:rPr>
              <a:t>Nguồn: đồng hồ PM-CH-3C, PM-CH-4B, PM-CH-5A · cập nhật 10:15</a:t>
            </a:r>
            <a:endParaRPr lang="en-US" sz="650" dirty="0"/>
          </a:p>
        </p:txBody>
      </p:sp>
      <p:sp>
        <p:nvSpPr>
          <p:cNvPr id="66" name="Shape 54"/>
          <p:cNvSpPr/>
          <p:nvPr/>
        </p:nvSpPr>
        <p:spPr>
          <a:xfrm>
            <a:off x="2057400" y="5623560"/>
            <a:ext cx="1325880" cy="219456"/>
          </a:xfrm>
          <a:prstGeom prst="roundRect">
            <a:avLst>
              <a:gd name="adj" fmla="val 41667"/>
            </a:avLst>
          </a:prstGeom>
          <a:solidFill>
            <a:srgbClr val="E8F3F2"/>
          </a:solidFill>
          <a:ln/>
        </p:spPr>
      </p:sp>
      <p:sp>
        <p:nvSpPr>
          <p:cNvPr id="67" name="Text 55"/>
          <p:cNvSpPr txBox="1"/>
          <p:nvPr/>
        </p:nvSpPr>
        <p:spPr>
          <a:xfrm>
            <a:off x="2057400" y="5623560"/>
            <a:ext cx="1325880" cy="219456"/>
          </a:xfrm>
          <a:prstGeom prst="rect">
            <a:avLst/>
          </a:prstGeom>
          <a:noFill/>
          <a:ln/>
        </p:spPr>
        <p:txBody>
          <a:bodyPr wrap="square" lIns="0" tIns="0" rIns="0" bIns="0" rtlCol="0" anchor="ctr"/>
          <a:lstStyle/>
          <a:p>
            <a:pPr algn="ctr" indent="0" marL="0">
              <a:buNone/>
            </a:pPr>
            <a:r>
              <a:rPr lang="en-US" sz="700" b="1" dirty="0">
                <a:solidFill>
                  <a:srgbClr val="1B7F79"/>
                </a:solidFill>
                <a:latin typeface="Arial" pitchFamily="34" charset="0"/>
                <a:ea typeface="Arial" pitchFamily="34" charset="-122"/>
                <a:cs typeface="Arial" pitchFamily="34" charset="-120"/>
              </a:rPr>
              <a:t>Tóm tắt ca đêm</a:t>
            </a:r>
            <a:endParaRPr lang="en-US" sz="700" dirty="0"/>
          </a:p>
        </p:txBody>
      </p:sp>
      <p:sp>
        <p:nvSpPr>
          <p:cNvPr id="68" name="Shape 56"/>
          <p:cNvSpPr/>
          <p:nvPr/>
        </p:nvSpPr>
        <p:spPr>
          <a:xfrm>
            <a:off x="3447288" y="5623560"/>
            <a:ext cx="1325880" cy="219456"/>
          </a:xfrm>
          <a:prstGeom prst="roundRect">
            <a:avLst>
              <a:gd name="adj" fmla="val 41667"/>
            </a:avLst>
          </a:prstGeom>
          <a:solidFill>
            <a:srgbClr val="E8F3F2"/>
          </a:solidFill>
          <a:ln/>
        </p:spPr>
      </p:sp>
      <p:sp>
        <p:nvSpPr>
          <p:cNvPr id="69" name="Text 57"/>
          <p:cNvSpPr txBox="1"/>
          <p:nvPr/>
        </p:nvSpPr>
        <p:spPr>
          <a:xfrm>
            <a:off x="3447288" y="5623560"/>
            <a:ext cx="1325880" cy="219456"/>
          </a:xfrm>
          <a:prstGeom prst="rect">
            <a:avLst/>
          </a:prstGeom>
          <a:noFill/>
          <a:ln/>
        </p:spPr>
        <p:txBody>
          <a:bodyPr wrap="square" lIns="0" tIns="0" rIns="0" bIns="0" rtlCol="0" anchor="ctr"/>
          <a:lstStyle/>
          <a:p>
            <a:pPr algn="ctr" indent="0" marL="0">
              <a:buNone/>
            </a:pPr>
            <a:r>
              <a:rPr lang="en-US" sz="700" b="1" dirty="0">
                <a:solidFill>
                  <a:srgbClr val="1B7F79"/>
                </a:solidFill>
                <a:latin typeface="Arial" pitchFamily="34" charset="0"/>
                <a:ea typeface="Arial" pitchFamily="34" charset="-122"/>
                <a:cs typeface="Arial" pitchFamily="34" charset="-120"/>
              </a:rPr>
              <a:t>Cảnh báo tuần này</a:t>
            </a:r>
            <a:endParaRPr lang="en-US" sz="700" dirty="0"/>
          </a:p>
        </p:txBody>
      </p:sp>
      <p:sp>
        <p:nvSpPr>
          <p:cNvPr id="70" name="Shape 58"/>
          <p:cNvSpPr/>
          <p:nvPr/>
        </p:nvSpPr>
        <p:spPr>
          <a:xfrm>
            <a:off x="4837176" y="5623560"/>
            <a:ext cx="1325880" cy="219456"/>
          </a:xfrm>
          <a:prstGeom prst="roundRect">
            <a:avLst>
              <a:gd name="adj" fmla="val 41667"/>
            </a:avLst>
          </a:prstGeom>
          <a:solidFill>
            <a:srgbClr val="E8F3F2"/>
          </a:solidFill>
          <a:ln/>
        </p:spPr>
      </p:sp>
      <p:sp>
        <p:nvSpPr>
          <p:cNvPr id="71" name="Text 59"/>
          <p:cNvSpPr txBox="1"/>
          <p:nvPr/>
        </p:nvSpPr>
        <p:spPr>
          <a:xfrm>
            <a:off x="4837176" y="5623560"/>
            <a:ext cx="1325880" cy="219456"/>
          </a:xfrm>
          <a:prstGeom prst="rect">
            <a:avLst/>
          </a:prstGeom>
          <a:noFill/>
          <a:ln/>
        </p:spPr>
        <p:txBody>
          <a:bodyPr wrap="square" lIns="0" tIns="0" rIns="0" bIns="0" rtlCol="0" anchor="ctr"/>
          <a:lstStyle/>
          <a:p>
            <a:pPr algn="ctr" indent="0" marL="0">
              <a:buNone/>
            </a:pPr>
            <a:r>
              <a:rPr lang="en-US" sz="700" b="1" dirty="0">
                <a:solidFill>
                  <a:srgbClr val="1B7F79"/>
                </a:solidFill>
                <a:latin typeface="Arial" pitchFamily="34" charset="0"/>
                <a:ea typeface="Arial" pitchFamily="34" charset="-122"/>
                <a:cs typeface="Arial" pitchFamily="34" charset="-120"/>
              </a:rPr>
              <a:t>Lịch bảo trì tuần tới</a:t>
            </a:r>
            <a:endParaRPr lang="en-US" sz="700" dirty="0"/>
          </a:p>
        </p:txBody>
      </p:sp>
      <p:sp>
        <p:nvSpPr>
          <p:cNvPr id="72" name="Shape 60"/>
          <p:cNvSpPr/>
          <p:nvPr/>
        </p:nvSpPr>
        <p:spPr>
          <a:xfrm>
            <a:off x="2057400" y="5925312"/>
            <a:ext cx="4297680" cy="310896"/>
          </a:xfrm>
          <a:prstGeom prst="roundRect">
            <a:avLst>
              <a:gd name="adj" fmla="val 29412"/>
            </a:avLst>
          </a:prstGeom>
          <a:solidFill>
            <a:srgbClr val="FFFFFF"/>
          </a:solidFill>
          <a:ln w="9525">
            <a:solidFill>
              <a:srgbClr val="9AA6B2"/>
            </a:solidFill>
            <a:prstDash val="solid"/>
          </a:ln>
        </p:spPr>
      </p:sp>
      <p:sp>
        <p:nvSpPr>
          <p:cNvPr id="73" name="Text 61"/>
          <p:cNvSpPr txBox="1"/>
          <p:nvPr/>
        </p:nvSpPr>
        <p:spPr>
          <a:xfrm>
            <a:off x="2194560" y="5925312"/>
            <a:ext cx="3200400" cy="310896"/>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Hỏi về thiết bị, cảnh báo, điện nước…</a:t>
            </a:r>
            <a:endParaRPr lang="en-US" sz="750" dirty="0"/>
          </a:p>
        </p:txBody>
      </p:sp>
      <p:pic>
        <p:nvPicPr>
          <p:cNvPr id="74" name="Image 10" descr="preencoded.png">    </p:cNvPr>
          <p:cNvPicPr>
            <a:picLocks noChangeAspect="1"/>
          </p:cNvPicPr>
          <p:nvPr/>
        </p:nvPicPr>
        <p:blipFill>
          <a:blip r:embed="rId11"/>
          <a:stretch>
            <a:fillRect/>
          </a:stretch>
        </p:blipFill>
        <p:spPr>
          <a:xfrm>
            <a:off x="6080760" y="5998464"/>
            <a:ext cx="164592" cy="164592"/>
          </a:xfrm>
          <a:prstGeom prst="rect">
            <a:avLst/>
          </a:prstGeom>
        </p:spPr>
      </p:pic>
      <p:sp>
        <p:nvSpPr>
          <p:cNvPr id="75" name="Shape 62"/>
          <p:cNvSpPr/>
          <p:nvPr/>
        </p:nvSpPr>
        <p:spPr>
          <a:xfrm>
            <a:off x="6601968" y="2130552"/>
            <a:ext cx="2267712" cy="4206240"/>
          </a:xfrm>
          <a:prstGeom prst="roundRect">
            <a:avLst>
              <a:gd name="adj" fmla="val 2419"/>
            </a:avLst>
          </a:prstGeom>
          <a:solidFill>
            <a:srgbClr val="FFFFFF"/>
          </a:solidFill>
          <a:ln w="6350">
            <a:solidFill>
              <a:srgbClr val="D5DCE3"/>
            </a:solidFill>
            <a:prstDash val="solid"/>
          </a:ln>
        </p:spPr>
      </p:sp>
      <p:sp>
        <p:nvSpPr>
          <p:cNvPr id="76" name="Text 63"/>
          <p:cNvSpPr txBox="1"/>
          <p:nvPr/>
        </p:nvSpPr>
        <p:spPr>
          <a:xfrm>
            <a:off x="6711696" y="2185416"/>
            <a:ext cx="2048256" cy="219456"/>
          </a:xfrm>
          <a:prstGeom prst="rect">
            <a:avLst/>
          </a:prstGeom>
          <a:noFill/>
          <a:ln/>
        </p:spPr>
        <p:txBody>
          <a:bodyPr wrap="square" lIns="0" tIns="0" rIns="0" bIns="0" rtlCol="0" anchor="ctr"/>
          <a:lstStyle/>
          <a:p>
            <a:pPr algn="l" indent="0" marL="0">
              <a:buNone/>
            </a:pPr>
            <a:r>
              <a:rPr lang="en-US" sz="850" b="1" dirty="0">
                <a:solidFill>
                  <a:srgbClr val="12324A"/>
                </a:solidFill>
                <a:latin typeface="Arial" pitchFamily="34" charset="0"/>
                <a:ea typeface="Arial" pitchFamily="34" charset="-122"/>
                <a:cs typeface="Arial" pitchFamily="34" charset="-120"/>
              </a:rPr>
              <a:t>Tóm tắt ca đêm 19–20/10 (AI soạn)</a:t>
            </a:r>
            <a:endParaRPr lang="en-US" sz="850" dirty="0"/>
          </a:p>
        </p:txBody>
      </p:sp>
      <p:sp>
        <p:nvSpPr>
          <p:cNvPr id="77" name="Text 64"/>
          <p:cNvSpPr txBox="1"/>
          <p:nvPr/>
        </p:nvSpPr>
        <p:spPr>
          <a:xfrm>
            <a:off x="6711696" y="2478024"/>
            <a:ext cx="2048256"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3 sự kiện</a:t>
            </a:r>
            <a:endParaRPr lang="en-US" sz="800" dirty="0"/>
          </a:p>
        </p:txBody>
      </p:sp>
      <p:sp>
        <p:nvSpPr>
          <p:cNvPr id="78" name="Text 65"/>
          <p:cNvSpPr txBox="1"/>
          <p:nvPr/>
        </p:nvSpPr>
        <p:spPr>
          <a:xfrm>
            <a:off x="6711696" y="2679192"/>
            <a:ext cx="2048256" cy="594360"/>
          </a:xfrm>
          <a:prstGeom prst="rect">
            <a:avLst/>
          </a:prstGeom>
          <a:noFill/>
          <a:ln/>
        </p:spPr>
        <p:txBody>
          <a:bodyPr wrap="square" lIns="0" tIns="0" rIns="0" bIns="0" rtlCol="0" anchor="t"/>
          <a:lstStyle/>
          <a:p>
            <a:pPr algn="l" indent="0" marL="0">
              <a:buNone/>
            </a:pPr>
            <a:r>
              <a:rPr lang="en-US" sz="730" dirty="0">
                <a:solidFill>
                  <a:srgbClr val="1A2330"/>
                </a:solidFill>
                <a:latin typeface="Arial" pitchFamily="34" charset="0"/>
                <a:ea typeface="Arial" pitchFamily="34" charset="-122"/>
                <a:cs typeface="Arial" pitchFamily="34" charset="-120"/>
              </a:rPr>
              <a:t>Rò rỉ tầng 3 (đã đóng van 02:41); trạm sạc 03 mất kết nối; người ở khu kỹ thuật (đã xác minh: KT trực)</a:t>
            </a:r>
            <a:endParaRPr lang="en-US" sz="730" dirty="0"/>
          </a:p>
        </p:txBody>
      </p:sp>
      <p:sp>
        <p:nvSpPr>
          <p:cNvPr id="79" name="Text 66"/>
          <p:cNvSpPr txBox="1"/>
          <p:nvPr/>
        </p:nvSpPr>
        <p:spPr>
          <a:xfrm>
            <a:off x="6711696" y="3319272"/>
            <a:ext cx="2048256"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2 việc tồn</a:t>
            </a:r>
            <a:endParaRPr lang="en-US" sz="800" dirty="0"/>
          </a:p>
        </p:txBody>
      </p:sp>
      <p:sp>
        <p:nvSpPr>
          <p:cNvPr id="80" name="Text 67"/>
          <p:cNvSpPr txBox="1"/>
          <p:nvPr/>
        </p:nvSpPr>
        <p:spPr>
          <a:xfrm>
            <a:off x="6711696" y="3520440"/>
            <a:ext cx="2048256" cy="594360"/>
          </a:xfrm>
          <a:prstGeom prst="rect">
            <a:avLst/>
          </a:prstGeom>
          <a:noFill/>
          <a:ln/>
        </p:spPr>
        <p:txBody>
          <a:bodyPr wrap="square" lIns="0" tIns="0" rIns="0" bIns="0" rtlCol="0" anchor="t"/>
          <a:lstStyle/>
          <a:p>
            <a:pPr algn="l" indent="0" marL="0">
              <a:buNone/>
            </a:pPr>
            <a:r>
              <a:rPr lang="en-US" sz="730" dirty="0">
                <a:solidFill>
                  <a:srgbClr val="1A2330"/>
                </a:solidFill>
                <a:latin typeface="Arial" pitchFamily="34" charset="0"/>
                <a:ea typeface="Arial" pitchFamily="34" charset="-122"/>
                <a:cs typeface="Arial" pitchFamily="34" charset="-120"/>
              </a:rPr>
              <a:t>Phiếu #1043 vệ sinh lọc FAF-02; kiểm tra van một chiều bơm tăng áp 02</a:t>
            </a:r>
            <a:endParaRPr lang="en-US" sz="730" dirty="0"/>
          </a:p>
        </p:txBody>
      </p:sp>
      <p:sp>
        <p:nvSpPr>
          <p:cNvPr id="81" name="Text 68"/>
          <p:cNvSpPr txBox="1"/>
          <p:nvPr/>
        </p:nvSpPr>
        <p:spPr>
          <a:xfrm>
            <a:off x="6711696" y="4160520"/>
            <a:ext cx="2048256"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Lưu ý ca ngày</a:t>
            </a:r>
            <a:endParaRPr lang="en-US" sz="800" dirty="0"/>
          </a:p>
        </p:txBody>
      </p:sp>
      <p:sp>
        <p:nvSpPr>
          <p:cNvPr id="82" name="Text 69"/>
          <p:cNvSpPr txBox="1"/>
          <p:nvPr/>
        </p:nvSpPr>
        <p:spPr>
          <a:xfrm>
            <a:off x="6711696" y="4361688"/>
            <a:ext cx="2048256" cy="594360"/>
          </a:xfrm>
          <a:prstGeom prst="rect">
            <a:avLst/>
          </a:prstGeom>
          <a:noFill/>
          <a:ln/>
        </p:spPr>
        <p:txBody>
          <a:bodyPr wrap="square" lIns="0" tIns="0" rIns="0" bIns="0" rtlCol="0" anchor="t"/>
          <a:lstStyle/>
          <a:p>
            <a:pPr algn="l" indent="0" marL="0">
              <a:buNone/>
            </a:pPr>
            <a:r>
              <a:rPr lang="en-US" sz="730" dirty="0">
                <a:solidFill>
                  <a:srgbClr val="1A2330"/>
                </a:solidFill>
                <a:latin typeface="Arial" pitchFamily="34" charset="0"/>
                <a:ea typeface="Arial" pitchFamily="34" charset="-122"/>
                <a:cs typeface="Arial" pitchFamily="34" charset="-120"/>
              </a:rPr>
              <a:t>Thợ sửa ống căn 3B cần QR vào khu kỹ thuật từ 08:30</a:t>
            </a:r>
            <a:endParaRPr lang="en-US" sz="730" dirty="0"/>
          </a:p>
        </p:txBody>
      </p:sp>
      <p:sp>
        <p:nvSpPr>
          <p:cNvPr id="83" name="Text 70"/>
          <p:cNvSpPr txBox="1"/>
          <p:nvPr/>
        </p:nvSpPr>
        <p:spPr>
          <a:xfrm>
            <a:off x="6711696" y="5001768"/>
            <a:ext cx="2048256" cy="201168"/>
          </a:xfrm>
          <a:prstGeom prst="rect">
            <a:avLst/>
          </a:prstGeom>
          <a:noFill/>
          <a:ln/>
        </p:spPr>
        <p:txBody>
          <a:bodyPr wrap="square" lIns="0" tIns="0" rIns="0" bIns="0" rtlCol="0" anchor="ctr"/>
          <a:lstStyle/>
          <a:p>
            <a:pPr algn="l" indent="0" marL="0">
              <a:buNone/>
            </a:pPr>
            <a:r>
              <a:rPr lang="en-US" sz="800" b="1" dirty="0">
                <a:solidFill>
                  <a:srgbClr val="12324A"/>
                </a:solidFill>
                <a:latin typeface="Arial" pitchFamily="34" charset="0"/>
                <a:ea typeface="Arial" pitchFamily="34" charset="-122"/>
                <a:cs typeface="Arial" pitchFamily="34" charset="-120"/>
              </a:rPr>
              <a:t>Số liệu</a:t>
            </a:r>
            <a:endParaRPr lang="en-US" sz="800" dirty="0"/>
          </a:p>
        </p:txBody>
      </p:sp>
      <p:sp>
        <p:nvSpPr>
          <p:cNvPr id="84" name="Text 71"/>
          <p:cNvSpPr txBox="1"/>
          <p:nvPr/>
        </p:nvSpPr>
        <p:spPr>
          <a:xfrm>
            <a:off x="6711696" y="5202936"/>
            <a:ext cx="2048256" cy="594360"/>
          </a:xfrm>
          <a:prstGeom prst="rect">
            <a:avLst/>
          </a:prstGeom>
          <a:noFill/>
          <a:ln/>
        </p:spPr>
        <p:txBody>
          <a:bodyPr wrap="square" lIns="0" tIns="0" rIns="0" bIns="0" rtlCol="0" anchor="t"/>
          <a:lstStyle/>
          <a:p>
            <a:pPr algn="l" indent="0" marL="0">
              <a:buNone/>
            </a:pPr>
            <a:r>
              <a:rPr lang="en-US" sz="730" dirty="0">
                <a:solidFill>
                  <a:srgbClr val="1A2330"/>
                </a:solidFill>
                <a:latin typeface="Arial" pitchFamily="34" charset="0"/>
                <a:ea typeface="Arial" pitchFamily="34" charset="-122"/>
                <a:cs typeface="Arial" pitchFamily="34" charset="-120"/>
              </a:rPr>
              <a:t>Điện đêm 412 kWh (dự báo 405); nước đêm bình thường trừ tầng 3</a:t>
            </a:r>
            <a:endParaRPr lang="en-US" sz="730" dirty="0"/>
          </a:p>
        </p:txBody>
      </p:sp>
      <p:sp>
        <p:nvSpPr>
          <p:cNvPr id="85" name="Shape 72"/>
          <p:cNvSpPr/>
          <p:nvPr/>
        </p:nvSpPr>
        <p:spPr>
          <a:xfrm>
            <a:off x="6711696" y="5925312"/>
            <a:ext cx="2048256" cy="292608"/>
          </a:xfrm>
          <a:prstGeom prst="roundRect">
            <a:avLst>
              <a:gd name="adj" fmla="val 25000"/>
            </a:avLst>
          </a:prstGeom>
          <a:solidFill>
            <a:srgbClr val="1B7F79"/>
          </a:solidFill>
          <a:ln/>
        </p:spPr>
      </p:sp>
      <p:sp>
        <p:nvSpPr>
          <p:cNvPr id="86" name="Text 73"/>
          <p:cNvSpPr txBox="1"/>
          <p:nvPr/>
        </p:nvSpPr>
        <p:spPr>
          <a:xfrm>
            <a:off x="6711696" y="5925312"/>
            <a:ext cx="204825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Xác nhận bàn giao ca</a:t>
            </a:r>
            <a:endParaRPr lang="en-US" sz="800" dirty="0"/>
          </a:p>
        </p:txBody>
      </p:sp>
      <p:sp>
        <p:nvSpPr>
          <p:cNvPr id="87" name="Shape 74"/>
          <p:cNvSpPr/>
          <p:nvPr/>
        </p:nvSpPr>
        <p:spPr>
          <a:xfrm>
            <a:off x="5943600" y="3392424"/>
            <a:ext cx="274320" cy="274320"/>
          </a:xfrm>
          <a:prstGeom prst="ellipse">
            <a:avLst/>
          </a:prstGeom>
          <a:solidFill>
            <a:srgbClr val="E8833A"/>
          </a:solidFill>
          <a:ln w="19050">
            <a:solidFill>
              <a:srgbClr val="FFFFFF"/>
            </a:solidFill>
            <a:prstDash val="solid"/>
          </a:ln>
        </p:spPr>
      </p:sp>
      <p:sp>
        <p:nvSpPr>
          <p:cNvPr id="88" name="Text 75"/>
          <p:cNvSpPr txBox="1"/>
          <p:nvPr/>
        </p:nvSpPr>
        <p:spPr>
          <a:xfrm>
            <a:off x="5943600" y="33924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9" name="Shape 76"/>
          <p:cNvSpPr/>
          <p:nvPr/>
        </p:nvSpPr>
        <p:spPr>
          <a:xfrm>
            <a:off x="4846320" y="4416552"/>
            <a:ext cx="274320" cy="274320"/>
          </a:xfrm>
          <a:prstGeom prst="ellipse">
            <a:avLst/>
          </a:prstGeom>
          <a:solidFill>
            <a:srgbClr val="E8833A"/>
          </a:solidFill>
          <a:ln w="19050">
            <a:solidFill>
              <a:srgbClr val="FFFFFF"/>
            </a:solidFill>
            <a:prstDash val="solid"/>
          </a:ln>
        </p:spPr>
      </p:sp>
      <p:sp>
        <p:nvSpPr>
          <p:cNvPr id="90" name="Text 77"/>
          <p:cNvSpPr txBox="1"/>
          <p:nvPr/>
        </p:nvSpPr>
        <p:spPr>
          <a:xfrm>
            <a:off x="4846320" y="4416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91" name="Shape 78"/>
          <p:cNvSpPr/>
          <p:nvPr/>
        </p:nvSpPr>
        <p:spPr>
          <a:xfrm>
            <a:off x="6172200" y="5513832"/>
            <a:ext cx="274320" cy="274320"/>
          </a:xfrm>
          <a:prstGeom prst="ellipse">
            <a:avLst/>
          </a:prstGeom>
          <a:solidFill>
            <a:srgbClr val="E8833A"/>
          </a:solidFill>
          <a:ln w="19050">
            <a:solidFill>
              <a:srgbClr val="FFFFFF"/>
            </a:solidFill>
            <a:prstDash val="solid"/>
          </a:ln>
        </p:spPr>
      </p:sp>
      <p:sp>
        <p:nvSpPr>
          <p:cNvPr id="92" name="Text 79"/>
          <p:cNvSpPr txBox="1"/>
          <p:nvPr/>
        </p:nvSpPr>
        <p:spPr>
          <a:xfrm>
            <a:off x="6172200" y="5513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93" name="Shape 80"/>
          <p:cNvSpPr/>
          <p:nvPr/>
        </p:nvSpPr>
        <p:spPr>
          <a:xfrm>
            <a:off x="8549640" y="2148840"/>
            <a:ext cx="274320" cy="274320"/>
          </a:xfrm>
          <a:prstGeom prst="ellipse">
            <a:avLst/>
          </a:prstGeom>
          <a:solidFill>
            <a:srgbClr val="E8833A"/>
          </a:solidFill>
          <a:ln w="19050">
            <a:solidFill>
              <a:srgbClr val="FFFFFF"/>
            </a:solidFill>
            <a:prstDash val="solid"/>
          </a:ln>
        </p:spPr>
      </p:sp>
      <p:sp>
        <p:nvSpPr>
          <p:cNvPr id="94" name="Text 81"/>
          <p:cNvSpPr txBox="1"/>
          <p:nvPr/>
        </p:nvSpPr>
        <p:spPr>
          <a:xfrm>
            <a:off x="8549640" y="2148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95" name="Shape 82"/>
          <p:cNvSpPr/>
          <p:nvPr/>
        </p:nvSpPr>
        <p:spPr>
          <a:xfrm>
            <a:off x="9189720" y="1325880"/>
            <a:ext cx="2560320" cy="5120640"/>
          </a:xfrm>
          <a:prstGeom prst="roundRect">
            <a:avLst>
              <a:gd name="adj" fmla="val 1786"/>
            </a:avLst>
          </a:prstGeom>
          <a:solidFill>
            <a:srgbClr val="E8F3F2"/>
          </a:solidFill>
          <a:ln/>
        </p:spPr>
      </p:sp>
      <p:sp>
        <p:nvSpPr>
          <p:cNvPr id="96" name="Text 83"/>
          <p:cNvSpPr txBox="1"/>
          <p:nvPr/>
        </p:nvSpPr>
        <p:spPr>
          <a:xfrm>
            <a:off x="9372600" y="1435608"/>
            <a:ext cx="219456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97" name="Shape 84"/>
          <p:cNvSpPr/>
          <p:nvPr/>
        </p:nvSpPr>
        <p:spPr>
          <a:xfrm>
            <a:off x="9372600" y="1892808"/>
            <a:ext cx="274320" cy="274320"/>
          </a:xfrm>
          <a:prstGeom prst="ellipse">
            <a:avLst/>
          </a:prstGeom>
          <a:solidFill>
            <a:srgbClr val="E8833A"/>
          </a:solidFill>
          <a:ln w="19050">
            <a:solidFill>
              <a:srgbClr val="FFFFFF"/>
            </a:solidFill>
            <a:prstDash val="solid"/>
          </a:ln>
        </p:spPr>
      </p:sp>
      <p:sp>
        <p:nvSpPr>
          <p:cNvPr id="98" name="Text 85"/>
          <p:cNvSpPr txBox="1"/>
          <p:nvPr/>
        </p:nvSpPr>
        <p:spPr>
          <a:xfrm>
            <a:off x="937260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9" name="Text 86"/>
          <p:cNvSpPr txBox="1"/>
          <p:nvPr/>
        </p:nvSpPr>
        <p:spPr>
          <a:xfrm>
            <a:off x="9738360" y="187452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Câu trả lời có nguồn</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Mỗi câu trả lời ghi điểm dữ liệu và thời điểm; không có dữ liệu thì nói không biết</a:t>
            </a:r>
            <a:endParaRPr lang="en-US" sz="1050" dirty="0"/>
          </a:p>
        </p:txBody>
      </p:sp>
      <p:sp>
        <p:nvSpPr>
          <p:cNvPr id="100" name="Shape 87"/>
          <p:cNvSpPr/>
          <p:nvPr/>
        </p:nvSpPr>
        <p:spPr>
          <a:xfrm>
            <a:off x="9372600" y="3012948"/>
            <a:ext cx="274320" cy="274320"/>
          </a:xfrm>
          <a:prstGeom prst="ellipse">
            <a:avLst/>
          </a:prstGeom>
          <a:solidFill>
            <a:srgbClr val="E8833A"/>
          </a:solidFill>
          <a:ln w="19050">
            <a:solidFill>
              <a:srgbClr val="FFFFFF"/>
            </a:solidFill>
            <a:prstDash val="solid"/>
          </a:ln>
        </p:spPr>
      </p:sp>
      <p:sp>
        <p:nvSpPr>
          <p:cNvPr id="101" name="Text 88"/>
          <p:cNvSpPr txBox="1"/>
          <p:nvPr/>
        </p:nvSpPr>
        <p:spPr>
          <a:xfrm>
            <a:off x="9372600" y="3012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2" name="Text 89"/>
          <p:cNvSpPr txBox="1"/>
          <p:nvPr/>
        </p:nvSpPr>
        <p:spPr>
          <a:xfrm>
            <a:off x="9738360" y="299466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Trả lời bằng bảng khi cần</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Số liệu so sánh trình bày như bảng nhỏ, kèm liên kết sang trang chi tiết</a:t>
            </a:r>
            <a:endParaRPr lang="en-US" sz="1050" dirty="0"/>
          </a:p>
        </p:txBody>
      </p:sp>
      <p:sp>
        <p:nvSpPr>
          <p:cNvPr id="103" name="Shape 90"/>
          <p:cNvSpPr/>
          <p:nvPr/>
        </p:nvSpPr>
        <p:spPr>
          <a:xfrm>
            <a:off x="9372600" y="4133088"/>
            <a:ext cx="274320" cy="274320"/>
          </a:xfrm>
          <a:prstGeom prst="ellipse">
            <a:avLst/>
          </a:prstGeom>
          <a:solidFill>
            <a:srgbClr val="E8833A"/>
          </a:solidFill>
          <a:ln w="19050">
            <a:solidFill>
              <a:srgbClr val="FFFFFF"/>
            </a:solidFill>
            <a:prstDash val="solid"/>
          </a:ln>
        </p:spPr>
      </p:sp>
      <p:sp>
        <p:nvSpPr>
          <p:cNvPr id="104" name="Text 91"/>
          <p:cNvSpPr txBox="1"/>
          <p:nvPr/>
        </p:nvSpPr>
        <p:spPr>
          <a:xfrm>
            <a:off x="937260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05" name="Text 92"/>
          <p:cNvSpPr txBox="1"/>
          <p:nvPr/>
        </p:nvSpPr>
        <p:spPr>
          <a:xfrm>
            <a:off x="9738360" y="411480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Gợi ý câu hỏi</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Giúp người mới biết trợ lý làm được gì; phân quyền theo vai trò</a:t>
            </a:r>
            <a:endParaRPr lang="en-US" sz="1050" dirty="0"/>
          </a:p>
        </p:txBody>
      </p:sp>
      <p:sp>
        <p:nvSpPr>
          <p:cNvPr id="106" name="Shape 93"/>
          <p:cNvSpPr/>
          <p:nvPr/>
        </p:nvSpPr>
        <p:spPr>
          <a:xfrm>
            <a:off x="9372600" y="5253228"/>
            <a:ext cx="274320" cy="274320"/>
          </a:xfrm>
          <a:prstGeom prst="ellipse">
            <a:avLst/>
          </a:prstGeom>
          <a:solidFill>
            <a:srgbClr val="E8833A"/>
          </a:solidFill>
          <a:ln w="19050">
            <a:solidFill>
              <a:srgbClr val="FFFFFF"/>
            </a:solidFill>
            <a:prstDash val="solid"/>
          </a:ln>
        </p:spPr>
      </p:sp>
      <p:sp>
        <p:nvSpPr>
          <p:cNvPr id="107" name="Text 94"/>
          <p:cNvSpPr txBox="1"/>
          <p:nvPr/>
        </p:nvSpPr>
        <p:spPr>
          <a:xfrm>
            <a:off x="9372600" y="52532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08" name="Text 95"/>
          <p:cNvSpPr txBox="1"/>
          <p:nvPr/>
        </p:nvSpPr>
        <p:spPr>
          <a:xfrm>
            <a:off x="9738360" y="5234940"/>
            <a:ext cx="1874520" cy="104698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Tóm tắt ca thay sổ giao ca</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AI soạn, người trực xác nhận; lưu làm nhật ký vận hành</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App cư dân: mời khách trong ba bước, không cần gọi lễ tân</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Kịch bản K2 · Persona: cư dân căn 4B · iOS, Android, song ngữ Việt – Anh</a:t>
            </a:r>
            <a:endParaRPr lang="en-US" sz="1300" dirty="0"/>
          </a:p>
        </p:txBody>
      </p:sp>
      <p:sp>
        <p:nvSpPr>
          <p:cNvPr id="4" name="Shape 2"/>
          <p:cNvSpPr/>
          <p:nvPr/>
        </p:nvSpPr>
        <p:spPr>
          <a:xfrm>
            <a:off x="777240" y="1344168"/>
            <a:ext cx="1920240" cy="246888"/>
          </a:xfrm>
          <a:prstGeom prst="roundRect">
            <a:avLst>
              <a:gd name="adj" fmla="val 37037"/>
            </a:avLst>
          </a:prstGeom>
          <a:solidFill>
            <a:srgbClr val="12324A"/>
          </a:solidFill>
          <a:ln/>
        </p:spPr>
      </p:sp>
      <p:sp>
        <p:nvSpPr>
          <p:cNvPr id="5" name="Text 3"/>
          <p:cNvSpPr txBox="1"/>
          <p:nvPr/>
        </p:nvSpPr>
        <p:spPr>
          <a:xfrm>
            <a:off x="77724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Trang chủ</a:t>
            </a:r>
            <a:endParaRPr lang="en-US" sz="900" dirty="0"/>
          </a:p>
        </p:txBody>
      </p:sp>
      <p:sp>
        <p:nvSpPr>
          <p:cNvPr id="6" name="Shape 4"/>
          <p:cNvSpPr/>
          <p:nvPr/>
        </p:nvSpPr>
        <p:spPr>
          <a:xfrm>
            <a:off x="54864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7" name="Shape 5"/>
          <p:cNvSpPr/>
          <p:nvPr/>
        </p:nvSpPr>
        <p:spPr>
          <a:xfrm>
            <a:off x="640080" y="1783080"/>
            <a:ext cx="2194560" cy="4617720"/>
          </a:xfrm>
          <a:prstGeom prst="roundRect">
            <a:avLst>
              <a:gd name="adj" fmla="val 3750"/>
            </a:avLst>
          </a:prstGeom>
          <a:solidFill>
            <a:srgbClr val="FFFFFF"/>
          </a:solidFill>
          <a:ln/>
        </p:spPr>
      </p:sp>
      <p:sp>
        <p:nvSpPr>
          <p:cNvPr id="8" name="Text 6"/>
          <p:cNvSpPr txBox="1"/>
          <p:nvPr/>
        </p:nvSpPr>
        <p:spPr>
          <a:xfrm>
            <a:off x="77724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9" name="Text 7"/>
          <p:cNvSpPr txBox="1"/>
          <p:nvPr/>
        </p:nvSpPr>
        <p:spPr>
          <a:xfrm>
            <a:off x="214884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10" name="Shape 8"/>
          <p:cNvSpPr/>
          <p:nvPr/>
        </p:nvSpPr>
        <p:spPr>
          <a:xfrm>
            <a:off x="1417320" y="1837944"/>
            <a:ext cx="640080" cy="128016"/>
          </a:xfrm>
          <a:prstGeom prst="roundRect">
            <a:avLst>
              <a:gd name="adj" fmla="val 50000"/>
            </a:avLst>
          </a:prstGeom>
          <a:solidFill>
            <a:srgbClr val="0E1C28"/>
          </a:solidFill>
          <a:ln/>
        </p:spPr>
      </p:sp>
      <p:sp>
        <p:nvSpPr>
          <p:cNvPr id="11" name="Text 9"/>
          <p:cNvSpPr txBox="1"/>
          <p:nvPr/>
        </p:nvSpPr>
        <p:spPr>
          <a:xfrm>
            <a:off x="777240" y="2057400"/>
            <a:ext cx="1645920" cy="256032"/>
          </a:xfrm>
          <a:prstGeom prst="rect">
            <a:avLst/>
          </a:prstGeom>
          <a:noFill/>
          <a:ln/>
        </p:spPr>
        <p:txBody>
          <a:bodyPr wrap="square" lIns="0" tIns="0" rIns="0" bIns="0" rtlCol="0" anchor="ctr"/>
          <a:lstStyle/>
          <a:p>
            <a:pPr algn="l" indent="0" marL="0">
              <a:buNone/>
            </a:pPr>
            <a:r>
              <a:rPr lang="en-US" sz="1100" b="1" dirty="0">
                <a:solidFill>
                  <a:srgbClr val="12324A"/>
                </a:solidFill>
                <a:latin typeface="Arial" pitchFamily="34" charset="0"/>
                <a:ea typeface="Arial" pitchFamily="34" charset="-122"/>
                <a:cs typeface="Arial" pitchFamily="34" charset="-120"/>
              </a:rPr>
              <a:t>Chào anh Minh</a:t>
            </a:r>
            <a:endParaRPr lang="en-US" sz="1100" dirty="0"/>
          </a:p>
        </p:txBody>
      </p:sp>
      <p:sp>
        <p:nvSpPr>
          <p:cNvPr id="12" name="Text 10"/>
          <p:cNvSpPr txBox="1"/>
          <p:nvPr/>
        </p:nvSpPr>
        <p:spPr>
          <a:xfrm>
            <a:off x="777240" y="2295144"/>
            <a:ext cx="164592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Căn 4B · Tô Ngọc Vân</a:t>
            </a:r>
            <a:endParaRPr lang="en-US" sz="700" dirty="0"/>
          </a:p>
        </p:txBody>
      </p:sp>
      <p:pic>
        <p:nvPicPr>
          <p:cNvPr id="13" name="Image 0" descr="preencoded.png">    </p:cNvPr>
          <p:cNvPicPr>
            <a:picLocks noChangeAspect="1"/>
          </p:cNvPicPr>
          <p:nvPr/>
        </p:nvPicPr>
        <p:blipFill>
          <a:blip r:embed="rId1"/>
          <a:stretch>
            <a:fillRect/>
          </a:stretch>
        </p:blipFill>
        <p:spPr>
          <a:xfrm>
            <a:off x="2487168" y="2112264"/>
            <a:ext cx="182880" cy="182880"/>
          </a:xfrm>
          <a:prstGeom prst="rect">
            <a:avLst/>
          </a:prstGeom>
        </p:spPr>
      </p:pic>
      <p:sp>
        <p:nvSpPr>
          <p:cNvPr id="14" name="Shape 11"/>
          <p:cNvSpPr/>
          <p:nvPr/>
        </p:nvSpPr>
        <p:spPr>
          <a:xfrm>
            <a:off x="777240" y="2587752"/>
            <a:ext cx="609600" cy="640080"/>
          </a:xfrm>
          <a:prstGeom prst="roundRect">
            <a:avLst>
              <a:gd name="adj" fmla="val 12000"/>
            </a:avLst>
          </a:prstGeom>
          <a:solidFill>
            <a:srgbClr val="1B7F79"/>
          </a:solidFill>
          <a:ln/>
        </p:spPr>
      </p:sp>
      <p:pic>
        <p:nvPicPr>
          <p:cNvPr id="15" name="Image 1" descr="preencoded.png">    </p:cNvPr>
          <p:cNvPicPr>
            <a:picLocks noChangeAspect="1"/>
          </p:cNvPicPr>
          <p:nvPr/>
        </p:nvPicPr>
        <p:blipFill>
          <a:blip r:embed="rId2"/>
          <a:stretch>
            <a:fillRect/>
          </a:stretch>
        </p:blipFill>
        <p:spPr>
          <a:xfrm>
            <a:off x="972312" y="2679192"/>
            <a:ext cx="219456" cy="219456"/>
          </a:xfrm>
          <a:prstGeom prst="rect">
            <a:avLst/>
          </a:prstGeom>
        </p:spPr>
      </p:pic>
      <p:sp>
        <p:nvSpPr>
          <p:cNvPr id="16" name="Text 12"/>
          <p:cNvSpPr txBox="1"/>
          <p:nvPr/>
        </p:nvSpPr>
        <p:spPr>
          <a:xfrm>
            <a:off x="777240" y="2953512"/>
            <a:ext cx="609600" cy="228600"/>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Mời khách</a:t>
            </a:r>
            <a:endParaRPr lang="en-US" sz="680" dirty="0"/>
          </a:p>
        </p:txBody>
      </p:sp>
      <p:sp>
        <p:nvSpPr>
          <p:cNvPr id="17" name="Shape 13"/>
          <p:cNvSpPr/>
          <p:nvPr/>
        </p:nvSpPr>
        <p:spPr>
          <a:xfrm>
            <a:off x="1432560" y="2587752"/>
            <a:ext cx="609600" cy="640080"/>
          </a:xfrm>
          <a:prstGeom prst="roundRect">
            <a:avLst>
              <a:gd name="adj" fmla="val 12000"/>
            </a:avLst>
          </a:prstGeom>
          <a:solidFill>
            <a:srgbClr val="E8F3F2"/>
          </a:solidFill>
          <a:ln/>
        </p:spPr>
      </p:sp>
      <p:pic>
        <p:nvPicPr>
          <p:cNvPr id="18" name="Image 2" descr="preencoded.png">    </p:cNvPr>
          <p:cNvPicPr>
            <a:picLocks noChangeAspect="1"/>
          </p:cNvPicPr>
          <p:nvPr/>
        </p:nvPicPr>
        <p:blipFill>
          <a:blip r:embed="rId3"/>
          <a:stretch>
            <a:fillRect/>
          </a:stretch>
        </p:blipFill>
        <p:spPr>
          <a:xfrm>
            <a:off x="1627632" y="2679192"/>
            <a:ext cx="219456" cy="219456"/>
          </a:xfrm>
          <a:prstGeom prst="rect">
            <a:avLst/>
          </a:prstGeom>
        </p:spPr>
      </p:pic>
      <p:sp>
        <p:nvSpPr>
          <p:cNvPr id="19" name="Text 14"/>
          <p:cNvSpPr txBox="1"/>
          <p:nvPr/>
        </p:nvSpPr>
        <p:spPr>
          <a:xfrm>
            <a:off x="1432560" y="2953512"/>
            <a:ext cx="609600" cy="228600"/>
          </a:xfrm>
          <a:prstGeom prst="rect">
            <a:avLst/>
          </a:prstGeom>
          <a:noFill/>
          <a:ln/>
        </p:spPr>
        <p:txBody>
          <a:bodyPr wrap="square" lIns="0" tIns="0" rIns="0" bIns="0" rtlCol="0" anchor="ctr"/>
          <a:lstStyle/>
          <a:p>
            <a:pPr algn="ctr" indent="0" marL="0">
              <a:buNone/>
            </a:pPr>
            <a:r>
              <a:rPr lang="en-US" sz="680" b="1" dirty="0">
                <a:solidFill>
                  <a:srgbClr val="12324A"/>
                </a:solidFill>
                <a:latin typeface="Arial" pitchFamily="34" charset="0"/>
                <a:ea typeface="Arial" pitchFamily="34" charset="-122"/>
                <a:cs typeface="Arial" pitchFamily="34" charset="-120"/>
              </a:rPr>
              <a:t>Mở cửa sảnh</a:t>
            </a:r>
            <a:endParaRPr lang="en-US" sz="680" dirty="0"/>
          </a:p>
        </p:txBody>
      </p:sp>
      <p:sp>
        <p:nvSpPr>
          <p:cNvPr id="20" name="Shape 15"/>
          <p:cNvSpPr/>
          <p:nvPr/>
        </p:nvSpPr>
        <p:spPr>
          <a:xfrm>
            <a:off x="2087880" y="2587752"/>
            <a:ext cx="609600" cy="640080"/>
          </a:xfrm>
          <a:prstGeom prst="roundRect">
            <a:avLst>
              <a:gd name="adj" fmla="val 12000"/>
            </a:avLst>
          </a:prstGeom>
          <a:solidFill>
            <a:srgbClr val="E8F3F2"/>
          </a:solidFill>
          <a:ln/>
        </p:spPr>
      </p:sp>
      <p:pic>
        <p:nvPicPr>
          <p:cNvPr id="21" name="Image 3" descr="preencoded.png">    </p:cNvPr>
          <p:cNvPicPr>
            <a:picLocks noChangeAspect="1"/>
          </p:cNvPicPr>
          <p:nvPr/>
        </p:nvPicPr>
        <p:blipFill>
          <a:blip r:embed="rId4"/>
          <a:stretch>
            <a:fillRect/>
          </a:stretch>
        </p:blipFill>
        <p:spPr>
          <a:xfrm>
            <a:off x="2282952" y="2679192"/>
            <a:ext cx="219456" cy="219456"/>
          </a:xfrm>
          <a:prstGeom prst="rect">
            <a:avLst/>
          </a:prstGeom>
        </p:spPr>
      </p:pic>
      <p:sp>
        <p:nvSpPr>
          <p:cNvPr id="22" name="Text 16"/>
          <p:cNvSpPr txBox="1"/>
          <p:nvPr/>
        </p:nvSpPr>
        <p:spPr>
          <a:xfrm>
            <a:off x="2087880" y="2953512"/>
            <a:ext cx="609600" cy="228600"/>
          </a:xfrm>
          <a:prstGeom prst="rect">
            <a:avLst/>
          </a:prstGeom>
          <a:noFill/>
          <a:ln/>
        </p:spPr>
        <p:txBody>
          <a:bodyPr wrap="square" lIns="0" tIns="0" rIns="0" bIns="0" rtlCol="0" anchor="ctr"/>
          <a:lstStyle/>
          <a:p>
            <a:pPr algn="ctr" indent="0" marL="0">
              <a:buNone/>
            </a:pPr>
            <a:r>
              <a:rPr lang="en-US" sz="680" b="1" dirty="0">
                <a:solidFill>
                  <a:srgbClr val="12324A"/>
                </a:solidFill>
                <a:latin typeface="Arial" pitchFamily="34" charset="0"/>
                <a:ea typeface="Arial" pitchFamily="34" charset="-122"/>
                <a:cs typeface="Arial" pitchFamily="34" charset="-120"/>
              </a:rPr>
              <a:t>Hóa đơn</a:t>
            </a:r>
            <a:endParaRPr lang="en-US" sz="680" dirty="0"/>
          </a:p>
        </p:txBody>
      </p:sp>
      <p:sp>
        <p:nvSpPr>
          <p:cNvPr id="23" name="Shape 17"/>
          <p:cNvSpPr/>
          <p:nvPr/>
        </p:nvSpPr>
        <p:spPr>
          <a:xfrm>
            <a:off x="777240" y="3300984"/>
            <a:ext cx="609600" cy="640080"/>
          </a:xfrm>
          <a:prstGeom prst="roundRect">
            <a:avLst>
              <a:gd name="adj" fmla="val 12000"/>
            </a:avLst>
          </a:prstGeom>
          <a:solidFill>
            <a:srgbClr val="E8F3F2"/>
          </a:solidFill>
          <a:ln/>
        </p:spPr>
      </p:sp>
      <p:pic>
        <p:nvPicPr>
          <p:cNvPr id="24" name="Image 4" descr="preencoded.png">    </p:cNvPr>
          <p:cNvPicPr>
            <a:picLocks noChangeAspect="1"/>
          </p:cNvPicPr>
          <p:nvPr/>
        </p:nvPicPr>
        <p:blipFill>
          <a:blip r:embed="rId5"/>
          <a:stretch>
            <a:fillRect/>
          </a:stretch>
        </p:blipFill>
        <p:spPr>
          <a:xfrm>
            <a:off x="972312" y="3392424"/>
            <a:ext cx="219456" cy="219456"/>
          </a:xfrm>
          <a:prstGeom prst="rect">
            <a:avLst/>
          </a:prstGeom>
        </p:spPr>
      </p:pic>
      <p:sp>
        <p:nvSpPr>
          <p:cNvPr id="25" name="Text 18"/>
          <p:cNvSpPr txBox="1"/>
          <p:nvPr/>
        </p:nvSpPr>
        <p:spPr>
          <a:xfrm>
            <a:off x="777240" y="3666744"/>
            <a:ext cx="609600" cy="228600"/>
          </a:xfrm>
          <a:prstGeom prst="rect">
            <a:avLst/>
          </a:prstGeom>
          <a:noFill/>
          <a:ln/>
        </p:spPr>
        <p:txBody>
          <a:bodyPr wrap="square" lIns="0" tIns="0" rIns="0" bIns="0" rtlCol="0" anchor="ctr"/>
          <a:lstStyle/>
          <a:p>
            <a:pPr algn="ctr" indent="0" marL="0">
              <a:buNone/>
            </a:pPr>
            <a:r>
              <a:rPr lang="en-US" sz="680" b="1" dirty="0">
                <a:solidFill>
                  <a:srgbClr val="12324A"/>
                </a:solidFill>
                <a:latin typeface="Arial" pitchFamily="34" charset="0"/>
                <a:ea typeface="Arial" pitchFamily="34" charset="-122"/>
                <a:cs typeface="Arial" pitchFamily="34" charset="-120"/>
              </a:rPr>
              <a:t>Phản ánh</a:t>
            </a:r>
            <a:endParaRPr lang="en-US" sz="680" dirty="0"/>
          </a:p>
        </p:txBody>
      </p:sp>
      <p:sp>
        <p:nvSpPr>
          <p:cNvPr id="26" name="Shape 19"/>
          <p:cNvSpPr/>
          <p:nvPr/>
        </p:nvSpPr>
        <p:spPr>
          <a:xfrm>
            <a:off x="1432560" y="3300984"/>
            <a:ext cx="609600" cy="640080"/>
          </a:xfrm>
          <a:prstGeom prst="roundRect">
            <a:avLst>
              <a:gd name="adj" fmla="val 12000"/>
            </a:avLst>
          </a:prstGeom>
          <a:solidFill>
            <a:srgbClr val="E8F3F2"/>
          </a:solidFill>
          <a:ln/>
        </p:spPr>
      </p:sp>
      <p:pic>
        <p:nvPicPr>
          <p:cNvPr id="27" name="Image 5" descr="preencoded.png">    </p:cNvPr>
          <p:cNvPicPr>
            <a:picLocks noChangeAspect="1"/>
          </p:cNvPicPr>
          <p:nvPr/>
        </p:nvPicPr>
        <p:blipFill>
          <a:blip r:embed="rId6"/>
          <a:stretch>
            <a:fillRect/>
          </a:stretch>
        </p:blipFill>
        <p:spPr>
          <a:xfrm>
            <a:off x="1627632" y="3392424"/>
            <a:ext cx="219456" cy="219456"/>
          </a:xfrm>
          <a:prstGeom prst="rect">
            <a:avLst/>
          </a:prstGeom>
        </p:spPr>
      </p:pic>
      <p:sp>
        <p:nvSpPr>
          <p:cNvPr id="28" name="Text 20"/>
          <p:cNvSpPr txBox="1"/>
          <p:nvPr/>
        </p:nvSpPr>
        <p:spPr>
          <a:xfrm>
            <a:off x="1432560" y="3666744"/>
            <a:ext cx="609600" cy="228600"/>
          </a:xfrm>
          <a:prstGeom prst="rect">
            <a:avLst/>
          </a:prstGeom>
          <a:noFill/>
          <a:ln/>
        </p:spPr>
        <p:txBody>
          <a:bodyPr wrap="square" lIns="0" tIns="0" rIns="0" bIns="0" rtlCol="0" anchor="ctr"/>
          <a:lstStyle/>
          <a:p>
            <a:pPr algn="ctr" indent="0" marL="0">
              <a:buNone/>
            </a:pPr>
            <a:r>
              <a:rPr lang="en-US" sz="680" b="1" dirty="0">
                <a:solidFill>
                  <a:srgbClr val="12324A"/>
                </a:solidFill>
                <a:latin typeface="Arial" pitchFamily="34" charset="0"/>
                <a:ea typeface="Arial" pitchFamily="34" charset="-122"/>
                <a:cs typeface="Arial" pitchFamily="34" charset="-120"/>
              </a:rPr>
              <a:t>Đặt dịch vụ</a:t>
            </a:r>
            <a:endParaRPr lang="en-US" sz="680" dirty="0"/>
          </a:p>
        </p:txBody>
      </p:sp>
      <p:sp>
        <p:nvSpPr>
          <p:cNvPr id="29" name="Shape 21"/>
          <p:cNvSpPr/>
          <p:nvPr/>
        </p:nvSpPr>
        <p:spPr>
          <a:xfrm>
            <a:off x="2087880" y="3300984"/>
            <a:ext cx="609600" cy="640080"/>
          </a:xfrm>
          <a:prstGeom prst="roundRect">
            <a:avLst>
              <a:gd name="adj" fmla="val 12000"/>
            </a:avLst>
          </a:prstGeom>
          <a:solidFill>
            <a:srgbClr val="E8F3F2"/>
          </a:solidFill>
          <a:ln/>
        </p:spPr>
      </p:sp>
      <p:pic>
        <p:nvPicPr>
          <p:cNvPr id="30" name="Image 6" descr="preencoded.png">    </p:cNvPr>
          <p:cNvPicPr>
            <a:picLocks noChangeAspect="1"/>
          </p:cNvPicPr>
          <p:nvPr/>
        </p:nvPicPr>
        <p:blipFill>
          <a:blip r:embed="rId7"/>
          <a:stretch>
            <a:fillRect/>
          </a:stretch>
        </p:blipFill>
        <p:spPr>
          <a:xfrm>
            <a:off x="2282952" y="3392424"/>
            <a:ext cx="219456" cy="219456"/>
          </a:xfrm>
          <a:prstGeom prst="rect">
            <a:avLst/>
          </a:prstGeom>
        </p:spPr>
      </p:pic>
      <p:sp>
        <p:nvSpPr>
          <p:cNvPr id="31" name="Text 22"/>
          <p:cNvSpPr txBox="1"/>
          <p:nvPr/>
        </p:nvSpPr>
        <p:spPr>
          <a:xfrm>
            <a:off x="2087880" y="3666744"/>
            <a:ext cx="609600" cy="228600"/>
          </a:xfrm>
          <a:prstGeom prst="rect">
            <a:avLst/>
          </a:prstGeom>
          <a:noFill/>
          <a:ln/>
        </p:spPr>
        <p:txBody>
          <a:bodyPr wrap="square" lIns="0" tIns="0" rIns="0" bIns="0" rtlCol="0" anchor="ctr"/>
          <a:lstStyle/>
          <a:p>
            <a:pPr algn="ctr" indent="0" marL="0">
              <a:buNone/>
            </a:pPr>
            <a:r>
              <a:rPr lang="en-US" sz="680" b="1" dirty="0">
                <a:solidFill>
                  <a:srgbClr val="12324A"/>
                </a:solidFill>
                <a:latin typeface="Arial" pitchFamily="34" charset="0"/>
                <a:ea typeface="Arial" pitchFamily="34" charset="-122"/>
                <a:cs typeface="Arial" pitchFamily="34" charset="-120"/>
              </a:rPr>
              <a:t>Bãi xe</a:t>
            </a:r>
            <a:endParaRPr lang="en-US" sz="680" dirty="0"/>
          </a:p>
        </p:txBody>
      </p:sp>
      <p:sp>
        <p:nvSpPr>
          <p:cNvPr id="32" name="Shape 23"/>
          <p:cNvSpPr/>
          <p:nvPr/>
        </p:nvSpPr>
        <p:spPr>
          <a:xfrm>
            <a:off x="777240" y="4096512"/>
            <a:ext cx="1920240" cy="777240"/>
          </a:xfrm>
          <a:prstGeom prst="roundRect">
            <a:avLst>
              <a:gd name="adj" fmla="val 7059"/>
            </a:avLst>
          </a:prstGeom>
          <a:solidFill>
            <a:srgbClr val="FFFFFF"/>
          </a:solidFill>
          <a:ln w="6350">
            <a:solidFill>
              <a:srgbClr val="D5DCE3"/>
            </a:solidFill>
            <a:prstDash val="solid"/>
          </a:ln>
        </p:spPr>
      </p:sp>
      <p:sp>
        <p:nvSpPr>
          <p:cNvPr id="33" name="Text 24"/>
          <p:cNvSpPr txBox="1"/>
          <p:nvPr/>
        </p:nvSpPr>
        <p:spPr>
          <a:xfrm>
            <a:off x="886968" y="4142232"/>
            <a:ext cx="1371600" cy="182880"/>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BQL · Thông báo</a:t>
            </a:r>
            <a:endParaRPr lang="en-US" sz="650" dirty="0"/>
          </a:p>
        </p:txBody>
      </p:sp>
      <p:sp>
        <p:nvSpPr>
          <p:cNvPr id="34" name="Text 25"/>
          <p:cNvSpPr txBox="1"/>
          <p:nvPr/>
        </p:nvSpPr>
        <p:spPr>
          <a:xfrm>
            <a:off x="886968" y="4325112"/>
            <a:ext cx="1737360" cy="457200"/>
          </a:xfrm>
          <a:prstGeom prst="rect">
            <a:avLst/>
          </a:prstGeom>
          <a:noFill/>
          <a:ln/>
        </p:spPr>
        <p:txBody>
          <a:bodyPr wrap="square" lIns="0" tIns="0" rIns="0" bIns="0" rtlCol="0" anchor="t"/>
          <a:lstStyle/>
          <a:p>
            <a:pPr algn="l" indent="0" marL="0">
              <a:buNone/>
            </a:pPr>
            <a:r>
              <a:rPr lang="en-US" sz="750" b="1" dirty="0">
                <a:solidFill>
                  <a:srgbClr val="1A2330"/>
                </a:solidFill>
                <a:latin typeface="Arial" pitchFamily="34" charset="0"/>
                <a:ea typeface="Arial" pitchFamily="34" charset="-122"/>
                <a:cs typeface="Arial" pitchFamily="34" charset="-120"/>
              </a:rPr>
              <a:t>Bảo trì thang máy số 2 ngày 22/10, 09:00–11:00</a:t>
            </a:r>
            <a:endParaRPr lang="en-US" sz="750" dirty="0"/>
          </a:p>
        </p:txBody>
      </p:sp>
      <p:sp>
        <p:nvSpPr>
          <p:cNvPr id="35" name="Shape 26"/>
          <p:cNvSpPr/>
          <p:nvPr/>
        </p:nvSpPr>
        <p:spPr>
          <a:xfrm>
            <a:off x="777240" y="4965192"/>
            <a:ext cx="1920240" cy="868680"/>
          </a:xfrm>
          <a:prstGeom prst="roundRect">
            <a:avLst>
              <a:gd name="adj" fmla="val 6316"/>
            </a:avLst>
          </a:prstGeom>
          <a:solidFill>
            <a:srgbClr val="FFFFFF"/>
          </a:solidFill>
          <a:ln w="6350">
            <a:solidFill>
              <a:srgbClr val="D5DCE3"/>
            </a:solidFill>
            <a:prstDash val="solid"/>
          </a:ln>
        </p:spPr>
      </p:sp>
      <p:sp>
        <p:nvSpPr>
          <p:cNvPr id="36" name="Text 27"/>
          <p:cNvSpPr txBox="1"/>
          <p:nvPr/>
        </p:nvSpPr>
        <p:spPr>
          <a:xfrm>
            <a:off x="886968" y="5010912"/>
            <a:ext cx="1371600" cy="182880"/>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Điện tháng này</a:t>
            </a:r>
            <a:endParaRPr lang="en-US" sz="650" dirty="0"/>
          </a:p>
        </p:txBody>
      </p:sp>
      <p:sp>
        <p:nvSpPr>
          <p:cNvPr id="37" name="Text 28"/>
          <p:cNvSpPr txBox="1"/>
          <p:nvPr/>
        </p:nvSpPr>
        <p:spPr>
          <a:xfrm>
            <a:off x="886968" y="5193792"/>
            <a:ext cx="1188720" cy="274320"/>
          </a:xfrm>
          <a:prstGeom prst="rect">
            <a:avLst/>
          </a:prstGeom>
          <a:noFill/>
          <a:ln/>
        </p:spPr>
        <p:txBody>
          <a:bodyPr wrap="square" lIns="0" tIns="0" rIns="0" bIns="0" rtlCol="0" anchor="ctr"/>
          <a:lstStyle/>
          <a:p>
            <a:pPr algn="l" indent="0" marL="0">
              <a:buNone/>
            </a:pPr>
            <a:r>
              <a:rPr lang="en-US" sz="1200" b="1" dirty="0">
                <a:solidFill>
                  <a:srgbClr val="1A2330"/>
                </a:solidFill>
                <a:latin typeface="Arial" pitchFamily="34" charset="0"/>
                <a:ea typeface="Arial" pitchFamily="34" charset="-122"/>
                <a:cs typeface="Arial" pitchFamily="34" charset="-120"/>
              </a:rPr>
              <a:t>1.190 kWh</a:t>
            </a:r>
            <a:endParaRPr lang="en-US" sz="1200" dirty="0"/>
          </a:p>
        </p:txBody>
      </p:sp>
      <p:sp>
        <p:nvSpPr>
          <p:cNvPr id="38" name="Text 29"/>
          <p:cNvSpPr txBox="1"/>
          <p:nvPr/>
        </p:nvSpPr>
        <p:spPr>
          <a:xfrm>
            <a:off x="886968" y="5495544"/>
            <a:ext cx="1463040" cy="182880"/>
          </a:xfrm>
          <a:prstGeom prst="rect">
            <a:avLst/>
          </a:prstGeom>
          <a:noFill/>
          <a:ln/>
        </p:spPr>
        <p:txBody>
          <a:bodyPr wrap="square" lIns="0" tIns="0" rIns="0" bIns="0" rtlCol="0" anchor="ctr"/>
          <a:lstStyle/>
          <a:p>
            <a:pPr algn="l" indent="0" marL="0">
              <a:buNone/>
            </a:pPr>
            <a:r>
              <a:rPr lang="en-US" sz="680" b="1" dirty="0">
                <a:solidFill>
                  <a:srgbClr val="2E9E5B"/>
                </a:solidFill>
                <a:latin typeface="Arial" pitchFamily="34" charset="0"/>
                <a:ea typeface="Arial" pitchFamily="34" charset="-122"/>
                <a:cs typeface="Arial" pitchFamily="34" charset="-120"/>
              </a:rPr>
              <a:t>▼ 2% so tháng trước</a:t>
            </a:r>
            <a:endParaRPr lang="en-US" sz="680" dirty="0"/>
          </a:p>
        </p:txBody>
      </p:sp>
      <p:sp>
        <p:nvSpPr>
          <p:cNvPr id="39" name="Shape 30"/>
          <p:cNvSpPr/>
          <p:nvPr/>
        </p:nvSpPr>
        <p:spPr>
          <a:xfrm>
            <a:off x="640080" y="6016752"/>
            <a:ext cx="2194560" cy="0"/>
          </a:xfrm>
          <a:prstGeom prst="line">
            <a:avLst/>
          </a:prstGeom>
          <a:noFill/>
          <a:ln w="6350">
            <a:solidFill>
              <a:srgbClr val="E4E8EC"/>
            </a:solidFill>
            <a:prstDash val="solid"/>
          </a:ln>
        </p:spPr>
      </p:sp>
      <p:pic>
        <p:nvPicPr>
          <p:cNvPr id="40" name="Image 7" descr="preencoded.png">    </p:cNvPr>
          <p:cNvPicPr>
            <a:picLocks noChangeAspect="1"/>
          </p:cNvPicPr>
          <p:nvPr/>
        </p:nvPicPr>
        <p:blipFill>
          <a:blip r:embed="rId8"/>
          <a:stretch>
            <a:fillRect/>
          </a:stretch>
        </p:blipFill>
        <p:spPr>
          <a:xfrm>
            <a:off x="832104" y="6062472"/>
            <a:ext cx="164592" cy="164592"/>
          </a:xfrm>
          <a:prstGeom prst="rect">
            <a:avLst/>
          </a:prstGeom>
        </p:spPr>
      </p:pic>
      <p:sp>
        <p:nvSpPr>
          <p:cNvPr id="41" name="Text 31"/>
          <p:cNvSpPr txBox="1"/>
          <p:nvPr/>
        </p:nvSpPr>
        <p:spPr>
          <a:xfrm>
            <a:off x="640080" y="6236208"/>
            <a:ext cx="548640" cy="137160"/>
          </a:xfrm>
          <a:prstGeom prst="rect">
            <a:avLst/>
          </a:prstGeom>
          <a:noFill/>
          <a:ln/>
        </p:spPr>
        <p:txBody>
          <a:bodyPr wrap="square" lIns="0" tIns="0" rIns="0" bIns="0" rtlCol="0" anchor="ctr"/>
          <a:lstStyle/>
          <a:p>
            <a:pPr algn="ctr" indent="0" marL="0">
              <a:buNone/>
            </a:pPr>
            <a:r>
              <a:rPr lang="en-US" sz="580" b="1" dirty="0">
                <a:solidFill>
                  <a:srgbClr val="1B7F79"/>
                </a:solidFill>
                <a:latin typeface="Arial" pitchFamily="34" charset="0"/>
                <a:ea typeface="Arial" pitchFamily="34" charset="-122"/>
                <a:cs typeface="Arial" pitchFamily="34" charset="-120"/>
              </a:rPr>
              <a:t>Trang chủ</a:t>
            </a:r>
            <a:endParaRPr lang="en-US" sz="580" dirty="0"/>
          </a:p>
        </p:txBody>
      </p:sp>
      <p:pic>
        <p:nvPicPr>
          <p:cNvPr id="42" name="Image 8" descr="preencoded.png">    </p:cNvPr>
          <p:cNvPicPr>
            <a:picLocks noChangeAspect="1"/>
          </p:cNvPicPr>
          <p:nvPr/>
        </p:nvPicPr>
        <p:blipFill>
          <a:blip r:embed="rId9"/>
          <a:stretch>
            <a:fillRect/>
          </a:stretch>
        </p:blipFill>
        <p:spPr>
          <a:xfrm>
            <a:off x="1380744" y="6062472"/>
            <a:ext cx="164592" cy="164592"/>
          </a:xfrm>
          <a:prstGeom prst="rect">
            <a:avLst/>
          </a:prstGeom>
        </p:spPr>
      </p:pic>
      <p:sp>
        <p:nvSpPr>
          <p:cNvPr id="43" name="Text 32"/>
          <p:cNvSpPr txBox="1"/>
          <p:nvPr/>
        </p:nvSpPr>
        <p:spPr>
          <a:xfrm>
            <a:off x="1188720" y="6236208"/>
            <a:ext cx="548640" cy="137160"/>
          </a:xfrm>
          <a:prstGeom prst="rect">
            <a:avLst/>
          </a:prstGeom>
          <a:noFill/>
          <a:ln/>
        </p:spPr>
        <p:txBody>
          <a:bodyPr wrap="square" lIns="0" tIns="0" rIns="0" bIns="0" rtlCol="0" anchor="ctr"/>
          <a:lstStyle/>
          <a:p>
            <a:pPr algn="ctr" indent="0" marL="0">
              <a:buNone/>
            </a:pPr>
            <a:r>
              <a:rPr lang="en-US" sz="580" dirty="0">
                <a:solidFill>
                  <a:srgbClr val="8A96A3"/>
                </a:solidFill>
                <a:latin typeface="Arial" pitchFamily="34" charset="0"/>
                <a:ea typeface="Arial" pitchFamily="34" charset="-122"/>
                <a:cs typeface="Arial" pitchFamily="34" charset="-120"/>
              </a:rPr>
              <a:t>Khách</a:t>
            </a:r>
            <a:endParaRPr lang="en-US" sz="580" dirty="0"/>
          </a:p>
        </p:txBody>
      </p:sp>
      <p:pic>
        <p:nvPicPr>
          <p:cNvPr id="44" name="Image 9" descr="preencoded.png">    </p:cNvPr>
          <p:cNvPicPr>
            <a:picLocks noChangeAspect="1"/>
          </p:cNvPicPr>
          <p:nvPr/>
        </p:nvPicPr>
        <p:blipFill>
          <a:blip r:embed="rId10"/>
          <a:stretch>
            <a:fillRect/>
          </a:stretch>
        </p:blipFill>
        <p:spPr>
          <a:xfrm>
            <a:off x="1929384" y="6062472"/>
            <a:ext cx="164592" cy="164592"/>
          </a:xfrm>
          <a:prstGeom prst="rect">
            <a:avLst/>
          </a:prstGeom>
        </p:spPr>
      </p:pic>
      <p:sp>
        <p:nvSpPr>
          <p:cNvPr id="45" name="Text 33"/>
          <p:cNvSpPr txBox="1"/>
          <p:nvPr/>
        </p:nvSpPr>
        <p:spPr>
          <a:xfrm>
            <a:off x="1737360" y="6236208"/>
            <a:ext cx="548640" cy="137160"/>
          </a:xfrm>
          <a:prstGeom prst="rect">
            <a:avLst/>
          </a:prstGeom>
          <a:noFill/>
          <a:ln/>
        </p:spPr>
        <p:txBody>
          <a:bodyPr wrap="square" lIns="0" tIns="0" rIns="0" bIns="0" rtlCol="0" anchor="ctr"/>
          <a:lstStyle/>
          <a:p>
            <a:pPr algn="ctr" indent="0" marL="0">
              <a:buNone/>
            </a:pPr>
            <a:r>
              <a:rPr lang="en-US" sz="580" dirty="0">
                <a:solidFill>
                  <a:srgbClr val="8A96A3"/>
                </a:solidFill>
                <a:latin typeface="Arial" pitchFamily="34" charset="0"/>
                <a:ea typeface="Arial" pitchFamily="34" charset="-122"/>
                <a:cs typeface="Arial" pitchFamily="34" charset="-120"/>
              </a:rPr>
              <a:t>Hóa đơn</a:t>
            </a:r>
            <a:endParaRPr lang="en-US" sz="580" dirty="0"/>
          </a:p>
        </p:txBody>
      </p:sp>
      <p:pic>
        <p:nvPicPr>
          <p:cNvPr id="46" name="Image 10" descr="preencoded.png">    </p:cNvPr>
          <p:cNvPicPr>
            <a:picLocks noChangeAspect="1"/>
          </p:cNvPicPr>
          <p:nvPr/>
        </p:nvPicPr>
        <p:blipFill>
          <a:blip r:embed="rId11"/>
          <a:stretch>
            <a:fillRect/>
          </a:stretch>
        </p:blipFill>
        <p:spPr>
          <a:xfrm>
            <a:off x="2478024" y="6062472"/>
            <a:ext cx="164592" cy="164592"/>
          </a:xfrm>
          <a:prstGeom prst="rect">
            <a:avLst/>
          </a:prstGeom>
        </p:spPr>
      </p:pic>
      <p:sp>
        <p:nvSpPr>
          <p:cNvPr id="47" name="Text 34"/>
          <p:cNvSpPr txBox="1"/>
          <p:nvPr/>
        </p:nvSpPr>
        <p:spPr>
          <a:xfrm>
            <a:off x="2286000" y="6236208"/>
            <a:ext cx="548640" cy="137160"/>
          </a:xfrm>
          <a:prstGeom prst="rect">
            <a:avLst/>
          </a:prstGeom>
          <a:noFill/>
          <a:ln/>
        </p:spPr>
        <p:txBody>
          <a:bodyPr wrap="square" lIns="0" tIns="0" rIns="0" bIns="0" rtlCol="0" anchor="ctr"/>
          <a:lstStyle/>
          <a:p>
            <a:pPr algn="ctr" indent="0" marL="0">
              <a:buNone/>
            </a:pPr>
            <a:r>
              <a:rPr lang="en-US" sz="580" dirty="0">
                <a:solidFill>
                  <a:srgbClr val="8A96A3"/>
                </a:solidFill>
                <a:latin typeface="Arial" pitchFamily="34" charset="0"/>
                <a:ea typeface="Arial" pitchFamily="34" charset="-122"/>
                <a:cs typeface="Arial" pitchFamily="34" charset="-120"/>
              </a:rPr>
              <a:t>Tài khoản</a:t>
            </a:r>
            <a:endParaRPr lang="en-US" sz="580" dirty="0"/>
          </a:p>
        </p:txBody>
      </p:sp>
      <p:sp>
        <p:nvSpPr>
          <p:cNvPr id="48" name="Shape 35"/>
          <p:cNvSpPr/>
          <p:nvPr/>
        </p:nvSpPr>
        <p:spPr>
          <a:xfrm>
            <a:off x="3429000" y="1344168"/>
            <a:ext cx="1920240" cy="246888"/>
          </a:xfrm>
          <a:prstGeom prst="roundRect">
            <a:avLst>
              <a:gd name="adj" fmla="val 37037"/>
            </a:avLst>
          </a:prstGeom>
          <a:solidFill>
            <a:srgbClr val="12324A"/>
          </a:solidFill>
          <a:ln/>
        </p:spPr>
      </p:sp>
      <p:sp>
        <p:nvSpPr>
          <p:cNvPr id="49" name="Text 36"/>
          <p:cNvSpPr txBox="1"/>
          <p:nvPr/>
        </p:nvSpPr>
        <p:spPr>
          <a:xfrm>
            <a:off x="342900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Mời khách</a:t>
            </a:r>
            <a:endParaRPr lang="en-US" sz="900" dirty="0"/>
          </a:p>
        </p:txBody>
      </p:sp>
      <p:sp>
        <p:nvSpPr>
          <p:cNvPr id="50" name="Shape 37"/>
          <p:cNvSpPr/>
          <p:nvPr/>
        </p:nvSpPr>
        <p:spPr>
          <a:xfrm>
            <a:off x="320040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51" name="Shape 38"/>
          <p:cNvSpPr/>
          <p:nvPr/>
        </p:nvSpPr>
        <p:spPr>
          <a:xfrm>
            <a:off x="3291840" y="1783080"/>
            <a:ext cx="2194560" cy="4617720"/>
          </a:xfrm>
          <a:prstGeom prst="roundRect">
            <a:avLst>
              <a:gd name="adj" fmla="val 3750"/>
            </a:avLst>
          </a:prstGeom>
          <a:solidFill>
            <a:srgbClr val="FFFFFF"/>
          </a:solidFill>
          <a:ln/>
        </p:spPr>
      </p:sp>
      <p:sp>
        <p:nvSpPr>
          <p:cNvPr id="52" name="Text 39"/>
          <p:cNvSpPr txBox="1"/>
          <p:nvPr/>
        </p:nvSpPr>
        <p:spPr>
          <a:xfrm>
            <a:off x="342900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53" name="Text 40"/>
          <p:cNvSpPr txBox="1"/>
          <p:nvPr/>
        </p:nvSpPr>
        <p:spPr>
          <a:xfrm>
            <a:off x="480060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54" name="Shape 41"/>
          <p:cNvSpPr/>
          <p:nvPr/>
        </p:nvSpPr>
        <p:spPr>
          <a:xfrm>
            <a:off x="4069080" y="1837944"/>
            <a:ext cx="640080" cy="128016"/>
          </a:xfrm>
          <a:prstGeom prst="roundRect">
            <a:avLst>
              <a:gd name="adj" fmla="val 50000"/>
            </a:avLst>
          </a:prstGeom>
          <a:solidFill>
            <a:srgbClr val="0E1C28"/>
          </a:solidFill>
          <a:ln/>
        </p:spPr>
      </p:sp>
      <p:pic>
        <p:nvPicPr>
          <p:cNvPr id="55" name="Image 11" descr="preencoded.png">    </p:cNvPr>
          <p:cNvPicPr>
            <a:picLocks noChangeAspect="1"/>
          </p:cNvPicPr>
          <p:nvPr/>
        </p:nvPicPr>
        <p:blipFill>
          <a:blip r:embed="rId12"/>
          <a:stretch>
            <a:fillRect/>
          </a:stretch>
        </p:blipFill>
        <p:spPr>
          <a:xfrm>
            <a:off x="3383280" y="2103120"/>
            <a:ext cx="182880" cy="182880"/>
          </a:xfrm>
          <a:prstGeom prst="rect">
            <a:avLst/>
          </a:prstGeom>
        </p:spPr>
      </p:pic>
      <p:sp>
        <p:nvSpPr>
          <p:cNvPr id="56" name="Text 42"/>
          <p:cNvSpPr txBox="1"/>
          <p:nvPr/>
        </p:nvSpPr>
        <p:spPr>
          <a:xfrm>
            <a:off x="3611880" y="2039112"/>
            <a:ext cx="1737360" cy="320040"/>
          </a:xfrm>
          <a:prstGeom prst="rect">
            <a:avLst/>
          </a:prstGeom>
          <a:noFill/>
          <a:ln/>
        </p:spPr>
        <p:txBody>
          <a:bodyPr wrap="square" lIns="0" tIns="0" rIns="0" bIns="0" rtlCol="0" anchor="ctr"/>
          <a:lstStyle/>
          <a:p>
            <a:pPr algn="l" indent="0" marL="0">
              <a:buNone/>
            </a:pPr>
            <a:r>
              <a:rPr lang="en-US" sz="1000" b="1" dirty="0">
                <a:solidFill>
                  <a:srgbClr val="12324A"/>
                </a:solidFill>
                <a:latin typeface="Arial" pitchFamily="34" charset="0"/>
                <a:ea typeface="Arial" pitchFamily="34" charset="-122"/>
                <a:cs typeface="Arial" pitchFamily="34" charset="-120"/>
              </a:rPr>
              <a:t>Mời khách</a:t>
            </a:r>
            <a:endParaRPr lang="en-US" sz="1000" dirty="0"/>
          </a:p>
        </p:txBody>
      </p:sp>
      <p:sp>
        <p:nvSpPr>
          <p:cNvPr id="57" name="Text 43"/>
          <p:cNvSpPr txBox="1"/>
          <p:nvPr/>
        </p:nvSpPr>
        <p:spPr>
          <a:xfrm>
            <a:off x="3429000" y="2450592"/>
            <a:ext cx="1371600" cy="164592"/>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Tên khách</a:t>
            </a:r>
            <a:endParaRPr lang="en-US" sz="650" dirty="0"/>
          </a:p>
        </p:txBody>
      </p:sp>
      <p:sp>
        <p:nvSpPr>
          <p:cNvPr id="58" name="Shape 44"/>
          <p:cNvSpPr/>
          <p:nvPr/>
        </p:nvSpPr>
        <p:spPr>
          <a:xfrm>
            <a:off x="3429000" y="2624328"/>
            <a:ext cx="1920240" cy="292608"/>
          </a:xfrm>
          <a:prstGeom prst="roundRect">
            <a:avLst>
              <a:gd name="adj" fmla="val 18750"/>
            </a:avLst>
          </a:prstGeom>
          <a:solidFill>
            <a:srgbClr val="FFFFFF"/>
          </a:solidFill>
          <a:ln w="9525">
            <a:solidFill>
              <a:srgbClr val="D5DCE3"/>
            </a:solidFill>
            <a:prstDash val="solid"/>
          </a:ln>
        </p:spPr>
      </p:sp>
      <p:sp>
        <p:nvSpPr>
          <p:cNvPr id="59" name="Text 45"/>
          <p:cNvSpPr txBox="1"/>
          <p:nvPr/>
        </p:nvSpPr>
        <p:spPr>
          <a:xfrm>
            <a:off x="3520440" y="2624328"/>
            <a:ext cx="1737360" cy="292608"/>
          </a:xfrm>
          <a:prstGeom prst="rect">
            <a:avLst/>
          </a:prstGeom>
          <a:noFill/>
          <a:ln/>
        </p:spPr>
        <p:txBody>
          <a:bodyPr wrap="square" lIns="0" tIns="0" rIns="0" bIns="0" rtlCol="0" anchor="ctr"/>
          <a:lstStyle/>
          <a:p>
            <a:pPr algn="l" indent="0" marL="0">
              <a:buNone/>
            </a:pPr>
            <a:r>
              <a:rPr lang="en-US" sz="800" dirty="0">
                <a:solidFill>
                  <a:srgbClr val="1A2330"/>
                </a:solidFill>
                <a:latin typeface="Arial" pitchFamily="34" charset="0"/>
                <a:ea typeface="Arial" pitchFamily="34" charset="-122"/>
                <a:cs typeface="Arial" pitchFamily="34" charset="-120"/>
              </a:rPr>
              <a:t>Nguyễn Lan</a:t>
            </a:r>
            <a:endParaRPr lang="en-US" sz="800" dirty="0"/>
          </a:p>
        </p:txBody>
      </p:sp>
      <p:sp>
        <p:nvSpPr>
          <p:cNvPr id="60" name="Text 46"/>
          <p:cNvSpPr txBox="1"/>
          <p:nvPr/>
        </p:nvSpPr>
        <p:spPr>
          <a:xfrm>
            <a:off x="3429000" y="2980944"/>
            <a:ext cx="1371600" cy="164592"/>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Số điện thoại</a:t>
            </a:r>
            <a:endParaRPr lang="en-US" sz="650" dirty="0"/>
          </a:p>
        </p:txBody>
      </p:sp>
      <p:sp>
        <p:nvSpPr>
          <p:cNvPr id="61" name="Shape 47"/>
          <p:cNvSpPr/>
          <p:nvPr/>
        </p:nvSpPr>
        <p:spPr>
          <a:xfrm>
            <a:off x="3429000" y="3154680"/>
            <a:ext cx="1920240" cy="292608"/>
          </a:xfrm>
          <a:prstGeom prst="roundRect">
            <a:avLst>
              <a:gd name="adj" fmla="val 18750"/>
            </a:avLst>
          </a:prstGeom>
          <a:solidFill>
            <a:srgbClr val="FFFFFF"/>
          </a:solidFill>
          <a:ln w="9525">
            <a:solidFill>
              <a:srgbClr val="D5DCE3"/>
            </a:solidFill>
            <a:prstDash val="solid"/>
          </a:ln>
        </p:spPr>
      </p:sp>
      <p:sp>
        <p:nvSpPr>
          <p:cNvPr id="62" name="Text 48"/>
          <p:cNvSpPr txBox="1"/>
          <p:nvPr/>
        </p:nvSpPr>
        <p:spPr>
          <a:xfrm>
            <a:off x="3520440" y="3154680"/>
            <a:ext cx="1737360" cy="292608"/>
          </a:xfrm>
          <a:prstGeom prst="rect">
            <a:avLst/>
          </a:prstGeom>
          <a:noFill/>
          <a:ln/>
        </p:spPr>
        <p:txBody>
          <a:bodyPr wrap="square" lIns="0" tIns="0" rIns="0" bIns="0" rtlCol="0" anchor="ctr"/>
          <a:lstStyle/>
          <a:p>
            <a:pPr algn="l" indent="0" marL="0">
              <a:buNone/>
            </a:pPr>
            <a:r>
              <a:rPr lang="en-US" sz="800" dirty="0">
                <a:solidFill>
                  <a:srgbClr val="1A2330"/>
                </a:solidFill>
                <a:latin typeface="Arial" pitchFamily="34" charset="0"/>
                <a:ea typeface="Arial" pitchFamily="34" charset="-122"/>
                <a:cs typeface="Arial" pitchFamily="34" charset="-120"/>
              </a:rPr>
              <a:t>0912 ••• 678</a:t>
            </a:r>
            <a:endParaRPr lang="en-US" sz="800" dirty="0"/>
          </a:p>
        </p:txBody>
      </p:sp>
      <p:sp>
        <p:nvSpPr>
          <p:cNvPr id="63" name="Text 49"/>
          <p:cNvSpPr txBox="1"/>
          <p:nvPr/>
        </p:nvSpPr>
        <p:spPr>
          <a:xfrm>
            <a:off x="3429000" y="3511296"/>
            <a:ext cx="1371600" cy="164592"/>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Ngày</a:t>
            </a:r>
            <a:endParaRPr lang="en-US" sz="650" dirty="0"/>
          </a:p>
        </p:txBody>
      </p:sp>
      <p:sp>
        <p:nvSpPr>
          <p:cNvPr id="64" name="Shape 50"/>
          <p:cNvSpPr/>
          <p:nvPr/>
        </p:nvSpPr>
        <p:spPr>
          <a:xfrm>
            <a:off x="3429000" y="3685032"/>
            <a:ext cx="1920240" cy="292608"/>
          </a:xfrm>
          <a:prstGeom prst="roundRect">
            <a:avLst>
              <a:gd name="adj" fmla="val 18750"/>
            </a:avLst>
          </a:prstGeom>
          <a:solidFill>
            <a:srgbClr val="FFFFFF"/>
          </a:solidFill>
          <a:ln w="9525">
            <a:solidFill>
              <a:srgbClr val="D5DCE3"/>
            </a:solidFill>
            <a:prstDash val="solid"/>
          </a:ln>
        </p:spPr>
      </p:sp>
      <p:sp>
        <p:nvSpPr>
          <p:cNvPr id="65" name="Text 51"/>
          <p:cNvSpPr txBox="1"/>
          <p:nvPr/>
        </p:nvSpPr>
        <p:spPr>
          <a:xfrm>
            <a:off x="3520440" y="3685032"/>
            <a:ext cx="1737360" cy="292608"/>
          </a:xfrm>
          <a:prstGeom prst="rect">
            <a:avLst/>
          </a:prstGeom>
          <a:noFill/>
          <a:ln/>
        </p:spPr>
        <p:txBody>
          <a:bodyPr wrap="square" lIns="0" tIns="0" rIns="0" bIns="0" rtlCol="0" anchor="ctr"/>
          <a:lstStyle/>
          <a:p>
            <a:pPr algn="l" indent="0" marL="0">
              <a:buNone/>
            </a:pPr>
            <a:r>
              <a:rPr lang="en-US" sz="800" dirty="0">
                <a:solidFill>
                  <a:srgbClr val="1A2330"/>
                </a:solidFill>
                <a:latin typeface="Arial" pitchFamily="34" charset="0"/>
                <a:ea typeface="Arial" pitchFamily="34" charset="-122"/>
                <a:cs typeface="Arial" pitchFamily="34" charset="-120"/>
              </a:rPr>
              <a:t>Hôm nay, 20/10</a:t>
            </a:r>
            <a:endParaRPr lang="en-US" sz="800" dirty="0"/>
          </a:p>
        </p:txBody>
      </p:sp>
      <p:sp>
        <p:nvSpPr>
          <p:cNvPr id="66" name="Text 52"/>
          <p:cNvSpPr txBox="1"/>
          <p:nvPr/>
        </p:nvSpPr>
        <p:spPr>
          <a:xfrm>
            <a:off x="3429000" y="4041648"/>
            <a:ext cx="1371600" cy="164592"/>
          </a:xfrm>
          <a:prstGeom prst="rect">
            <a:avLst/>
          </a:prstGeom>
          <a:noFill/>
          <a:ln/>
        </p:spPr>
        <p:txBody>
          <a:bodyPr wrap="square" lIns="0" tIns="0" rIns="0" bIns="0" rtlCol="0" anchor="ctr"/>
          <a:lstStyle/>
          <a:p>
            <a:pPr algn="l" indent="0" marL="0">
              <a:buNone/>
            </a:pPr>
            <a:r>
              <a:rPr lang="en-US" sz="650" dirty="0">
                <a:solidFill>
                  <a:srgbClr val="6B7785"/>
                </a:solidFill>
                <a:latin typeface="Arial" pitchFamily="34" charset="0"/>
                <a:ea typeface="Arial" pitchFamily="34" charset="-122"/>
                <a:cs typeface="Arial" pitchFamily="34" charset="-120"/>
              </a:rPr>
              <a:t>Khung giờ</a:t>
            </a:r>
            <a:endParaRPr lang="en-US" sz="650" dirty="0"/>
          </a:p>
        </p:txBody>
      </p:sp>
      <p:sp>
        <p:nvSpPr>
          <p:cNvPr id="67" name="Shape 53"/>
          <p:cNvSpPr/>
          <p:nvPr/>
        </p:nvSpPr>
        <p:spPr>
          <a:xfrm>
            <a:off x="3429000" y="4215384"/>
            <a:ext cx="1920240" cy="292608"/>
          </a:xfrm>
          <a:prstGeom prst="roundRect">
            <a:avLst>
              <a:gd name="adj" fmla="val 18750"/>
            </a:avLst>
          </a:prstGeom>
          <a:solidFill>
            <a:srgbClr val="FFFFFF"/>
          </a:solidFill>
          <a:ln w="9525">
            <a:solidFill>
              <a:srgbClr val="D5DCE3"/>
            </a:solidFill>
            <a:prstDash val="solid"/>
          </a:ln>
        </p:spPr>
      </p:sp>
      <p:sp>
        <p:nvSpPr>
          <p:cNvPr id="68" name="Text 54"/>
          <p:cNvSpPr txBox="1"/>
          <p:nvPr/>
        </p:nvSpPr>
        <p:spPr>
          <a:xfrm>
            <a:off x="3520440" y="4215384"/>
            <a:ext cx="1737360" cy="292608"/>
          </a:xfrm>
          <a:prstGeom prst="rect">
            <a:avLst/>
          </a:prstGeom>
          <a:noFill/>
          <a:ln/>
        </p:spPr>
        <p:txBody>
          <a:bodyPr wrap="square" lIns="0" tIns="0" rIns="0" bIns="0" rtlCol="0" anchor="ctr"/>
          <a:lstStyle/>
          <a:p>
            <a:pPr algn="l" indent="0" marL="0">
              <a:buNone/>
            </a:pPr>
            <a:r>
              <a:rPr lang="en-US" sz="800" dirty="0">
                <a:solidFill>
                  <a:srgbClr val="1A2330"/>
                </a:solidFill>
                <a:latin typeface="Arial" pitchFamily="34" charset="0"/>
                <a:ea typeface="Arial" pitchFamily="34" charset="-122"/>
                <a:cs typeface="Arial" pitchFamily="34" charset="-120"/>
              </a:rPr>
              <a:t>15:00 – 18:00</a:t>
            </a:r>
            <a:endParaRPr lang="en-US" sz="800" dirty="0"/>
          </a:p>
        </p:txBody>
      </p:sp>
      <p:sp>
        <p:nvSpPr>
          <p:cNvPr id="69" name="Text 55"/>
          <p:cNvSpPr txBox="1"/>
          <p:nvPr/>
        </p:nvSpPr>
        <p:spPr>
          <a:xfrm>
            <a:off x="3429000" y="4617720"/>
            <a:ext cx="1371600" cy="256032"/>
          </a:xfrm>
          <a:prstGeom prst="rect">
            <a:avLst/>
          </a:prstGeom>
          <a:noFill/>
          <a:ln/>
        </p:spPr>
        <p:txBody>
          <a:bodyPr wrap="square" lIns="0" tIns="0" rIns="0" bIns="0" rtlCol="0" anchor="ctr"/>
          <a:lstStyle/>
          <a:p>
            <a:pPr algn="l" indent="0" marL="0">
              <a:buNone/>
            </a:pPr>
            <a:r>
              <a:rPr lang="en-US" sz="800" b="1" dirty="0">
                <a:solidFill>
                  <a:srgbClr val="1A2330"/>
                </a:solidFill>
                <a:latin typeface="Arial" pitchFamily="34" charset="0"/>
                <a:ea typeface="Arial" pitchFamily="34" charset="-122"/>
                <a:cs typeface="Arial" pitchFamily="34" charset="-120"/>
              </a:rPr>
              <a:t>Khách đi ô tô</a:t>
            </a:r>
            <a:endParaRPr lang="en-US" sz="800" dirty="0"/>
          </a:p>
        </p:txBody>
      </p:sp>
      <p:sp>
        <p:nvSpPr>
          <p:cNvPr id="70" name="Shape 56"/>
          <p:cNvSpPr/>
          <p:nvPr/>
        </p:nvSpPr>
        <p:spPr>
          <a:xfrm>
            <a:off x="4937760" y="4654296"/>
            <a:ext cx="384048" cy="201168"/>
          </a:xfrm>
          <a:prstGeom prst="roundRect">
            <a:avLst>
              <a:gd name="adj" fmla="val 50000"/>
            </a:avLst>
          </a:prstGeom>
          <a:solidFill>
            <a:srgbClr val="1B7F79"/>
          </a:solidFill>
          <a:ln/>
        </p:spPr>
      </p:sp>
      <p:sp>
        <p:nvSpPr>
          <p:cNvPr id="71" name="Shape 57"/>
          <p:cNvSpPr/>
          <p:nvPr/>
        </p:nvSpPr>
        <p:spPr>
          <a:xfrm>
            <a:off x="5138928" y="4672584"/>
            <a:ext cx="164592" cy="164592"/>
          </a:xfrm>
          <a:prstGeom prst="ellipse">
            <a:avLst/>
          </a:prstGeom>
          <a:solidFill>
            <a:srgbClr val="FFFFFF"/>
          </a:solidFill>
          <a:ln/>
        </p:spPr>
      </p:sp>
      <p:sp>
        <p:nvSpPr>
          <p:cNvPr id="72" name="Shape 58"/>
          <p:cNvSpPr/>
          <p:nvPr/>
        </p:nvSpPr>
        <p:spPr>
          <a:xfrm>
            <a:off x="3429000" y="4937760"/>
            <a:ext cx="1920240" cy="292608"/>
          </a:xfrm>
          <a:prstGeom prst="roundRect">
            <a:avLst>
              <a:gd name="adj" fmla="val 18750"/>
            </a:avLst>
          </a:prstGeom>
          <a:solidFill>
            <a:srgbClr val="FFFFFF"/>
          </a:solidFill>
          <a:ln w="9525">
            <a:solidFill>
              <a:srgbClr val="D5DCE3"/>
            </a:solidFill>
            <a:prstDash val="solid"/>
          </a:ln>
        </p:spPr>
      </p:sp>
      <p:sp>
        <p:nvSpPr>
          <p:cNvPr id="73" name="Text 59"/>
          <p:cNvSpPr txBox="1"/>
          <p:nvPr/>
        </p:nvSpPr>
        <p:spPr>
          <a:xfrm>
            <a:off x="3520440" y="4937760"/>
            <a:ext cx="1737360" cy="292608"/>
          </a:xfrm>
          <a:prstGeom prst="rect">
            <a:avLst/>
          </a:prstGeom>
          <a:noFill/>
          <a:ln/>
        </p:spPr>
        <p:txBody>
          <a:bodyPr wrap="square" lIns="0" tIns="0" rIns="0" bIns="0" rtlCol="0" anchor="ctr"/>
          <a:lstStyle/>
          <a:p>
            <a:pPr algn="l" indent="0" marL="0">
              <a:buNone/>
            </a:pPr>
            <a:r>
              <a:rPr lang="en-US" sz="800" dirty="0">
                <a:solidFill>
                  <a:srgbClr val="1A2330"/>
                </a:solidFill>
                <a:latin typeface="Arial" pitchFamily="34" charset="0"/>
                <a:ea typeface="Arial" pitchFamily="34" charset="-122"/>
                <a:cs typeface="Arial" pitchFamily="34" charset="-120"/>
              </a:rPr>
              <a:t>Biển số: 30G-123.45</a:t>
            </a:r>
            <a:endParaRPr lang="en-US" sz="800" dirty="0"/>
          </a:p>
        </p:txBody>
      </p:sp>
      <p:sp>
        <p:nvSpPr>
          <p:cNvPr id="74" name="Text 60"/>
          <p:cNvSpPr txBox="1"/>
          <p:nvPr/>
        </p:nvSpPr>
        <p:spPr>
          <a:xfrm>
            <a:off x="3429000" y="5303520"/>
            <a:ext cx="1920240" cy="320040"/>
          </a:xfrm>
          <a:prstGeom prst="rect">
            <a:avLst/>
          </a:prstGeom>
          <a:noFill/>
          <a:ln/>
        </p:spPr>
        <p:txBody>
          <a:bodyPr wrap="square" lIns="0" tIns="0" rIns="0" bIns="0" rtlCol="0" anchor="t"/>
          <a:lstStyle/>
          <a:p>
            <a:pPr algn="l" indent="0" marL="0">
              <a:buNone/>
            </a:pPr>
            <a:r>
              <a:rPr lang="en-US" sz="680" dirty="0">
                <a:solidFill>
                  <a:srgbClr val="6B7785"/>
                </a:solidFill>
                <a:latin typeface="Arial" pitchFamily="34" charset="0"/>
                <a:ea typeface="Arial" pitchFamily="34" charset="-122"/>
                <a:cs typeface="Arial" pitchFamily="34" charset="-120"/>
              </a:rPr>
              <a:t>Khách chỉ đi được sảnh T1, hầm B2 và tầng 4</a:t>
            </a:r>
            <a:endParaRPr lang="en-US" sz="680" dirty="0"/>
          </a:p>
        </p:txBody>
      </p:sp>
      <p:sp>
        <p:nvSpPr>
          <p:cNvPr id="75" name="Shape 61"/>
          <p:cNvSpPr/>
          <p:nvPr/>
        </p:nvSpPr>
        <p:spPr>
          <a:xfrm>
            <a:off x="3429000" y="5897880"/>
            <a:ext cx="1920240" cy="365760"/>
          </a:xfrm>
          <a:prstGeom prst="roundRect">
            <a:avLst>
              <a:gd name="adj" fmla="val 20000"/>
            </a:avLst>
          </a:prstGeom>
          <a:solidFill>
            <a:srgbClr val="1B7F79"/>
          </a:solidFill>
          <a:ln/>
        </p:spPr>
      </p:sp>
      <p:sp>
        <p:nvSpPr>
          <p:cNvPr id="76" name="Text 62"/>
          <p:cNvSpPr txBox="1"/>
          <p:nvPr/>
        </p:nvSpPr>
        <p:spPr>
          <a:xfrm>
            <a:off x="3429000" y="5897880"/>
            <a:ext cx="192024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Tạo mã QR</a:t>
            </a:r>
            <a:endParaRPr lang="en-US" sz="800" dirty="0"/>
          </a:p>
        </p:txBody>
      </p:sp>
      <p:sp>
        <p:nvSpPr>
          <p:cNvPr id="77" name="Shape 63"/>
          <p:cNvSpPr/>
          <p:nvPr/>
        </p:nvSpPr>
        <p:spPr>
          <a:xfrm>
            <a:off x="6080760" y="1344168"/>
            <a:ext cx="1920240" cy="246888"/>
          </a:xfrm>
          <a:prstGeom prst="roundRect">
            <a:avLst>
              <a:gd name="adj" fmla="val 37037"/>
            </a:avLst>
          </a:prstGeom>
          <a:solidFill>
            <a:srgbClr val="12324A"/>
          </a:solidFill>
          <a:ln/>
        </p:spPr>
      </p:sp>
      <p:sp>
        <p:nvSpPr>
          <p:cNvPr id="78" name="Text 64"/>
          <p:cNvSpPr txBox="1"/>
          <p:nvPr/>
        </p:nvSpPr>
        <p:spPr>
          <a:xfrm>
            <a:off x="608076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Mã QR đã tạo</a:t>
            </a:r>
            <a:endParaRPr lang="en-US" sz="900" dirty="0"/>
          </a:p>
        </p:txBody>
      </p:sp>
      <p:sp>
        <p:nvSpPr>
          <p:cNvPr id="79" name="Shape 65"/>
          <p:cNvSpPr/>
          <p:nvPr/>
        </p:nvSpPr>
        <p:spPr>
          <a:xfrm>
            <a:off x="585216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80" name="Shape 66"/>
          <p:cNvSpPr/>
          <p:nvPr/>
        </p:nvSpPr>
        <p:spPr>
          <a:xfrm>
            <a:off x="5943600" y="1783080"/>
            <a:ext cx="2194560" cy="4617720"/>
          </a:xfrm>
          <a:prstGeom prst="roundRect">
            <a:avLst>
              <a:gd name="adj" fmla="val 3750"/>
            </a:avLst>
          </a:prstGeom>
          <a:solidFill>
            <a:srgbClr val="FFFFFF"/>
          </a:solidFill>
          <a:ln/>
        </p:spPr>
      </p:sp>
      <p:sp>
        <p:nvSpPr>
          <p:cNvPr id="81" name="Text 67"/>
          <p:cNvSpPr txBox="1"/>
          <p:nvPr/>
        </p:nvSpPr>
        <p:spPr>
          <a:xfrm>
            <a:off x="608076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82" name="Text 68"/>
          <p:cNvSpPr txBox="1"/>
          <p:nvPr/>
        </p:nvSpPr>
        <p:spPr>
          <a:xfrm>
            <a:off x="745236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83" name="Shape 69"/>
          <p:cNvSpPr/>
          <p:nvPr/>
        </p:nvSpPr>
        <p:spPr>
          <a:xfrm>
            <a:off x="6720840" y="1837944"/>
            <a:ext cx="640080" cy="128016"/>
          </a:xfrm>
          <a:prstGeom prst="roundRect">
            <a:avLst>
              <a:gd name="adj" fmla="val 50000"/>
            </a:avLst>
          </a:prstGeom>
          <a:solidFill>
            <a:srgbClr val="0E1C28"/>
          </a:solidFill>
          <a:ln/>
        </p:spPr>
      </p:sp>
      <p:pic>
        <p:nvPicPr>
          <p:cNvPr id="84" name="Image 12" descr="preencoded.png">    </p:cNvPr>
          <p:cNvPicPr>
            <a:picLocks noChangeAspect="1"/>
          </p:cNvPicPr>
          <p:nvPr/>
        </p:nvPicPr>
        <p:blipFill>
          <a:blip r:embed="rId13"/>
          <a:stretch>
            <a:fillRect/>
          </a:stretch>
        </p:blipFill>
        <p:spPr>
          <a:xfrm>
            <a:off x="6035040" y="2103120"/>
            <a:ext cx="182880" cy="182880"/>
          </a:xfrm>
          <a:prstGeom prst="rect">
            <a:avLst/>
          </a:prstGeom>
        </p:spPr>
      </p:pic>
      <p:sp>
        <p:nvSpPr>
          <p:cNvPr id="85" name="Text 70"/>
          <p:cNvSpPr txBox="1"/>
          <p:nvPr/>
        </p:nvSpPr>
        <p:spPr>
          <a:xfrm>
            <a:off x="6263640" y="2039112"/>
            <a:ext cx="1737360" cy="320040"/>
          </a:xfrm>
          <a:prstGeom prst="rect">
            <a:avLst/>
          </a:prstGeom>
          <a:noFill/>
          <a:ln/>
        </p:spPr>
        <p:txBody>
          <a:bodyPr wrap="square" lIns="0" tIns="0" rIns="0" bIns="0" rtlCol="0" anchor="ctr"/>
          <a:lstStyle/>
          <a:p>
            <a:pPr algn="l" indent="0" marL="0">
              <a:buNone/>
            </a:pPr>
            <a:r>
              <a:rPr lang="en-US" sz="1000" b="1" dirty="0">
                <a:solidFill>
                  <a:srgbClr val="12324A"/>
                </a:solidFill>
                <a:latin typeface="Arial" pitchFamily="34" charset="0"/>
                <a:ea typeface="Arial" pitchFamily="34" charset="-122"/>
                <a:cs typeface="Arial" pitchFamily="34" charset="-120"/>
              </a:rPr>
              <a:t>Mã mời khách</a:t>
            </a:r>
            <a:endParaRPr lang="en-US" sz="1000" dirty="0"/>
          </a:p>
        </p:txBody>
      </p:sp>
      <p:sp>
        <p:nvSpPr>
          <p:cNvPr id="86" name="Shape 71"/>
          <p:cNvSpPr/>
          <p:nvPr/>
        </p:nvSpPr>
        <p:spPr>
          <a:xfrm>
            <a:off x="6300216" y="2487168"/>
            <a:ext cx="1481328" cy="1481328"/>
          </a:xfrm>
          <a:prstGeom prst="rect">
            <a:avLst/>
          </a:prstGeom>
          <a:solidFill>
            <a:srgbClr val="FFFFFF"/>
          </a:solidFill>
          <a:ln w="6350">
            <a:solidFill>
              <a:srgbClr val="D5DCE3"/>
            </a:solidFill>
            <a:prstDash val="solid"/>
          </a:ln>
        </p:spPr>
      </p:sp>
      <p:sp>
        <p:nvSpPr>
          <p:cNvPr id="87" name="Shape 72"/>
          <p:cNvSpPr/>
          <p:nvPr/>
        </p:nvSpPr>
        <p:spPr>
          <a:xfrm>
            <a:off x="6435762" y="3187491"/>
            <a:ext cx="80682" cy="80682"/>
          </a:xfrm>
          <a:prstGeom prst="rect">
            <a:avLst/>
          </a:prstGeom>
          <a:solidFill>
            <a:srgbClr val="12324A"/>
          </a:solidFill>
          <a:ln/>
        </p:spPr>
      </p:sp>
      <p:sp>
        <p:nvSpPr>
          <p:cNvPr id="88" name="Shape 73"/>
          <p:cNvSpPr/>
          <p:nvPr/>
        </p:nvSpPr>
        <p:spPr>
          <a:xfrm>
            <a:off x="6919856" y="3187491"/>
            <a:ext cx="80682" cy="80682"/>
          </a:xfrm>
          <a:prstGeom prst="rect">
            <a:avLst/>
          </a:prstGeom>
          <a:solidFill>
            <a:srgbClr val="12324A"/>
          </a:solidFill>
          <a:ln/>
        </p:spPr>
      </p:sp>
      <p:sp>
        <p:nvSpPr>
          <p:cNvPr id="89" name="Shape 74"/>
          <p:cNvSpPr/>
          <p:nvPr/>
        </p:nvSpPr>
        <p:spPr>
          <a:xfrm>
            <a:off x="7000539" y="2542032"/>
            <a:ext cx="80682" cy="80682"/>
          </a:xfrm>
          <a:prstGeom prst="rect">
            <a:avLst/>
          </a:prstGeom>
          <a:solidFill>
            <a:srgbClr val="12324A"/>
          </a:solidFill>
          <a:ln/>
        </p:spPr>
      </p:sp>
      <p:sp>
        <p:nvSpPr>
          <p:cNvPr id="90" name="Shape 75"/>
          <p:cNvSpPr/>
          <p:nvPr/>
        </p:nvSpPr>
        <p:spPr>
          <a:xfrm>
            <a:off x="7000539" y="2784079"/>
            <a:ext cx="80682" cy="80682"/>
          </a:xfrm>
          <a:prstGeom prst="rect">
            <a:avLst/>
          </a:prstGeom>
          <a:solidFill>
            <a:srgbClr val="12324A"/>
          </a:solidFill>
          <a:ln/>
        </p:spPr>
      </p:sp>
      <p:sp>
        <p:nvSpPr>
          <p:cNvPr id="91" name="Shape 76"/>
          <p:cNvSpPr/>
          <p:nvPr/>
        </p:nvSpPr>
        <p:spPr>
          <a:xfrm>
            <a:off x="7000539" y="2864761"/>
            <a:ext cx="80682" cy="80682"/>
          </a:xfrm>
          <a:prstGeom prst="rect">
            <a:avLst/>
          </a:prstGeom>
          <a:solidFill>
            <a:srgbClr val="12324A"/>
          </a:solidFill>
          <a:ln/>
        </p:spPr>
      </p:sp>
      <p:sp>
        <p:nvSpPr>
          <p:cNvPr id="92" name="Shape 77"/>
          <p:cNvSpPr/>
          <p:nvPr/>
        </p:nvSpPr>
        <p:spPr>
          <a:xfrm>
            <a:off x="7000539" y="3187491"/>
            <a:ext cx="80682" cy="80682"/>
          </a:xfrm>
          <a:prstGeom prst="rect">
            <a:avLst/>
          </a:prstGeom>
          <a:solidFill>
            <a:srgbClr val="12324A"/>
          </a:solidFill>
          <a:ln/>
        </p:spPr>
      </p:sp>
      <p:sp>
        <p:nvSpPr>
          <p:cNvPr id="93" name="Shape 78"/>
          <p:cNvSpPr/>
          <p:nvPr/>
        </p:nvSpPr>
        <p:spPr>
          <a:xfrm>
            <a:off x="7000539" y="3348856"/>
            <a:ext cx="80682" cy="80682"/>
          </a:xfrm>
          <a:prstGeom prst="rect">
            <a:avLst/>
          </a:prstGeom>
          <a:solidFill>
            <a:srgbClr val="12324A"/>
          </a:solidFill>
          <a:ln/>
        </p:spPr>
      </p:sp>
      <p:sp>
        <p:nvSpPr>
          <p:cNvPr id="94" name="Shape 79"/>
          <p:cNvSpPr/>
          <p:nvPr/>
        </p:nvSpPr>
        <p:spPr>
          <a:xfrm>
            <a:off x="7000539" y="3671585"/>
            <a:ext cx="80682" cy="80682"/>
          </a:xfrm>
          <a:prstGeom prst="rect">
            <a:avLst/>
          </a:prstGeom>
          <a:solidFill>
            <a:srgbClr val="12324A"/>
          </a:solidFill>
          <a:ln/>
        </p:spPr>
      </p:sp>
      <p:sp>
        <p:nvSpPr>
          <p:cNvPr id="95" name="Shape 80"/>
          <p:cNvSpPr/>
          <p:nvPr/>
        </p:nvSpPr>
        <p:spPr>
          <a:xfrm>
            <a:off x="7000539" y="3752267"/>
            <a:ext cx="80682" cy="80682"/>
          </a:xfrm>
          <a:prstGeom prst="rect">
            <a:avLst/>
          </a:prstGeom>
          <a:solidFill>
            <a:srgbClr val="12324A"/>
          </a:solidFill>
          <a:ln/>
        </p:spPr>
      </p:sp>
      <p:sp>
        <p:nvSpPr>
          <p:cNvPr id="96" name="Shape 81"/>
          <p:cNvSpPr/>
          <p:nvPr/>
        </p:nvSpPr>
        <p:spPr>
          <a:xfrm>
            <a:off x="7081221" y="3268173"/>
            <a:ext cx="80682" cy="80682"/>
          </a:xfrm>
          <a:prstGeom prst="rect">
            <a:avLst/>
          </a:prstGeom>
          <a:solidFill>
            <a:srgbClr val="12324A"/>
          </a:solidFill>
          <a:ln/>
        </p:spPr>
      </p:sp>
      <p:sp>
        <p:nvSpPr>
          <p:cNvPr id="97" name="Shape 82"/>
          <p:cNvSpPr/>
          <p:nvPr/>
        </p:nvSpPr>
        <p:spPr>
          <a:xfrm>
            <a:off x="7081221" y="3510220"/>
            <a:ext cx="80682" cy="80682"/>
          </a:xfrm>
          <a:prstGeom prst="rect">
            <a:avLst/>
          </a:prstGeom>
          <a:solidFill>
            <a:srgbClr val="12324A"/>
          </a:solidFill>
          <a:ln/>
        </p:spPr>
      </p:sp>
      <p:sp>
        <p:nvSpPr>
          <p:cNvPr id="98" name="Shape 83"/>
          <p:cNvSpPr/>
          <p:nvPr/>
        </p:nvSpPr>
        <p:spPr>
          <a:xfrm>
            <a:off x="7081221" y="3590903"/>
            <a:ext cx="80682" cy="80682"/>
          </a:xfrm>
          <a:prstGeom prst="rect">
            <a:avLst/>
          </a:prstGeom>
          <a:solidFill>
            <a:srgbClr val="12324A"/>
          </a:solidFill>
          <a:ln/>
        </p:spPr>
      </p:sp>
      <p:sp>
        <p:nvSpPr>
          <p:cNvPr id="99" name="Shape 84"/>
          <p:cNvSpPr/>
          <p:nvPr/>
        </p:nvSpPr>
        <p:spPr>
          <a:xfrm>
            <a:off x="7081221" y="3832950"/>
            <a:ext cx="80682" cy="80682"/>
          </a:xfrm>
          <a:prstGeom prst="rect">
            <a:avLst/>
          </a:prstGeom>
          <a:solidFill>
            <a:srgbClr val="12324A"/>
          </a:solidFill>
          <a:ln/>
        </p:spPr>
      </p:sp>
      <p:sp>
        <p:nvSpPr>
          <p:cNvPr id="100" name="Shape 85"/>
          <p:cNvSpPr/>
          <p:nvPr/>
        </p:nvSpPr>
        <p:spPr>
          <a:xfrm>
            <a:off x="7161904" y="3590903"/>
            <a:ext cx="80682" cy="80682"/>
          </a:xfrm>
          <a:prstGeom prst="rect">
            <a:avLst/>
          </a:prstGeom>
          <a:solidFill>
            <a:srgbClr val="12324A"/>
          </a:solidFill>
          <a:ln/>
        </p:spPr>
      </p:sp>
      <p:sp>
        <p:nvSpPr>
          <p:cNvPr id="101" name="Shape 86"/>
          <p:cNvSpPr/>
          <p:nvPr/>
        </p:nvSpPr>
        <p:spPr>
          <a:xfrm>
            <a:off x="7242586" y="3187491"/>
            <a:ext cx="80682" cy="80682"/>
          </a:xfrm>
          <a:prstGeom prst="rect">
            <a:avLst/>
          </a:prstGeom>
          <a:solidFill>
            <a:srgbClr val="12324A"/>
          </a:solidFill>
          <a:ln/>
        </p:spPr>
      </p:sp>
      <p:sp>
        <p:nvSpPr>
          <p:cNvPr id="102" name="Shape 87"/>
          <p:cNvSpPr/>
          <p:nvPr/>
        </p:nvSpPr>
        <p:spPr>
          <a:xfrm>
            <a:off x="7242586" y="3348856"/>
            <a:ext cx="80682" cy="80682"/>
          </a:xfrm>
          <a:prstGeom prst="rect">
            <a:avLst/>
          </a:prstGeom>
          <a:solidFill>
            <a:srgbClr val="12324A"/>
          </a:solidFill>
          <a:ln/>
        </p:spPr>
      </p:sp>
      <p:sp>
        <p:nvSpPr>
          <p:cNvPr id="103" name="Shape 88"/>
          <p:cNvSpPr/>
          <p:nvPr/>
        </p:nvSpPr>
        <p:spPr>
          <a:xfrm>
            <a:off x="7242586" y="3590903"/>
            <a:ext cx="80682" cy="80682"/>
          </a:xfrm>
          <a:prstGeom prst="rect">
            <a:avLst/>
          </a:prstGeom>
          <a:solidFill>
            <a:srgbClr val="12324A"/>
          </a:solidFill>
          <a:ln/>
        </p:spPr>
      </p:sp>
      <p:sp>
        <p:nvSpPr>
          <p:cNvPr id="104" name="Shape 89"/>
          <p:cNvSpPr/>
          <p:nvPr/>
        </p:nvSpPr>
        <p:spPr>
          <a:xfrm>
            <a:off x="7242586" y="3752267"/>
            <a:ext cx="80682" cy="80682"/>
          </a:xfrm>
          <a:prstGeom prst="rect">
            <a:avLst/>
          </a:prstGeom>
          <a:solidFill>
            <a:srgbClr val="12324A"/>
          </a:solidFill>
          <a:ln/>
        </p:spPr>
      </p:sp>
      <p:sp>
        <p:nvSpPr>
          <p:cNvPr id="105" name="Shape 90"/>
          <p:cNvSpPr/>
          <p:nvPr/>
        </p:nvSpPr>
        <p:spPr>
          <a:xfrm>
            <a:off x="7242586" y="3832950"/>
            <a:ext cx="80682" cy="80682"/>
          </a:xfrm>
          <a:prstGeom prst="rect">
            <a:avLst/>
          </a:prstGeom>
          <a:solidFill>
            <a:srgbClr val="12324A"/>
          </a:solidFill>
          <a:ln/>
        </p:spPr>
      </p:sp>
      <p:sp>
        <p:nvSpPr>
          <p:cNvPr id="106" name="Shape 91"/>
          <p:cNvSpPr/>
          <p:nvPr/>
        </p:nvSpPr>
        <p:spPr>
          <a:xfrm>
            <a:off x="7323268" y="3671585"/>
            <a:ext cx="80682" cy="80682"/>
          </a:xfrm>
          <a:prstGeom prst="rect">
            <a:avLst/>
          </a:prstGeom>
          <a:solidFill>
            <a:srgbClr val="12324A"/>
          </a:solidFill>
          <a:ln/>
        </p:spPr>
      </p:sp>
      <p:sp>
        <p:nvSpPr>
          <p:cNvPr id="107" name="Shape 92"/>
          <p:cNvSpPr/>
          <p:nvPr/>
        </p:nvSpPr>
        <p:spPr>
          <a:xfrm>
            <a:off x="7323268" y="3752267"/>
            <a:ext cx="80682" cy="80682"/>
          </a:xfrm>
          <a:prstGeom prst="rect">
            <a:avLst/>
          </a:prstGeom>
          <a:solidFill>
            <a:srgbClr val="12324A"/>
          </a:solidFill>
          <a:ln/>
        </p:spPr>
      </p:sp>
      <p:sp>
        <p:nvSpPr>
          <p:cNvPr id="108" name="Shape 93"/>
          <p:cNvSpPr/>
          <p:nvPr/>
        </p:nvSpPr>
        <p:spPr>
          <a:xfrm>
            <a:off x="7323268" y="3832950"/>
            <a:ext cx="80682" cy="80682"/>
          </a:xfrm>
          <a:prstGeom prst="rect">
            <a:avLst/>
          </a:prstGeom>
          <a:solidFill>
            <a:srgbClr val="12324A"/>
          </a:solidFill>
          <a:ln/>
        </p:spPr>
      </p:sp>
      <p:sp>
        <p:nvSpPr>
          <p:cNvPr id="109" name="Shape 94"/>
          <p:cNvSpPr/>
          <p:nvPr/>
        </p:nvSpPr>
        <p:spPr>
          <a:xfrm>
            <a:off x="7403951" y="3510220"/>
            <a:ext cx="80682" cy="80682"/>
          </a:xfrm>
          <a:prstGeom prst="rect">
            <a:avLst/>
          </a:prstGeom>
          <a:solidFill>
            <a:srgbClr val="12324A"/>
          </a:solidFill>
          <a:ln/>
        </p:spPr>
      </p:sp>
      <p:sp>
        <p:nvSpPr>
          <p:cNvPr id="110" name="Shape 95"/>
          <p:cNvSpPr/>
          <p:nvPr/>
        </p:nvSpPr>
        <p:spPr>
          <a:xfrm>
            <a:off x="7484633" y="3187491"/>
            <a:ext cx="80682" cy="80682"/>
          </a:xfrm>
          <a:prstGeom prst="rect">
            <a:avLst/>
          </a:prstGeom>
          <a:solidFill>
            <a:srgbClr val="12324A"/>
          </a:solidFill>
          <a:ln/>
        </p:spPr>
      </p:sp>
      <p:sp>
        <p:nvSpPr>
          <p:cNvPr id="111" name="Shape 96"/>
          <p:cNvSpPr/>
          <p:nvPr/>
        </p:nvSpPr>
        <p:spPr>
          <a:xfrm>
            <a:off x="7484633" y="3429538"/>
            <a:ext cx="80682" cy="80682"/>
          </a:xfrm>
          <a:prstGeom prst="rect">
            <a:avLst/>
          </a:prstGeom>
          <a:solidFill>
            <a:srgbClr val="12324A"/>
          </a:solidFill>
          <a:ln/>
        </p:spPr>
      </p:sp>
      <p:sp>
        <p:nvSpPr>
          <p:cNvPr id="112" name="Shape 97"/>
          <p:cNvSpPr/>
          <p:nvPr/>
        </p:nvSpPr>
        <p:spPr>
          <a:xfrm>
            <a:off x="7484633" y="3510220"/>
            <a:ext cx="80682" cy="80682"/>
          </a:xfrm>
          <a:prstGeom prst="rect">
            <a:avLst/>
          </a:prstGeom>
          <a:solidFill>
            <a:srgbClr val="12324A"/>
          </a:solidFill>
          <a:ln/>
        </p:spPr>
      </p:sp>
      <p:sp>
        <p:nvSpPr>
          <p:cNvPr id="113" name="Shape 98"/>
          <p:cNvSpPr/>
          <p:nvPr/>
        </p:nvSpPr>
        <p:spPr>
          <a:xfrm>
            <a:off x="7484633" y="3590903"/>
            <a:ext cx="80682" cy="80682"/>
          </a:xfrm>
          <a:prstGeom prst="rect">
            <a:avLst/>
          </a:prstGeom>
          <a:solidFill>
            <a:srgbClr val="12324A"/>
          </a:solidFill>
          <a:ln/>
        </p:spPr>
      </p:sp>
      <p:sp>
        <p:nvSpPr>
          <p:cNvPr id="114" name="Shape 99"/>
          <p:cNvSpPr/>
          <p:nvPr/>
        </p:nvSpPr>
        <p:spPr>
          <a:xfrm>
            <a:off x="7484633" y="3671585"/>
            <a:ext cx="80682" cy="80682"/>
          </a:xfrm>
          <a:prstGeom prst="rect">
            <a:avLst/>
          </a:prstGeom>
          <a:solidFill>
            <a:srgbClr val="12324A"/>
          </a:solidFill>
          <a:ln/>
        </p:spPr>
      </p:sp>
      <p:sp>
        <p:nvSpPr>
          <p:cNvPr id="115" name="Shape 100"/>
          <p:cNvSpPr/>
          <p:nvPr/>
        </p:nvSpPr>
        <p:spPr>
          <a:xfrm>
            <a:off x="7484633" y="3752267"/>
            <a:ext cx="80682" cy="80682"/>
          </a:xfrm>
          <a:prstGeom prst="rect">
            <a:avLst/>
          </a:prstGeom>
          <a:solidFill>
            <a:srgbClr val="12324A"/>
          </a:solidFill>
          <a:ln/>
        </p:spPr>
      </p:sp>
      <p:sp>
        <p:nvSpPr>
          <p:cNvPr id="116" name="Shape 101"/>
          <p:cNvSpPr/>
          <p:nvPr/>
        </p:nvSpPr>
        <p:spPr>
          <a:xfrm>
            <a:off x="7484633" y="3832950"/>
            <a:ext cx="80682" cy="80682"/>
          </a:xfrm>
          <a:prstGeom prst="rect">
            <a:avLst/>
          </a:prstGeom>
          <a:solidFill>
            <a:srgbClr val="12324A"/>
          </a:solidFill>
          <a:ln/>
        </p:spPr>
      </p:sp>
      <p:sp>
        <p:nvSpPr>
          <p:cNvPr id="117" name="Shape 102"/>
          <p:cNvSpPr/>
          <p:nvPr/>
        </p:nvSpPr>
        <p:spPr>
          <a:xfrm>
            <a:off x="7565315" y="3187491"/>
            <a:ext cx="80682" cy="80682"/>
          </a:xfrm>
          <a:prstGeom prst="rect">
            <a:avLst/>
          </a:prstGeom>
          <a:solidFill>
            <a:srgbClr val="12324A"/>
          </a:solidFill>
          <a:ln/>
        </p:spPr>
      </p:sp>
      <p:sp>
        <p:nvSpPr>
          <p:cNvPr id="118" name="Shape 103"/>
          <p:cNvSpPr/>
          <p:nvPr/>
        </p:nvSpPr>
        <p:spPr>
          <a:xfrm>
            <a:off x="7565315" y="3268173"/>
            <a:ext cx="80682" cy="80682"/>
          </a:xfrm>
          <a:prstGeom prst="rect">
            <a:avLst/>
          </a:prstGeom>
          <a:solidFill>
            <a:srgbClr val="12324A"/>
          </a:solidFill>
          <a:ln/>
        </p:spPr>
      </p:sp>
      <p:sp>
        <p:nvSpPr>
          <p:cNvPr id="119" name="Shape 104"/>
          <p:cNvSpPr/>
          <p:nvPr/>
        </p:nvSpPr>
        <p:spPr>
          <a:xfrm>
            <a:off x="7565315" y="3752267"/>
            <a:ext cx="80682" cy="80682"/>
          </a:xfrm>
          <a:prstGeom prst="rect">
            <a:avLst/>
          </a:prstGeom>
          <a:solidFill>
            <a:srgbClr val="12324A"/>
          </a:solidFill>
          <a:ln/>
        </p:spPr>
      </p:sp>
      <p:sp>
        <p:nvSpPr>
          <p:cNvPr id="120" name="Shape 105"/>
          <p:cNvSpPr/>
          <p:nvPr/>
        </p:nvSpPr>
        <p:spPr>
          <a:xfrm>
            <a:off x="7565315" y="3832950"/>
            <a:ext cx="80682" cy="80682"/>
          </a:xfrm>
          <a:prstGeom prst="rect">
            <a:avLst/>
          </a:prstGeom>
          <a:solidFill>
            <a:srgbClr val="12324A"/>
          </a:solidFill>
          <a:ln/>
        </p:spPr>
      </p:sp>
      <p:sp>
        <p:nvSpPr>
          <p:cNvPr id="121" name="Shape 106"/>
          <p:cNvSpPr/>
          <p:nvPr/>
        </p:nvSpPr>
        <p:spPr>
          <a:xfrm>
            <a:off x="7645998" y="3268173"/>
            <a:ext cx="80682" cy="80682"/>
          </a:xfrm>
          <a:prstGeom prst="rect">
            <a:avLst/>
          </a:prstGeom>
          <a:solidFill>
            <a:srgbClr val="12324A"/>
          </a:solidFill>
          <a:ln/>
        </p:spPr>
      </p:sp>
      <p:sp>
        <p:nvSpPr>
          <p:cNvPr id="122" name="Shape 107"/>
          <p:cNvSpPr/>
          <p:nvPr/>
        </p:nvSpPr>
        <p:spPr>
          <a:xfrm>
            <a:off x="7645998" y="3510220"/>
            <a:ext cx="80682" cy="80682"/>
          </a:xfrm>
          <a:prstGeom prst="rect">
            <a:avLst/>
          </a:prstGeom>
          <a:solidFill>
            <a:srgbClr val="12324A"/>
          </a:solidFill>
          <a:ln/>
        </p:spPr>
      </p:sp>
      <p:sp>
        <p:nvSpPr>
          <p:cNvPr id="123" name="Shape 108"/>
          <p:cNvSpPr/>
          <p:nvPr/>
        </p:nvSpPr>
        <p:spPr>
          <a:xfrm>
            <a:off x="7645998" y="3752267"/>
            <a:ext cx="80682" cy="80682"/>
          </a:xfrm>
          <a:prstGeom prst="rect">
            <a:avLst/>
          </a:prstGeom>
          <a:solidFill>
            <a:srgbClr val="12324A"/>
          </a:solidFill>
          <a:ln/>
        </p:spPr>
      </p:sp>
      <p:sp>
        <p:nvSpPr>
          <p:cNvPr id="124" name="Shape 109"/>
          <p:cNvSpPr/>
          <p:nvPr/>
        </p:nvSpPr>
        <p:spPr>
          <a:xfrm>
            <a:off x="6355080" y="2542032"/>
            <a:ext cx="564776" cy="564776"/>
          </a:xfrm>
          <a:prstGeom prst="rect">
            <a:avLst/>
          </a:prstGeom>
          <a:solidFill>
            <a:srgbClr val="12324A"/>
          </a:solidFill>
          <a:ln/>
        </p:spPr>
      </p:sp>
      <p:sp>
        <p:nvSpPr>
          <p:cNvPr id="125" name="Shape 110"/>
          <p:cNvSpPr/>
          <p:nvPr/>
        </p:nvSpPr>
        <p:spPr>
          <a:xfrm>
            <a:off x="6435762" y="2622714"/>
            <a:ext cx="403412" cy="403412"/>
          </a:xfrm>
          <a:prstGeom prst="rect">
            <a:avLst/>
          </a:prstGeom>
          <a:solidFill>
            <a:srgbClr val="FFFFFF"/>
          </a:solidFill>
          <a:ln/>
        </p:spPr>
      </p:sp>
      <p:sp>
        <p:nvSpPr>
          <p:cNvPr id="126" name="Shape 111"/>
          <p:cNvSpPr/>
          <p:nvPr/>
        </p:nvSpPr>
        <p:spPr>
          <a:xfrm>
            <a:off x="6516445" y="2703397"/>
            <a:ext cx="242047" cy="242047"/>
          </a:xfrm>
          <a:prstGeom prst="rect">
            <a:avLst/>
          </a:prstGeom>
          <a:solidFill>
            <a:srgbClr val="12324A"/>
          </a:solidFill>
          <a:ln/>
        </p:spPr>
      </p:sp>
      <p:sp>
        <p:nvSpPr>
          <p:cNvPr id="127" name="Shape 112"/>
          <p:cNvSpPr/>
          <p:nvPr/>
        </p:nvSpPr>
        <p:spPr>
          <a:xfrm>
            <a:off x="7161904" y="2542032"/>
            <a:ext cx="564776" cy="564776"/>
          </a:xfrm>
          <a:prstGeom prst="rect">
            <a:avLst/>
          </a:prstGeom>
          <a:solidFill>
            <a:srgbClr val="12324A"/>
          </a:solidFill>
          <a:ln/>
        </p:spPr>
      </p:sp>
      <p:sp>
        <p:nvSpPr>
          <p:cNvPr id="128" name="Shape 113"/>
          <p:cNvSpPr/>
          <p:nvPr/>
        </p:nvSpPr>
        <p:spPr>
          <a:xfrm>
            <a:off x="7242586" y="2622714"/>
            <a:ext cx="403412" cy="403412"/>
          </a:xfrm>
          <a:prstGeom prst="rect">
            <a:avLst/>
          </a:prstGeom>
          <a:solidFill>
            <a:srgbClr val="FFFFFF"/>
          </a:solidFill>
          <a:ln/>
        </p:spPr>
      </p:sp>
      <p:sp>
        <p:nvSpPr>
          <p:cNvPr id="129" name="Shape 114"/>
          <p:cNvSpPr/>
          <p:nvPr/>
        </p:nvSpPr>
        <p:spPr>
          <a:xfrm>
            <a:off x="7323268" y="2703397"/>
            <a:ext cx="242047" cy="242047"/>
          </a:xfrm>
          <a:prstGeom prst="rect">
            <a:avLst/>
          </a:prstGeom>
          <a:solidFill>
            <a:srgbClr val="12324A"/>
          </a:solidFill>
          <a:ln/>
        </p:spPr>
      </p:sp>
      <p:sp>
        <p:nvSpPr>
          <p:cNvPr id="130" name="Shape 115"/>
          <p:cNvSpPr/>
          <p:nvPr/>
        </p:nvSpPr>
        <p:spPr>
          <a:xfrm>
            <a:off x="6355080" y="3348856"/>
            <a:ext cx="564776" cy="564776"/>
          </a:xfrm>
          <a:prstGeom prst="rect">
            <a:avLst/>
          </a:prstGeom>
          <a:solidFill>
            <a:srgbClr val="12324A"/>
          </a:solidFill>
          <a:ln/>
        </p:spPr>
      </p:sp>
      <p:sp>
        <p:nvSpPr>
          <p:cNvPr id="131" name="Shape 116"/>
          <p:cNvSpPr/>
          <p:nvPr/>
        </p:nvSpPr>
        <p:spPr>
          <a:xfrm>
            <a:off x="6435762" y="3429538"/>
            <a:ext cx="403412" cy="403412"/>
          </a:xfrm>
          <a:prstGeom prst="rect">
            <a:avLst/>
          </a:prstGeom>
          <a:solidFill>
            <a:srgbClr val="FFFFFF"/>
          </a:solidFill>
          <a:ln/>
        </p:spPr>
      </p:sp>
      <p:sp>
        <p:nvSpPr>
          <p:cNvPr id="132" name="Shape 117"/>
          <p:cNvSpPr/>
          <p:nvPr/>
        </p:nvSpPr>
        <p:spPr>
          <a:xfrm>
            <a:off x="6516445" y="3510220"/>
            <a:ext cx="242047" cy="242047"/>
          </a:xfrm>
          <a:prstGeom prst="rect">
            <a:avLst/>
          </a:prstGeom>
          <a:solidFill>
            <a:srgbClr val="12324A"/>
          </a:solidFill>
          <a:ln/>
        </p:spPr>
      </p:sp>
      <p:sp>
        <p:nvSpPr>
          <p:cNvPr id="133" name="Text 118"/>
          <p:cNvSpPr txBox="1"/>
          <p:nvPr/>
        </p:nvSpPr>
        <p:spPr>
          <a:xfrm>
            <a:off x="5943600" y="4050792"/>
            <a:ext cx="2194560" cy="256032"/>
          </a:xfrm>
          <a:prstGeom prst="rect">
            <a:avLst/>
          </a:prstGeom>
          <a:noFill/>
          <a:ln/>
        </p:spPr>
        <p:txBody>
          <a:bodyPr wrap="square" lIns="0" tIns="0" rIns="0" bIns="0" rtlCol="0" anchor="ctr"/>
          <a:lstStyle/>
          <a:p>
            <a:pPr algn="ctr" indent="0" marL="0">
              <a:buNone/>
            </a:pPr>
            <a:r>
              <a:rPr lang="en-US" sz="1100" b="1" dirty="0">
                <a:solidFill>
                  <a:srgbClr val="12324A"/>
                </a:solidFill>
                <a:latin typeface="Arial" pitchFamily="34" charset="0"/>
                <a:ea typeface="Arial" pitchFamily="34" charset="-122"/>
                <a:cs typeface="Arial" pitchFamily="34" charset="-120"/>
              </a:rPr>
              <a:t>Nguyễn Lan</a:t>
            </a:r>
            <a:endParaRPr lang="en-US" sz="1100" dirty="0"/>
          </a:p>
        </p:txBody>
      </p:sp>
      <p:sp>
        <p:nvSpPr>
          <p:cNvPr id="134" name="Text 119"/>
          <p:cNvSpPr txBox="1"/>
          <p:nvPr/>
        </p:nvSpPr>
        <p:spPr>
          <a:xfrm>
            <a:off x="5943600" y="4306824"/>
            <a:ext cx="2194560" cy="201168"/>
          </a:xfrm>
          <a:prstGeom prst="rect">
            <a:avLst/>
          </a:prstGeom>
          <a:noFill/>
          <a:ln/>
        </p:spPr>
        <p:txBody>
          <a:bodyPr wrap="square" lIns="0" tIns="0" rIns="0" bIns="0" rtlCol="0" anchor="ctr"/>
          <a:lstStyle/>
          <a:p>
            <a:pPr algn="ctr" indent="0" marL="0">
              <a:buNone/>
            </a:pPr>
            <a:r>
              <a:rPr lang="en-US" sz="750" dirty="0">
                <a:solidFill>
                  <a:srgbClr val="1A2330"/>
                </a:solidFill>
                <a:latin typeface="Arial" pitchFamily="34" charset="0"/>
                <a:ea typeface="Arial" pitchFamily="34" charset="-122"/>
                <a:cs typeface="Arial" pitchFamily="34" charset="-120"/>
              </a:rPr>
              <a:t>Hiệu lực 15:00 – 18:00 hôm nay</a:t>
            </a:r>
            <a:endParaRPr lang="en-US" sz="750" dirty="0"/>
          </a:p>
        </p:txBody>
      </p:sp>
      <p:sp>
        <p:nvSpPr>
          <p:cNvPr id="135" name="Shape 120"/>
          <p:cNvSpPr/>
          <p:nvPr/>
        </p:nvSpPr>
        <p:spPr>
          <a:xfrm>
            <a:off x="6217920" y="4581144"/>
            <a:ext cx="1645920" cy="237744"/>
          </a:xfrm>
          <a:prstGeom prst="roundRect">
            <a:avLst>
              <a:gd name="adj" fmla="val 38462"/>
            </a:avLst>
          </a:prstGeom>
          <a:solidFill>
            <a:srgbClr val="E8F3F2"/>
          </a:solidFill>
          <a:ln/>
        </p:spPr>
      </p:sp>
      <p:sp>
        <p:nvSpPr>
          <p:cNvPr id="136" name="Text 121"/>
          <p:cNvSpPr txBox="1"/>
          <p:nvPr/>
        </p:nvSpPr>
        <p:spPr>
          <a:xfrm>
            <a:off x="6217920" y="4581144"/>
            <a:ext cx="1645920" cy="237744"/>
          </a:xfrm>
          <a:prstGeom prst="rect">
            <a:avLst/>
          </a:prstGeom>
          <a:noFill/>
          <a:ln/>
        </p:spPr>
        <p:txBody>
          <a:bodyPr wrap="square" lIns="0" tIns="0" rIns="0" bIns="0" rtlCol="0" anchor="ctr"/>
          <a:lstStyle/>
          <a:p>
            <a:pPr algn="ctr" indent="0" marL="0">
              <a:buNone/>
            </a:pPr>
            <a:r>
              <a:rPr lang="en-US" sz="700" b="1" dirty="0">
                <a:solidFill>
                  <a:srgbClr val="1B7F79"/>
                </a:solidFill>
                <a:latin typeface="Arial" pitchFamily="34" charset="0"/>
                <a:ea typeface="Arial" pitchFamily="34" charset="-122"/>
                <a:cs typeface="Arial" pitchFamily="34" charset="-120"/>
              </a:rPr>
              <a:t>Sảnh T1 · Hầm B2 · Tầng 4</a:t>
            </a:r>
            <a:endParaRPr lang="en-US" sz="700" dirty="0"/>
          </a:p>
        </p:txBody>
      </p:sp>
      <p:sp>
        <p:nvSpPr>
          <p:cNvPr id="137" name="Text 122"/>
          <p:cNvSpPr txBox="1"/>
          <p:nvPr/>
        </p:nvSpPr>
        <p:spPr>
          <a:xfrm>
            <a:off x="5943600" y="4873752"/>
            <a:ext cx="2194560" cy="182880"/>
          </a:xfrm>
          <a:prstGeom prst="rect">
            <a:avLst/>
          </a:prstGeom>
          <a:noFill/>
          <a:ln/>
        </p:spPr>
        <p:txBody>
          <a:bodyPr wrap="square" lIns="0" tIns="0" rIns="0" bIns="0" rtlCol="0" anchor="ctr"/>
          <a:lstStyle/>
          <a:p>
            <a:pPr algn="ctr" indent="0" marL="0">
              <a:buNone/>
            </a:pPr>
            <a:r>
              <a:rPr lang="en-US" sz="650" dirty="0">
                <a:solidFill>
                  <a:srgbClr val="6B7785"/>
                </a:solidFill>
                <a:latin typeface="Arial" pitchFamily="34" charset="0"/>
                <a:ea typeface="Arial" pitchFamily="34" charset="-122"/>
                <a:cs typeface="Arial" pitchFamily="34" charset="-120"/>
              </a:rPr>
              <a:t>Tự hết hạn và hủy sau khung giờ</a:t>
            </a:r>
            <a:endParaRPr lang="en-US" sz="650" dirty="0"/>
          </a:p>
        </p:txBody>
      </p:sp>
      <p:sp>
        <p:nvSpPr>
          <p:cNvPr id="138" name="Shape 123"/>
          <p:cNvSpPr/>
          <p:nvPr/>
        </p:nvSpPr>
        <p:spPr>
          <a:xfrm>
            <a:off x="6080760" y="5239512"/>
            <a:ext cx="1920240" cy="347472"/>
          </a:xfrm>
          <a:prstGeom prst="roundRect">
            <a:avLst>
              <a:gd name="adj" fmla="val 21053"/>
            </a:avLst>
          </a:prstGeom>
          <a:solidFill>
            <a:srgbClr val="1B7F79"/>
          </a:solidFill>
          <a:ln/>
        </p:spPr>
      </p:sp>
      <p:sp>
        <p:nvSpPr>
          <p:cNvPr id="139" name="Text 124"/>
          <p:cNvSpPr txBox="1"/>
          <p:nvPr/>
        </p:nvSpPr>
        <p:spPr>
          <a:xfrm>
            <a:off x="6080760" y="5239512"/>
            <a:ext cx="19202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Gửi qua Zalo</a:t>
            </a:r>
            <a:endParaRPr lang="en-US" sz="800" dirty="0"/>
          </a:p>
        </p:txBody>
      </p:sp>
      <p:sp>
        <p:nvSpPr>
          <p:cNvPr id="140" name="Shape 125"/>
          <p:cNvSpPr/>
          <p:nvPr/>
        </p:nvSpPr>
        <p:spPr>
          <a:xfrm>
            <a:off x="6080760" y="5650992"/>
            <a:ext cx="937260" cy="310896"/>
          </a:xfrm>
          <a:prstGeom prst="roundRect">
            <a:avLst>
              <a:gd name="adj" fmla="val 23529"/>
            </a:avLst>
          </a:prstGeom>
          <a:solidFill>
            <a:srgbClr val="FFFFFF"/>
          </a:solidFill>
          <a:ln w="9525">
            <a:solidFill>
              <a:srgbClr val="1B7F79"/>
            </a:solidFill>
            <a:prstDash val="solid"/>
          </a:ln>
        </p:spPr>
      </p:sp>
      <p:sp>
        <p:nvSpPr>
          <p:cNvPr id="141" name="Text 126"/>
          <p:cNvSpPr txBox="1"/>
          <p:nvPr/>
        </p:nvSpPr>
        <p:spPr>
          <a:xfrm>
            <a:off x="6080760" y="5650992"/>
            <a:ext cx="937260" cy="310896"/>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Gửi SMS</a:t>
            </a:r>
            <a:endParaRPr lang="en-US" sz="800" dirty="0"/>
          </a:p>
        </p:txBody>
      </p:sp>
      <p:sp>
        <p:nvSpPr>
          <p:cNvPr id="142" name="Shape 127"/>
          <p:cNvSpPr/>
          <p:nvPr/>
        </p:nvSpPr>
        <p:spPr>
          <a:xfrm>
            <a:off x="7063740" y="5650992"/>
            <a:ext cx="937260" cy="310896"/>
          </a:xfrm>
          <a:prstGeom prst="roundRect">
            <a:avLst>
              <a:gd name="adj" fmla="val 23529"/>
            </a:avLst>
          </a:prstGeom>
          <a:solidFill>
            <a:srgbClr val="FFFFFF"/>
          </a:solidFill>
          <a:ln w="9525">
            <a:solidFill>
              <a:srgbClr val="D64545"/>
            </a:solidFill>
            <a:prstDash val="solid"/>
          </a:ln>
        </p:spPr>
      </p:sp>
      <p:sp>
        <p:nvSpPr>
          <p:cNvPr id="143" name="Text 128"/>
          <p:cNvSpPr txBox="1"/>
          <p:nvPr/>
        </p:nvSpPr>
        <p:spPr>
          <a:xfrm>
            <a:off x="7063740" y="5650992"/>
            <a:ext cx="937260" cy="310896"/>
          </a:xfrm>
          <a:prstGeom prst="rect">
            <a:avLst/>
          </a:prstGeom>
          <a:noFill/>
          <a:ln/>
        </p:spPr>
        <p:txBody>
          <a:bodyPr wrap="square" lIns="0" tIns="0" rIns="0" bIns="0" rtlCol="0" anchor="ctr"/>
          <a:lstStyle/>
          <a:p>
            <a:pPr algn="ctr" indent="0" marL="0">
              <a:buNone/>
            </a:pPr>
            <a:r>
              <a:rPr lang="en-US" sz="800" b="1" dirty="0">
                <a:solidFill>
                  <a:srgbClr val="D64545"/>
                </a:solidFill>
                <a:latin typeface="Arial" pitchFamily="34" charset="0"/>
                <a:ea typeface="Arial" pitchFamily="34" charset="-122"/>
                <a:cs typeface="Arial" pitchFamily="34" charset="-120"/>
              </a:rPr>
              <a:t>Hủy lời mời</a:t>
            </a:r>
            <a:endParaRPr lang="en-US" sz="800" dirty="0"/>
          </a:p>
        </p:txBody>
      </p:sp>
      <p:sp>
        <p:nvSpPr>
          <p:cNvPr id="144" name="Shape 129"/>
          <p:cNvSpPr/>
          <p:nvPr/>
        </p:nvSpPr>
        <p:spPr>
          <a:xfrm>
            <a:off x="2697480" y="2560320"/>
            <a:ext cx="274320" cy="274320"/>
          </a:xfrm>
          <a:prstGeom prst="ellipse">
            <a:avLst/>
          </a:prstGeom>
          <a:solidFill>
            <a:srgbClr val="E8833A"/>
          </a:solidFill>
          <a:ln w="19050">
            <a:solidFill>
              <a:srgbClr val="FFFFFF"/>
            </a:solidFill>
            <a:prstDash val="solid"/>
          </a:ln>
        </p:spPr>
      </p:sp>
      <p:sp>
        <p:nvSpPr>
          <p:cNvPr id="145" name="Text 130"/>
          <p:cNvSpPr txBox="1"/>
          <p:nvPr/>
        </p:nvSpPr>
        <p:spPr>
          <a:xfrm>
            <a:off x="2697480" y="2560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46" name="Shape 131"/>
          <p:cNvSpPr/>
          <p:nvPr/>
        </p:nvSpPr>
        <p:spPr>
          <a:xfrm>
            <a:off x="5349240" y="4434840"/>
            <a:ext cx="274320" cy="274320"/>
          </a:xfrm>
          <a:prstGeom prst="ellipse">
            <a:avLst/>
          </a:prstGeom>
          <a:solidFill>
            <a:srgbClr val="E8833A"/>
          </a:solidFill>
          <a:ln w="19050">
            <a:solidFill>
              <a:srgbClr val="FFFFFF"/>
            </a:solidFill>
            <a:prstDash val="solid"/>
          </a:ln>
        </p:spPr>
      </p:sp>
      <p:sp>
        <p:nvSpPr>
          <p:cNvPr id="147" name="Text 132"/>
          <p:cNvSpPr txBox="1"/>
          <p:nvPr/>
        </p:nvSpPr>
        <p:spPr>
          <a:xfrm>
            <a:off x="5349240"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8" name="Shape 133"/>
          <p:cNvSpPr/>
          <p:nvPr/>
        </p:nvSpPr>
        <p:spPr>
          <a:xfrm>
            <a:off x="8001000" y="4434840"/>
            <a:ext cx="274320" cy="274320"/>
          </a:xfrm>
          <a:prstGeom prst="ellipse">
            <a:avLst/>
          </a:prstGeom>
          <a:solidFill>
            <a:srgbClr val="E8833A"/>
          </a:solidFill>
          <a:ln w="19050">
            <a:solidFill>
              <a:srgbClr val="FFFFFF"/>
            </a:solidFill>
            <a:prstDash val="solid"/>
          </a:ln>
        </p:spPr>
      </p:sp>
      <p:sp>
        <p:nvSpPr>
          <p:cNvPr id="149" name="Text 134"/>
          <p:cNvSpPr txBox="1"/>
          <p:nvPr/>
        </p:nvSpPr>
        <p:spPr>
          <a:xfrm>
            <a:off x="8001000"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50" name="Shape 135"/>
          <p:cNvSpPr/>
          <p:nvPr/>
        </p:nvSpPr>
        <p:spPr>
          <a:xfrm>
            <a:off x="8549640" y="1325880"/>
            <a:ext cx="3200400" cy="5120640"/>
          </a:xfrm>
          <a:prstGeom prst="roundRect">
            <a:avLst>
              <a:gd name="adj" fmla="val 1429"/>
            </a:avLst>
          </a:prstGeom>
          <a:solidFill>
            <a:srgbClr val="E8F3F2"/>
          </a:solidFill>
          <a:ln/>
        </p:spPr>
      </p:sp>
      <p:sp>
        <p:nvSpPr>
          <p:cNvPr id="151" name="Text 136"/>
          <p:cNvSpPr txBox="1"/>
          <p:nvPr/>
        </p:nvSpPr>
        <p:spPr>
          <a:xfrm>
            <a:off x="8732520" y="1435608"/>
            <a:ext cx="283464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152" name="Shape 137"/>
          <p:cNvSpPr/>
          <p:nvPr/>
        </p:nvSpPr>
        <p:spPr>
          <a:xfrm>
            <a:off x="8732520" y="1892808"/>
            <a:ext cx="274320" cy="274320"/>
          </a:xfrm>
          <a:prstGeom prst="ellipse">
            <a:avLst/>
          </a:prstGeom>
          <a:solidFill>
            <a:srgbClr val="E8833A"/>
          </a:solidFill>
          <a:ln w="19050">
            <a:solidFill>
              <a:srgbClr val="FFFFFF"/>
            </a:solidFill>
            <a:prstDash val="solid"/>
          </a:ln>
        </p:spPr>
      </p:sp>
      <p:sp>
        <p:nvSpPr>
          <p:cNvPr id="153" name="Text 138"/>
          <p:cNvSpPr txBox="1"/>
          <p:nvPr/>
        </p:nvSpPr>
        <p:spPr>
          <a:xfrm>
            <a:off x="873252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4" name="Text 139"/>
          <p:cNvSpPr txBox="1"/>
          <p:nvPr/>
        </p:nvSpPr>
        <p:spPr>
          <a:xfrm>
            <a:off x="9098280" y="187452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Việc hay dùng nhất ở trên cùng</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Mời khách là thao tác chính, nằm trong vùng ngón cái và có màu nhấn</a:t>
            </a:r>
            <a:endParaRPr lang="en-US" sz="1050" dirty="0"/>
          </a:p>
        </p:txBody>
      </p:sp>
      <p:sp>
        <p:nvSpPr>
          <p:cNvPr id="155" name="Shape 140"/>
          <p:cNvSpPr/>
          <p:nvPr/>
        </p:nvSpPr>
        <p:spPr>
          <a:xfrm>
            <a:off x="8732520" y="3386328"/>
            <a:ext cx="274320" cy="274320"/>
          </a:xfrm>
          <a:prstGeom prst="ellipse">
            <a:avLst/>
          </a:prstGeom>
          <a:solidFill>
            <a:srgbClr val="E8833A"/>
          </a:solidFill>
          <a:ln w="19050">
            <a:solidFill>
              <a:srgbClr val="FFFFFF"/>
            </a:solidFill>
            <a:prstDash val="solid"/>
          </a:ln>
        </p:spPr>
      </p:sp>
      <p:sp>
        <p:nvSpPr>
          <p:cNvPr id="156" name="Text 141"/>
          <p:cNvSpPr txBox="1"/>
          <p:nvPr/>
        </p:nvSpPr>
        <p:spPr>
          <a:xfrm>
            <a:off x="8732520" y="33863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7" name="Text 142"/>
          <p:cNvSpPr txBox="1"/>
          <p:nvPr/>
        </p:nvSpPr>
        <p:spPr>
          <a:xfrm>
            <a:off x="9098280" y="336804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Nói rõ khách được đi đâu</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Cư dân thấy phạm vi quyền trước khi gửi; mặc định chỉ tầng nhà mình</a:t>
            </a:r>
            <a:endParaRPr lang="en-US" sz="1050" dirty="0"/>
          </a:p>
        </p:txBody>
      </p:sp>
      <p:sp>
        <p:nvSpPr>
          <p:cNvPr id="158" name="Shape 143"/>
          <p:cNvSpPr/>
          <p:nvPr/>
        </p:nvSpPr>
        <p:spPr>
          <a:xfrm>
            <a:off x="8732520" y="4879848"/>
            <a:ext cx="274320" cy="274320"/>
          </a:xfrm>
          <a:prstGeom prst="ellipse">
            <a:avLst/>
          </a:prstGeom>
          <a:solidFill>
            <a:srgbClr val="E8833A"/>
          </a:solidFill>
          <a:ln w="19050">
            <a:solidFill>
              <a:srgbClr val="FFFFFF"/>
            </a:solidFill>
            <a:prstDash val="solid"/>
          </a:ln>
        </p:spPr>
      </p:sp>
      <p:sp>
        <p:nvSpPr>
          <p:cNvPr id="159" name="Text 144"/>
          <p:cNvSpPr txBox="1"/>
          <p:nvPr/>
        </p:nvSpPr>
        <p:spPr>
          <a:xfrm>
            <a:off x="8732520" y="48798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0" name="Text 145"/>
          <p:cNvSpPr txBox="1"/>
          <p:nvPr/>
        </p:nvSpPr>
        <p:spPr>
          <a:xfrm>
            <a:off x="9098280" y="486156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Gửi qua kênh khách đang dùng</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Zalo, SMS; mã có hạn giờ, tự hủy, hủy thủ công được</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App cư dân: khách đến, hóa đơn và quyền riêng tư</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Thông báo theo thời gian thực · Hóa đơn từ đồng hồ đã kiểm định · Đăng ký khuôn mặt luôn có lựa chọn thay thế</a:t>
            </a:r>
            <a:endParaRPr lang="en-US" sz="1300" dirty="0"/>
          </a:p>
        </p:txBody>
      </p:sp>
      <p:sp>
        <p:nvSpPr>
          <p:cNvPr id="4" name="Shape 2"/>
          <p:cNvSpPr/>
          <p:nvPr/>
        </p:nvSpPr>
        <p:spPr>
          <a:xfrm>
            <a:off x="777240" y="1344168"/>
            <a:ext cx="1920240" cy="246888"/>
          </a:xfrm>
          <a:prstGeom prst="roundRect">
            <a:avLst>
              <a:gd name="adj" fmla="val 37037"/>
            </a:avLst>
          </a:prstGeom>
          <a:solidFill>
            <a:srgbClr val="12324A"/>
          </a:solidFill>
          <a:ln/>
        </p:spPr>
      </p:sp>
      <p:sp>
        <p:nvSpPr>
          <p:cNvPr id="5" name="Text 3"/>
          <p:cNvSpPr txBox="1"/>
          <p:nvPr/>
        </p:nvSpPr>
        <p:spPr>
          <a:xfrm>
            <a:off x="77724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Thông báo khách đến</a:t>
            </a:r>
            <a:endParaRPr lang="en-US" sz="900" dirty="0"/>
          </a:p>
        </p:txBody>
      </p:sp>
      <p:sp>
        <p:nvSpPr>
          <p:cNvPr id="6" name="Shape 4"/>
          <p:cNvSpPr/>
          <p:nvPr/>
        </p:nvSpPr>
        <p:spPr>
          <a:xfrm>
            <a:off x="54864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7" name="Shape 5"/>
          <p:cNvSpPr/>
          <p:nvPr/>
        </p:nvSpPr>
        <p:spPr>
          <a:xfrm>
            <a:off x="640080" y="1783080"/>
            <a:ext cx="2194560" cy="4617720"/>
          </a:xfrm>
          <a:prstGeom prst="roundRect">
            <a:avLst>
              <a:gd name="adj" fmla="val 3750"/>
            </a:avLst>
          </a:prstGeom>
          <a:solidFill>
            <a:srgbClr val="FFFFFF"/>
          </a:solidFill>
          <a:ln/>
        </p:spPr>
      </p:sp>
      <p:sp>
        <p:nvSpPr>
          <p:cNvPr id="8" name="Text 6"/>
          <p:cNvSpPr txBox="1"/>
          <p:nvPr/>
        </p:nvSpPr>
        <p:spPr>
          <a:xfrm>
            <a:off x="77724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9" name="Text 7"/>
          <p:cNvSpPr txBox="1"/>
          <p:nvPr/>
        </p:nvSpPr>
        <p:spPr>
          <a:xfrm>
            <a:off x="214884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10" name="Shape 8"/>
          <p:cNvSpPr/>
          <p:nvPr/>
        </p:nvSpPr>
        <p:spPr>
          <a:xfrm>
            <a:off x="1417320" y="1837944"/>
            <a:ext cx="640080" cy="128016"/>
          </a:xfrm>
          <a:prstGeom prst="roundRect">
            <a:avLst>
              <a:gd name="adj" fmla="val 50000"/>
            </a:avLst>
          </a:prstGeom>
          <a:solidFill>
            <a:srgbClr val="0E1C28"/>
          </a:solidFill>
          <a:ln/>
        </p:spPr>
      </p:sp>
      <p:sp>
        <p:nvSpPr>
          <p:cNvPr id="11" name="Shape 9"/>
          <p:cNvSpPr/>
          <p:nvPr/>
        </p:nvSpPr>
        <p:spPr>
          <a:xfrm>
            <a:off x="777240" y="2130552"/>
            <a:ext cx="1920240" cy="1463040"/>
          </a:xfrm>
          <a:prstGeom prst="roundRect">
            <a:avLst>
              <a:gd name="adj" fmla="val 3750"/>
            </a:avLst>
          </a:prstGeom>
          <a:solidFill>
            <a:srgbClr val="2B3A47"/>
          </a:solidFill>
          <a:ln/>
        </p:spPr>
      </p:sp>
      <p:pic>
        <p:nvPicPr>
          <p:cNvPr id="12" name="Image 0" descr="preencoded.png">    </p:cNvPr>
          <p:cNvPicPr>
            <a:picLocks noChangeAspect="1"/>
          </p:cNvPicPr>
          <p:nvPr/>
        </p:nvPicPr>
        <p:blipFill>
          <a:blip r:embed="rId1"/>
          <a:stretch>
            <a:fillRect/>
          </a:stretch>
        </p:blipFill>
        <p:spPr>
          <a:xfrm>
            <a:off x="1417320" y="2404872"/>
            <a:ext cx="640080" cy="640080"/>
          </a:xfrm>
          <a:prstGeom prst="rect">
            <a:avLst/>
          </a:prstGeom>
        </p:spPr>
      </p:pic>
      <p:sp>
        <p:nvSpPr>
          <p:cNvPr id="13" name="Text 10"/>
          <p:cNvSpPr txBox="1"/>
          <p:nvPr/>
        </p:nvSpPr>
        <p:spPr>
          <a:xfrm>
            <a:off x="868680" y="3364992"/>
            <a:ext cx="1828800" cy="182880"/>
          </a:xfrm>
          <a:prstGeom prst="rect">
            <a:avLst/>
          </a:prstGeom>
          <a:noFill/>
          <a:ln/>
        </p:spPr>
        <p:txBody>
          <a:bodyPr wrap="square" lIns="0" tIns="0" rIns="0" bIns="0" rtlCol="0" anchor="ctr"/>
          <a:lstStyle/>
          <a:p>
            <a:pPr algn="l" indent="0" marL="0">
              <a:buNone/>
            </a:pPr>
            <a:r>
              <a:rPr lang="en-US" sz="600" dirty="0">
                <a:solidFill>
                  <a:srgbClr val="C9D6E0"/>
                </a:solidFill>
                <a:latin typeface="Arial" pitchFamily="34" charset="0"/>
                <a:ea typeface="Arial" pitchFamily="34" charset="-122"/>
                <a:cs typeface="Arial" pitchFamily="34" charset="-120"/>
              </a:rPr>
              <a:t>Ảnh tại sảnh T1 · chỉ lưu 7 ngày</a:t>
            </a:r>
            <a:endParaRPr lang="en-US" sz="600" dirty="0"/>
          </a:p>
        </p:txBody>
      </p:sp>
      <p:sp>
        <p:nvSpPr>
          <p:cNvPr id="14" name="Text 11"/>
          <p:cNvSpPr txBox="1"/>
          <p:nvPr/>
        </p:nvSpPr>
        <p:spPr>
          <a:xfrm>
            <a:off x="777240" y="3730752"/>
            <a:ext cx="1920240" cy="274320"/>
          </a:xfrm>
          <a:prstGeom prst="rect">
            <a:avLst/>
          </a:prstGeom>
          <a:noFill/>
          <a:ln/>
        </p:spPr>
        <p:txBody>
          <a:bodyPr wrap="square" lIns="0" tIns="0" rIns="0" bIns="0" rtlCol="0" anchor="ctr"/>
          <a:lstStyle/>
          <a:p>
            <a:pPr algn="l" indent="0" marL="0">
              <a:buNone/>
            </a:pPr>
            <a:r>
              <a:rPr lang="en-US" sz="1050" b="1" dirty="0">
                <a:solidFill>
                  <a:srgbClr val="12324A"/>
                </a:solidFill>
                <a:latin typeface="Arial" pitchFamily="34" charset="0"/>
                <a:ea typeface="Arial" pitchFamily="34" charset="-122"/>
                <a:cs typeface="Arial" pitchFamily="34" charset="-120"/>
              </a:rPr>
              <a:t>Khách Nguyễn Lan đã đến</a:t>
            </a:r>
            <a:endParaRPr lang="en-US" sz="1050" dirty="0"/>
          </a:p>
        </p:txBody>
      </p:sp>
      <p:sp>
        <p:nvSpPr>
          <p:cNvPr id="15" name="Text 12"/>
          <p:cNvSpPr txBox="1"/>
          <p:nvPr/>
        </p:nvSpPr>
        <p:spPr>
          <a:xfrm>
            <a:off x="777240" y="3986784"/>
            <a:ext cx="1920240" cy="201168"/>
          </a:xfrm>
          <a:prstGeom prst="rect">
            <a:avLst/>
          </a:prstGeom>
          <a:noFill/>
          <a:ln/>
        </p:spPr>
        <p:txBody>
          <a:bodyPr wrap="square" lIns="0" tIns="0" rIns="0" bIns="0" rtlCol="0" anchor="ctr"/>
          <a:lstStyle/>
          <a:p>
            <a:pPr algn="l" indent="0" marL="0">
              <a:buNone/>
            </a:pPr>
            <a:r>
              <a:rPr lang="en-US" sz="750" dirty="0">
                <a:solidFill>
                  <a:srgbClr val="6B7785"/>
                </a:solidFill>
                <a:latin typeface="Arial" pitchFamily="34" charset="0"/>
                <a:ea typeface="Arial" pitchFamily="34" charset="-122"/>
                <a:cs typeface="Arial" pitchFamily="34" charset="-120"/>
              </a:rPr>
              <a:t>Quét QR tại sảnh T1 lúc 15:04</a:t>
            </a:r>
            <a:endParaRPr lang="en-US" sz="750" dirty="0"/>
          </a:p>
        </p:txBody>
      </p:sp>
      <p:sp>
        <p:nvSpPr>
          <p:cNvPr id="16" name="Shape 13"/>
          <p:cNvSpPr/>
          <p:nvPr/>
        </p:nvSpPr>
        <p:spPr>
          <a:xfrm>
            <a:off x="777240" y="4279392"/>
            <a:ext cx="1920240" cy="502920"/>
          </a:xfrm>
          <a:prstGeom prst="roundRect">
            <a:avLst>
              <a:gd name="adj" fmla="val 10909"/>
            </a:avLst>
          </a:prstGeom>
          <a:solidFill>
            <a:srgbClr val="E8F3F2"/>
          </a:solidFill>
          <a:ln/>
        </p:spPr>
      </p:sp>
      <p:pic>
        <p:nvPicPr>
          <p:cNvPr id="17" name="Image 1" descr="preencoded.png">    </p:cNvPr>
          <p:cNvPicPr>
            <a:picLocks noChangeAspect="1"/>
          </p:cNvPicPr>
          <p:nvPr/>
        </p:nvPicPr>
        <p:blipFill>
          <a:blip r:embed="rId2"/>
          <a:stretch>
            <a:fillRect/>
          </a:stretch>
        </p:blipFill>
        <p:spPr>
          <a:xfrm>
            <a:off x="868680" y="4416552"/>
            <a:ext cx="201168" cy="201168"/>
          </a:xfrm>
          <a:prstGeom prst="rect">
            <a:avLst/>
          </a:prstGeom>
        </p:spPr>
      </p:pic>
      <p:sp>
        <p:nvSpPr>
          <p:cNvPr id="18" name="Text 14"/>
          <p:cNvSpPr txBox="1"/>
          <p:nvPr/>
        </p:nvSpPr>
        <p:spPr>
          <a:xfrm>
            <a:off x="1143000" y="4279392"/>
            <a:ext cx="1508760" cy="502920"/>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Thang máy đã được mở tới tầng 4</a:t>
            </a:r>
            <a:endParaRPr lang="en-US" sz="780" dirty="0"/>
          </a:p>
        </p:txBody>
      </p:sp>
      <p:sp>
        <p:nvSpPr>
          <p:cNvPr id="19" name="Shape 15"/>
          <p:cNvSpPr/>
          <p:nvPr/>
        </p:nvSpPr>
        <p:spPr>
          <a:xfrm>
            <a:off x="777240" y="4965192"/>
            <a:ext cx="1920240" cy="347472"/>
          </a:xfrm>
          <a:prstGeom prst="roundRect">
            <a:avLst>
              <a:gd name="adj" fmla="val 21053"/>
            </a:avLst>
          </a:prstGeom>
          <a:solidFill>
            <a:srgbClr val="1B7F79"/>
          </a:solidFill>
          <a:ln/>
        </p:spPr>
      </p:sp>
      <p:sp>
        <p:nvSpPr>
          <p:cNvPr id="20" name="Text 16"/>
          <p:cNvSpPr txBox="1"/>
          <p:nvPr/>
        </p:nvSpPr>
        <p:spPr>
          <a:xfrm>
            <a:off x="777240" y="4965192"/>
            <a:ext cx="19202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Gọi video với khách</a:t>
            </a:r>
            <a:endParaRPr lang="en-US" sz="800" dirty="0"/>
          </a:p>
        </p:txBody>
      </p:sp>
      <p:sp>
        <p:nvSpPr>
          <p:cNvPr id="21" name="Shape 17"/>
          <p:cNvSpPr/>
          <p:nvPr/>
        </p:nvSpPr>
        <p:spPr>
          <a:xfrm>
            <a:off x="777240" y="5385816"/>
            <a:ext cx="1920240" cy="310896"/>
          </a:xfrm>
          <a:prstGeom prst="roundRect">
            <a:avLst>
              <a:gd name="adj" fmla="val 23529"/>
            </a:avLst>
          </a:prstGeom>
          <a:solidFill>
            <a:srgbClr val="FFFFFF"/>
          </a:solidFill>
          <a:ln w="9525">
            <a:solidFill>
              <a:srgbClr val="D64545"/>
            </a:solidFill>
            <a:prstDash val="solid"/>
          </a:ln>
        </p:spPr>
      </p:sp>
      <p:sp>
        <p:nvSpPr>
          <p:cNvPr id="22" name="Text 18"/>
          <p:cNvSpPr txBox="1"/>
          <p:nvPr/>
        </p:nvSpPr>
        <p:spPr>
          <a:xfrm>
            <a:off x="777240" y="5385816"/>
            <a:ext cx="1920240" cy="310896"/>
          </a:xfrm>
          <a:prstGeom prst="rect">
            <a:avLst/>
          </a:prstGeom>
          <a:noFill/>
          <a:ln/>
        </p:spPr>
        <p:txBody>
          <a:bodyPr wrap="square" lIns="0" tIns="0" rIns="0" bIns="0" rtlCol="0" anchor="ctr"/>
          <a:lstStyle/>
          <a:p>
            <a:pPr algn="ctr" indent="0" marL="0">
              <a:buNone/>
            </a:pPr>
            <a:r>
              <a:rPr lang="en-US" sz="800" b="1" dirty="0">
                <a:solidFill>
                  <a:srgbClr val="D64545"/>
                </a:solidFill>
                <a:latin typeface="Arial" pitchFamily="34" charset="0"/>
                <a:ea typeface="Arial" pitchFamily="34" charset="-122"/>
                <a:cs typeface="Arial" pitchFamily="34" charset="-120"/>
              </a:rPr>
              <a:t>Không phải khách của tôi</a:t>
            </a:r>
            <a:endParaRPr lang="en-US" sz="800" dirty="0"/>
          </a:p>
        </p:txBody>
      </p:sp>
      <p:sp>
        <p:nvSpPr>
          <p:cNvPr id="23" name="Shape 19"/>
          <p:cNvSpPr/>
          <p:nvPr/>
        </p:nvSpPr>
        <p:spPr>
          <a:xfrm>
            <a:off x="3429000" y="1344168"/>
            <a:ext cx="1920240" cy="246888"/>
          </a:xfrm>
          <a:prstGeom prst="roundRect">
            <a:avLst>
              <a:gd name="adj" fmla="val 37037"/>
            </a:avLst>
          </a:prstGeom>
          <a:solidFill>
            <a:srgbClr val="12324A"/>
          </a:solidFill>
          <a:ln/>
        </p:spPr>
      </p:sp>
      <p:sp>
        <p:nvSpPr>
          <p:cNvPr id="24" name="Text 20"/>
          <p:cNvSpPr txBox="1"/>
          <p:nvPr/>
        </p:nvSpPr>
        <p:spPr>
          <a:xfrm>
            <a:off x="342900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Hóa đơn tháng</a:t>
            </a:r>
            <a:endParaRPr lang="en-US" sz="900" dirty="0"/>
          </a:p>
        </p:txBody>
      </p:sp>
      <p:sp>
        <p:nvSpPr>
          <p:cNvPr id="25" name="Shape 21"/>
          <p:cNvSpPr/>
          <p:nvPr/>
        </p:nvSpPr>
        <p:spPr>
          <a:xfrm>
            <a:off x="320040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26" name="Shape 22"/>
          <p:cNvSpPr/>
          <p:nvPr/>
        </p:nvSpPr>
        <p:spPr>
          <a:xfrm>
            <a:off x="3291840" y="1783080"/>
            <a:ext cx="2194560" cy="4617720"/>
          </a:xfrm>
          <a:prstGeom prst="roundRect">
            <a:avLst>
              <a:gd name="adj" fmla="val 3750"/>
            </a:avLst>
          </a:prstGeom>
          <a:solidFill>
            <a:srgbClr val="FFFFFF"/>
          </a:solidFill>
          <a:ln/>
        </p:spPr>
      </p:sp>
      <p:sp>
        <p:nvSpPr>
          <p:cNvPr id="27" name="Text 23"/>
          <p:cNvSpPr txBox="1"/>
          <p:nvPr/>
        </p:nvSpPr>
        <p:spPr>
          <a:xfrm>
            <a:off x="342900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28" name="Text 24"/>
          <p:cNvSpPr txBox="1"/>
          <p:nvPr/>
        </p:nvSpPr>
        <p:spPr>
          <a:xfrm>
            <a:off x="480060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29" name="Shape 25"/>
          <p:cNvSpPr/>
          <p:nvPr/>
        </p:nvSpPr>
        <p:spPr>
          <a:xfrm>
            <a:off x="4069080" y="1837944"/>
            <a:ext cx="640080" cy="128016"/>
          </a:xfrm>
          <a:prstGeom prst="roundRect">
            <a:avLst>
              <a:gd name="adj" fmla="val 50000"/>
            </a:avLst>
          </a:prstGeom>
          <a:solidFill>
            <a:srgbClr val="0E1C28"/>
          </a:solidFill>
          <a:ln/>
        </p:spPr>
      </p:sp>
      <p:pic>
        <p:nvPicPr>
          <p:cNvPr id="30" name="Image 2" descr="preencoded.png">    </p:cNvPr>
          <p:cNvPicPr>
            <a:picLocks noChangeAspect="1"/>
          </p:cNvPicPr>
          <p:nvPr/>
        </p:nvPicPr>
        <p:blipFill>
          <a:blip r:embed="rId3"/>
          <a:stretch>
            <a:fillRect/>
          </a:stretch>
        </p:blipFill>
        <p:spPr>
          <a:xfrm>
            <a:off x="3383280" y="2103120"/>
            <a:ext cx="182880" cy="182880"/>
          </a:xfrm>
          <a:prstGeom prst="rect">
            <a:avLst/>
          </a:prstGeom>
        </p:spPr>
      </p:pic>
      <p:sp>
        <p:nvSpPr>
          <p:cNvPr id="31" name="Text 26"/>
          <p:cNvSpPr txBox="1"/>
          <p:nvPr/>
        </p:nvSpPr>
        <p:spPr>
          <a:xfrm>
            <a:off x="3611880" y="2039112"/>
            <a:ext cx="1737360" cy="320040"/>
          </a:xfrm>
          <a:prstGeom prst="rect">
            <a:avLst/>
          </a:prstGeom>
          <a:noFill/>
          <a:ln/>
        </p:spPr>
        <p:txBody>
          <a:bodyPr wrap="square" lIns="0" tIns="0" rIns="0" bIns="0" rtlCol="0" anchor="ctr"/>
          <a:lstStyle/>
          <a:p>
            <a:pPr algn="l" indent="0" marL="0">
              <a:buNone/>
            </a:pPr>
            <a:r>
              <a:rPr lang="en-US" sz="1000" b="1" dirty="0">
                <a:solidFill>
                  <a:srgbClr val="12324A"/>
                </a:solidFill>
                <a:latin typeface="Arial" pitchFamily="34" charset="0"/>
                <a:ea typeface="Arial" pitchFamily="34" charset="-122"/>
                <a:cs typeface="Arial" pitchFamily="34" charset="-120"/>
              </a:rPr>
              <a:t>Hóa đơn tháng 10</a:t>
            </a:r>
            <a:endParaRPr lang="en-US" sz="1000" dirty="0"/>
          </a:p>
        </p:txBody>
      </p:sp>
      <p:sp>
        <p:nvSpPr>
          <p:cNvPr id="32" name="Text 27"/>
          <p:cNvSpPr txBox="1"/>
          <p:nvPr/>
        </p:nvSpPr>
        <p:spPr>
          <a:xfrm>
            <a:off x="3429000" y="2423160"/>
            <a:ext cx="1828800" cy="182880"/>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Tổng cần thanh toán</a:t>
            </a:r>
            <a:endParaRPr lang="en-US" sz="700" dirty="0"/>
          </a:p>
        </p:txBody>
      </p:sp>
      <p:sp>
        <p:nvSpPr>
          <p:cNvPr id="33" name="Text 28"/>
          <p:cNvSpPr txBox="1"/>
          <p:nvPr/>
        </p:nvSpPr>
        <p:spPr>
          <a:xfrm>
            <a:off x="3429000" y="2587752"/>
            <a:ext cx="2011680" cy="347472"/>
          </a:xfrm>
          <a:prstGeom prst="rect">
            <a:avLst/>
          </a:prstGeom>
          <a:noFill/>
          <a:ln/>
        </p:spPr>
        <p:txBody>
          <a:bodyPr wrap="square" lIns="0" tIns="0" rIns="0" bIns="0" rtlCol="0" anchor="ctr"/>
          <a:lstStyle/>
          <a:p>
            <a:pPr algn="l" indent="0" marL="0">
              <a:buNone/>
            </a:pPr>
            <a:r>
              <a:rPr lang="en-US" sz="1600" b="1" dirty="0">
                <a:solidFill>
                  <a:srgbClr val="12324A"/>
                </a:solidFill>
                <a:latin typeface="Arial" pitchFamily="34" charset="0"/>
                <a:ea typeface="Arial" pitchFamily="34" charset="-122"/>
                <a:cs typeface="Arial" pitchFamily="34" charset="-120"/>
              </a:rPr>
              <a:t>4.385.000 đ</a:t>
            </a:r>
            <a:endParaRPr lang="en-US" sz="1600" dirty="0"/>
          </a:p>
        </p:txBody>
      </p:sp>
      <p:pic>
        <p:nvPicPr>
          <p:cNvPr id="34" name="Image 3" descr="preencoded.png">    </p:cNvPr>
          <p:cNvPicPr>
            <a:picLocks noChangeAspect="1"/>
          </p:cNvPicPr>
          <p:nvPr/>
        </p:nvPicPr>
        <p:blipFill>
          <a:blip r:embed="rId4"/>
          <a:stretch>
            <a:fillRect/>
          </a:stretch>
        </p:blipFill>
        <p:spPr>
          <a:xfrm>
            <a:off x="3456432" y="3136392"/>
            <a:ext cx="146304" cy="146304"/>
          </a:xfrm>
          <a:prstGeom prst="rect">
            <a:avLst/>
          </a:prstGeom>
        </p:spPr>
      </p:pic>
      <p:sp>
        <p:nvSpPr>
          <p:cNvPr id="35" name="Text 29"/>
          <p:cNvSpPr txBox="1"/>
          <p:nvPr/>
        </p:nvSpPr>
        <p:spPr>
          <a:xfrm>
            <a:off x="3675888" y="3044952"/>
            <a:ext cx="822960" cy="329184"/>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Điện</a:t>
            </a:r>
            <a:endParaRPr lang="en-US" sz="780" dirty="0"/>
          </a:p>
        </p:txBody>
      </p:sp>
      <p:sp>
        <p:nvSpPr>
          <p:cNvPr id="36" name="Text 30"/>
          <p:cNvSpPr txBox="1"/>
          <p:nvPr/>
        </p:nvSpPr>
        <p:spPr>
          <a:xfrm>
            <a:off x="4297680" y="3044952"/>
            <a:ext cx="548640" cy="329184"/>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1.190 kWh</a:t>
            </a:r>
            <a:endParaRPr lang="en-US" sz="700" dirty="0"/>
          </a:p>
        </p:txBody>
      </p:sp>
      <p:sp>
        <p:nvSpPr>
          <p:cNvPr id="37" name="Text 31"/>
          <p:cNvSpPr txBox="1"/>
          <p:nvPr/>
        </p:nvSpPr>
        <p:spPr>
          <a:xfrm>
            <a:off x="4617720" y="3044952"/>
            <a:ext cx="731520" cy="329184"/>
          </a:xfrm>
          <a:prstGeom prst="rect">
            <a:avLst/>
          </a:prstGeom>
          <a:noFill/>
          <a:ln/>
        </p:spPr>
        <p:txBody>
          <a:bodyPr wrap="square" lIns="0" tIns="0" rIns="0" bIns="0" rtlCol="0" anchor="ctr"/>
          <a:lstStyle/>
          <a:p>
            <a:pPr algn="r" indent="0" marL="0">
              <a:buNone/>
            </a:pPr>
            <a:r>
              <a:rPr lang="en-US" sz="780" dirty="0">
                <a:solidFill>
                  <a:srgbClr val="1A2330"/>
                </a:solidFill>
                <a:latin typeface="Arial" pitchFamily="34" charset="0"/>
                <a:ea typeface="Arial" pitchFamily="34" charset="-122"/>
                <a:cs typeface="Arial" pitchFamily="34" charset="-120"/>
              </a:rPr>
              <a:t>3.210.000</a:t>
            </a:r>
            <a:endParaRPr lang="en-US" sz="780" dirty="0"/>
          </a:p>
        </p:txBody>
      </p:sp>
      <p:sp>
        <p:nvSpPr>
          <p:cNvPr id="38" name="Shape 32"/>
          <p:cNvSpPr/>
          <p:nvPr/>
        </p:nvSpPr>
        <p:spPr>
          <a:xfrm>
            <a:off x="3429000" y="3392424"/>
            <a:ext cx="1920240" cy="0"/>
          </a:xfrm>
          <a:prstGeom prst="line">
            <a:avLst/>
          </a:prstGeom>
          <a:noFill/>
          <a:ln w="6350">
            <a:solidFill>
              <a:srgbClr val="E4E8EC"/>
            </a:solidFill>
            <a:prstDash val="solid"/>
          </a:ln>
        </p:spPr>
      </p:sp>
      <p:pic>
        <p:nvPicPr>
          <p:cNvPr id="39" name="Image 4" descr="preencoded.png">    </p:cNvPr>
          <p:cNvPicPr>
            <a:picLocks noChangeAspect="1"/>
          </p:cNvPicPr>
          <p:nvPr/>
        </p:nvPicPr>
        <p:blipFill>
          <a:blip r:embed="rId5"/>
          <a:stretch>
            <a:fillRect/>
          </a:stretch>
        </p:blipFill>
        <p:spPr>
          <a:xfrm>
            <a:off x="3456432" y="3520440"/>
            <a:ext cx="146304" cy="146304"/>
          </a:xfrm>
          <a:prstGeom prst="rect">
            <a:avLst/>
          </a:prstGeom>
        </p:spPr>
      </p:pic>
      <p:sp>
        <p:nvSpPr>
          <p:cNvPr id="40" name="Text 33"/>
          <p:cNvSpPr txBox="1"/>
          <p:nvPr/>
        </p:nvSpPr>
        <p:spPr>
          <a:xfrm>
            <a:off x="3675888" y="3429000"/>
            <a:ext cx="822960" cy="329184"/>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Nước</a:t>
            </a:r>
            <a:endParaRPr lang="en-US" sz="780" dirty="0"/>
          </a:p>
        </p:txBody>
      </p:sp>
      <p:sp>
        <p:nvSpPr>
          <p:cNvPr id="41" name="Text 34"/>
          <p:cNvSpPr txBox="1"/>
          <p:nvPr/>
        </p:nvSpPr>
        <p:spPr>
          <a:xfrm>
            <a:off x="4297680" y="3429000"/>
            <a:ext cx="548640" cy="329184"/>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18 m³</a:t>
            </a:r>
            <a:endParaRPr lang="en-US" sz="700" dirty="0"/>
          </a:p>
        </p:txBody>
      </p:sp>
      <p:sp>
        <p:nvSpPr>
          <p:cNvPr id="42" name="Text 35"/>
          <p:cNvSpPr txBox="1"/>
          <p:nvPr/>
        </p:nvSpPr>
        <p:spPr>
          <a:xfrm>
            <a:off x="4617720" y="3429000"/>
            <a:ext cx="731520" cy="329184"/>
          </a:xfrm>
          <a:prstGeom prst="rect">
            <a:avLst/>
          </a:prstGeom>
          <a:noFill/>
          <a:ln/>
        </p:spPr>
        <p:txBody>
          <a:bodyPr wrap="square" lIns="0" tIns="0" rIns="0" bIns="0" rtlCol="0" anchor="ctr"/>
          <a:lstStyle/>
          <a:p>
            <a:pPr algn="r" indent="0" marL="0">
              <a:buNone/>
            </a:pPr>
            <a:r>
              <a:rPr lang="en-US" sz="780" dirty="0">
                <a:solidFill>
                  <a:srgbClr val="1A2330"/>
                </a:solidFill>
                <a:latin typeface="Arial" pitchFamily="34" charset="0"/>
                <a:ea typeface="Arial" pitchFamily="34" charset="-122"/>
                <a:cs typeface="Arial" pitchFamily="34" charset="-120"/>
              </a:rPr>
              <a:t>495.000</a:t>
            </a:r>
            <a:endParaRPr lang="en-US" sz="780" dirty="0"/>
          </a:p>
        </p:txBody>
      </p:sp>
      <p:sp>
        <p:nvSpPr>
          <p:cNvPr id="43" name="Shape 36"/>
          <p:cNvSpPr/>
          <p:nvPr/>
        </p:nvSpPr>
        <p:spPr>
          <a:xfrm>
            <a:off x="3429000" y="3776472"/>
            <a:ext cx="1920240" cy="0"/>
          </a:xfrm>
          <a:prstGeom prst="line">
            <a:avLst/>
          </a:prstGeom>
          <a:noFill/>
          <a:ln w="6350">
            <a:solidFill>
              <a:srgbClr val="E4E8EC"/>
            </a:solidFill>
            <a:prstDash val="solid"/>
          </a:ln>
        </p:spPr>
      </p:sp>
      <p:pic>
        <p:nvPicPr>
          <p:cNvPr id="44" name="Image 5" descr="preencoded.png">    </p:cNvPr>
          <p:cNvPicPr>
            <a:picLocks noChangeAspect="1"/>
          </p:cNvPicPr>
          <p:nvPr/>
        </p:nvPicPr>
        <p:blipFill>
          <a:blip r:embed="rId6"/>
          <a:stretch>
            <a:fillRect/>
          </a:stretch>
        </p:blipFill>
        <p:spPr>
          <a:xfrm>
            <a:off x="3456432" y="3904488"/>
            <a:ext cx="146304" cy="146304"/>
          </a:xfrm>
          <a:prstGeom prst="rect">
            <a:avLst/>
          </a:prstGeom>
        </p:spPr>
      </p:pic>
      <p:sp>
        <p:nvSpPr>
          <p:cNvPr id="45" name="Text 37"/>
          <p:cNvSpPr txBox="1"/>
          <p:nvPr/>
        </p:nvSpPr>
        <p:spPr>
          <a:xfrm>
            <a:off x="3675888" y="3813048"/>
            <a:ext cx="822960" cy="329184"/>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Sạc xe điện</a:t>
            </a:r>
            <a:endParaRPr lang="en-US" sz="780" dirty="0"/>
          </a:p>
        </p:txBody>
      </p:sp>
      <p:sp>
        <p:nvSpPr>
          <p:cNvPr id="46" name="Text 38"/>
          <p:cNvSpPr txBox="1"/>
          <p:nvPr/>
        </p:nvSpPr>
        <p:spPr>
          <a:xfrm>
            <a:off x="4297680" y="3813048"/>
            <a:ext cx="548640" cy="329184"/>
          </a:xfrm>
          <a:prstGeom prst="rect">
            <a:avLst/>
          </a:prstGeom>
          <a:noFill/>
          <a:ln/>
        </p:spPr>
        <p:txBody>
          <a:bodyPr wrap="square" lIns="0" tIns="0" rIns="0" bIns="0" rtlCol="0" anchor="ctr"/>
          <a:lstStyle/>
          <a:p>
            <a:pPr algn="l" indent="0" marL="0">
              <a:buNone/>
            </a:pPr>
            <a:r>
              <a:rPr lang="en-US" sz="700" dirty="0">
                <a:solidFill>
                  <a:srgbClr val="6B7785"/>
                </a:solidFill>
                <a:latin typeface="Arial" pitchFamily="34" charset="0"/>
                <a:ea typeface="Arial" pitchFamily="34" charset="-122"/>
                <a:cs typeface="Arial" pitchFamily="34" charset="-120"/>
              </a:rPr>
              <a:t>62 kWh</a:t>
            </a:r>
            <a:endParaRPr lang="en-US" sz="700" dirty="0"/>
          </a:p>
        </p:txBody>
      </p:sp>
      <p:sp>
        <p:nvSpPr>
          <p:cNvPr id="47" name="Text 39"/>
          <p:cNvSpPr txBox="1"/>
          <p:nvPr/>
        </p:nvSpPr>
        <p:spPr>
          <a:xfrm>
            <a:off x="4617720" y="3813048"/>
            <a:ext cx="731520" cy="329184"/>
          </a:xfrm>
          <a:prstGeom prst="rect">
            <a:avLst/>
          </a:prstGeom>
          <a:noFill/>
          <a:ln/>
        </p:spPr>
        <p:txBody>
          <a:bodyPr wrap="square" lIns="0" tIns="0" rIns="0" bIns="0" rtlCol="0" anchor="ctr"/>
          <a:lstStyle/>
          <a:p>
            <a:pPr algn="r" indent="0" marL="0">
              <a:buNone/>
            </a:pPr>
            <a:r>
              <a:rPr lang="en-US" sz="780" dirty="0">
                <a:solidFill>
                  <a:srgbClr val="1A2330"/>
                </a:solidFill>
                <a:latin typeface="Arial" pitchFamily="34" charset="0"/>
                <a:ea typeface="Arial" pitchFamily="34" charset="-122"/>
                <a:cs typeface="Arial" pitchFamily="34" charset="-120"/>
              </a:rPr>
              <a:t>220.000</a:t>
            </a:r>
            <a:endParaRPr lang="en-US" sz="780" dirty="0"/>
          </a:p>
        </p:txBody>
      </p:sp>
      <p:sp>
        <p:nvSpPr>
          <p:cNvPr id="48" name="Shape 40"/>
          <p:cNvSpPr/>
          <p:nvPr/>
        </p:nvSpPr>
        <p:spPr>
          <a:xfrm>
            <a:off x="3429000" y="4160520"/>
            <a:ext cx="1920240" cy="0"/>
          </a:xfrm>
          <a:prstGeom prst="line">
            <a:avLst/>
          </a:prstGeom>
          <a:noFill/>
          <a:ln w="6350">
            <a:solidFill>
              <a:srgbClr val="E4E8EC"/>
            </a:solidFill>
            <a:prstDash val="solid"/>
          </a:ln>
        </p:spPr>
      </p:sp>
      <p:pic>
        <p:nvPicPr>
          <p:cNvPr id="49" name="Image 6" descr="preencoded.png">    </p:cNvPr>
          <p:cNvPicPr>
            <a:picLocks noChangeAspect="1"/>
          </p:cNvPicPr>
          <p:nvPr/>
        </p:nvPicPr>
        <p:blipFill>
          <a:blip r:embed="rId7"/>
          <a:stretch>
            <a:fillRect/>
          </a:stretch>
        </p:blipFill>
        <p:spPr>
          <a:xfrm>
            <a:off x="3456432" y="4288536"/>
            <a:ext cx="146304" cy="146304"/>
          </a:xfrm>
          <a:prstGeom prst="rect">
            <a:avLst/>
          </a:prstGeom>
        </p:spPr>
      </p:pic>
      <p:sp>
        <p:nvSpPr>
          <p:cNvPr id="50" name="Text 41"/>
          <p:cNvSpPr txBox="1"/>
          <p:nvPr/>
        </p:nvSpPr>
        <p:spPr>
          <a:xfrm>
            <a:off x="3675888" y="4197096"/>
            <a:ext cx="822960" cy="329184"/>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Phí dịch vụ</a:t>
            </a:r>
            <a:endParaRPr lang="en-US" sz="780" dirty="0"/>
          </a:p>
        </p:txBody>
      </p:sp>
      <p:sp>
        <p:nvSpPr>
          <p:cNvPr id="51" name="Text 42"/>
          <p:cNvSpPr txBox="1"/>
          <p:nvPr/>
        </p:nvSpPr>
        <p:spPr>
          <a:xfrm>
            <a:off x="4297680" y="4197096"/>
            <a:ext cx="548640" cy="329184"/>
          </a:xfrm>
          <a:prstGeom prst="rect">
            <a:avLst/>
          </a:prstGeom>
          <a:noFill/>
          <a:ln/>
        </p:spPr>
        <p:txBody>
          <a:bodyPr wrap="square" lIns="0" tIns="0" rIns="0" bIns="0" rtlCol="0" anchor="ctr"/>
          <a:lstStyle/>
          <a:p>
            <a:pPr algn="l" indent="0" marL="0">
              <a:buNone/>
            </a:pPr>
            <a:endParaRPr lang="en-US" sz="700" dirty="0"/>
          </a:p>
        </p:txBody>
      </p:sp>
      <p:sp>
        <p:nvSpPr>
          <p:cNvPr id="52" name="Text 43"/>
          <p:cNvSpPr txBox="1"/>
          <p:nvPr/>
        </p:nvSpPr>
        <p:spPr>
          <a:xfrm>
            <a:off x="4617720" y="4197096"/>
            <a:ext cx="731520" cy="329184"/>
          </a:xfrm>
          <a:prstGeom prst="rect">
            <a:avLst/>
          </a:prstGeom>
          <a:noFill/>
          <a:ln/>
        </p:spPr>
        <p:txBody>
          <a:bodyPr wrap="square" lIns="0" tIns="0" rIns="0" bIns="0" rtlCol="0" anchor="ctr"/>
          <a:lstStyle/>
          <a:p>
            <a:pPr algn="r" indent="0" marL="0">
              <a:buNone/>
            </a:pPr>
            <a:r>
              <a:rPr lang="en-US" sz="780" dirty="0">
                <a:solidFill>
                  <a:srgbClr val="1A2330"/>
                </a:solidFill>
                <a:latin typeface="Arial" pitchFamily="34" charset="0"/>
                <a:ea typeface="Arial" pitchFamily="34" charset="-122"/>
                <a:cs typeface="Arial" pitchFamily="34" charset="-120"/>
              </a:rPr>
              <a:t>460.000</a:t>
            </a:r>
            <a:endParaRPr lang="en-US" sz="780" dirty="0"/>
          </a:p>
        </p:txBody>
      </p:sp>
      <p:sp>
        <p:nvSpPr>
          <p:cNvPr id="53" name="Shape 44"/>
          <p:cNvSpPr/>
          <p:nvPr/>
        </p:nvSpPr>
        <p:spPr>
          <a:xfrm>
            <a:off x="3429000" y="4544568"/>
            <a:ext cx="1920240" cy="0"/>
          </a:xfrm>
          <a:prstGeom prst="line">
            <a:avLst/>
          </a:prstGeom>
          <a:noFill/>
          <a:ln w="6350">
            <a:solidFill>
              <a:srgbClr val="E4E8EC"/>
            </a:solidFill>
            <a:prstDash val="solid"/>
          </a:ln>
        </p:spPr>
      </p:sp>
      <p:graphicFrame>
        <p:nvGraphicFramePr>
          <p:cNvPr id="54" name="Chart 0" descr=""/>
          <p:cNvGraphicFramePr/>
          <p:nvPr/>
        </p:nvGraphicFramePr>
        <p:xfrm>
          <a:off x="3383280" y="4645152"/>
          <a:ext cx="2011680" cy="914400"/>
        </p:xfrm>
        <a:graphic xmlns:a="http://schemas.openxmlformats.org/drawingml/2006/main">
          <a:graphicData uri="http://schemas.openxmlformats.org/drawingml/2006/chart">
            <c:chart xmlns:c="http://schemas.openxmlformats.org/drawingml/2006/chart" r:id="rId8"/>
          </a:graphicData>
        </a:graphic>
      </p:graphicFrame>
      <p:sp>
        <p:nvSpPr>
          <p:cNvPr id="55" name="Shape 45"/>
          <p:cNvSpPr/>
          <p:nvPr/>
        </p:nvSpPr>
        <p:spPr>
          <a:xfrm>
            <a:off x="3429000" y="5897880"/>
            <a:ext cx="1920240" cy="365760"/>
          </a:xfrm>
          <a:prstGeom prst="roundRect">
            <a:avLst>
              <a:gd name="adj" fmla="val 20000"/>
            </a:avLst>
          </a:prstGeom>
          <a:solidFill>
            <a:srgbClr val="1B7F79"/>
          </a:solidFill>
          <a:ln/>
        </p:spPr>
      </p:sp>
      <p:sp>
        <p:nvSpPr>
          <p:cNvPr id="56" name="Text 46"/>
          <p:cNvSpPr txBox="1"/>
          <p:nvPr/>
        </p:nvSpPr>
        <p:spPr>
          <a:xfrm>
            <a:off x="3429000" y="5897880"/>
            <a:ext cx="192024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Thanh toán</a:t>
            </a:r>
            <a:endParaRPr lang="en-US" sz="800" dirty="0"/>
          </a:p>
        </p:txBody>
      </p:sp>
      <p:sp>
        <p:nvSpPr>
          <p:cNvPr id="57" name="Shape 47"/>
          <p:cNvSpPr/>
          <p:nvPr/>
        </p:nvSpPr>
        <p:spPr>
          <a:xfrm>
            <a:off x="6080760" y="1344168"/>
            <a:ext cx="1920240" cy="246888"/>
          </a:xfrm>
          <a:prstGeom prst="roundRect">
            <a:avLst>
              <a:gd name="adj" fmla="val 37037"/>
            </a:avLst>
          </a:prstGeom>
          <a:solidFill>
            <a:srgbClr val="12324A"/>
          </a:solidFill>
          <a:ln/>
        </p:spPr>
      </p:sp>
      <p:sp>
        <p:nvSpPr>
          <p:cNvPr id="58" name="Text 48"/>
          <p:cNvSpPr txBox="1"/>
          <p:nvPr/>
        </p:nvSpPr>
        <p:spPr>
          <a:xfrm>
            <a:off x="608076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Đăng ký khuôn mặt</a:t>
            </a:r>
            <a:endParaRPr lang="en-US" sz="900" dirty="0"/>
          </a:p>
        </p:txBody>
      </p:sp>
      <p:sp>
        <p:nvSpPr>
          <p:cNvPr id="59" name="Shape 49"/>
          <p:cNvSpPr/>
          <p:nvPr/>
        </p:nvSpPr>
        <p:spPr>
          <a:xfrm>
            <a:off x="585216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60" name="Shape 50"/>
          <p:cNvSpPr/>
          <p:nvPr/>
        </p:nvSpPr>
        <p:spPr>
          <a:xfrm>
            <a:off x="5943600" y="1783080"/>
            <a:ext cx="2194560" cy="4617720"/>
          </a:xfrm>
          <a:prstGeom prst="roundRect">
            <a:avLst>
              <a:gd name="adj" fmla="val 3750"/>
            </a:avLst>
          </a:prstGeom>
          <a:solidFill>
            <a:srgbClr val="FFFFFF"/>
          </a:solidFill>
          <a:ln/>
        </p:spPr>
      </p:sp>
      <p:sp>
        <p:nvSpPr>
          <p:cNvPr id="61" name="Text 51"/>
          <p:cNvSpPr txBox="1"/>
          <p:nvPr/>
        </p:nvSpPr>
        <p:spPr>
          <a:xfrm>
            <a:off x="608076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62" name="Text 52"/>
          <p:cNvSpPr txBox="1"/>
          <p:nvPr/>
        </p:nvSpPr>
        <p:spPr>
          <a:xfrm>
            <a:off x="745236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63" name="Shape 53"/>
          <p:cNvSpPr/>
          <p:nvPr/>
        </p:nvSpPr>
        <p:spPr>
          <a:xfrm>
            <a:off x="6720840" y="1837944"/>
            <a:ext cx="640080" cy="128016"/>
          </a:xfrm>
          <a:prstGeom prst="roundRect">
            <a:avLst>
              <a:gd name="adj" fmla="val 50000"/>
            </a:avLst>
          </a:prstGeom>
          <a:solidFill>
            <a:srgbClr val="0E1C28"/>
          </a:solidFill>
          <a:ln/>
        </p:spPr>
      </p:sp>
      <p:pic>
        <p:nvPicPr>
          <p:cNvPr id="64" name="Image 7" descr="preencoded.png">    </p:cNvPr>
          <p:cNvPicPr>
            <a:picLocks noChangeAspect="1"/>
          </p:cNvPicPr>
          <p:nvPr/>
        </p:nvPicPr>
        <p:blipFill>
          <a:blip r:embed="rId9"/>
          <a:stretch>
            <a:fillRect/>
          </a:stretch>
        </p:blipFill>
        <p:spPr>
          <a:xfrm>
            <a:off x="6035040" y="2103120"/>
            <a:ext cx="182880" cy="182880"/>
          </a:xfrm>
          <a:prstGeom prst="rect">
            <a:avLst/>
          </a:prstGeom>
        </p:spPr>
      </p:pic>
      <p:sp>
        <p:nvSpPr>
          <p:cNvPr id="65" name="Text 54"/>
          <p:cNvSpPr txBox="1"/>
          <p:nvPr/>
        </p:nvSpPr>
        <p:spPr>
          <a:xfrm>
            <a:off x="6263640" y="2039112"/>
            <a:ext cx="1737360" cy="320040"/>
          </a:xfrm>
          <a:prstGeom prst="rect">
            <a:avLst/>
          </a:prstGeom>
          <a:noFill/>
          <a:ln/>
        </p:spPr>
        <p:txBody>
          <a:bodyPr wrap="square" lIns="0" tIns="0" rIns="0" bIns="0" rtlCol="0" anchor="ctr"/>
          <a:lstStyle/>
          <a:p>
            <a:pPr algn="l" indent="0" marL="0">
              <a:buNone/>
            </a:pPr>
            <a:r>
              <a:rPr lang="en-US" sz="1000" b="1" dirty="0">
                <a:solidFill>
                  <a:srgbClr val="12324A"/>
                </a:solidFill>
                <a:latin typeface="Arial" pitchFamily="34" charset="0"/>
                <a:ea typeface="Arial" pitchFamily="34" charset="-122"/>
                <a:cs typeface="Arial" pitchFamily="34" charset="-120"/>
              </a:rPr>
              <a:t>Vào cửa bằng khuôn mặt</a:t>
            </a:r>
            <a:endParaRPr lang="en-US" sz="1000" dirty="0"/>
          </a:p>
        </p:txBody>
      </p:sp>
      <p:sp>
        <p:nvSpPr>
          <p:cNvPr id="66" name="Shape 55"/>
          <p:cNvSpPr/>
          <p:nvPr/>
        </p:nvSpPr>
        <p:spPr>
          <a:xfrm>
            <a:off x="6629400" y="2450592"/>
            <a:ext cx="822960" cy="822960"/>
          </a:xfrm>
          <a:prstGeom prst="ellipse">
            <a:avLst/>
          </a:prstGeom>
          <a:solidFill>
            <a:srgbClr val="E8F3F2"/>
          </a:solidFill>
          <a:ln w="19050">
            <a:solidFill>
              <a:srgbClr val="1B7F79"/>
            </a:solidFill>
            <a:prstDash val="dash"/>
          </a:ln>
        </p:spPr>
      </p:sp>
      <p:pic>
        <p:nvPicPr>
          <p:cNvPr id="67" name="Image 8" descr="preencoded.png">    </p:cNvPr>
          <p:cNvPicPr>
            <a:picLocks noChangeAspect="1"/>
          </p:cNvPicPr>
          <p:nvPr/>
        </p:nvPicPr>
        <p:blipFill>
          <a:blip r:embed="rId10"/>
          <a:stretch>
            <a:fillRect/>
          </a:stretch>
        </p:blipFill>
        <p:spPr>
          <a:xfrm>
            <a:off x="6812280" y="2633472"/>
            <a:ext cx="457200" cy="457200"/>
          </a:xfrm>
          <a:prstGeom prst="rect">
            <a:avLst/>
          </a:prstGeom>
        </p:spPr>
      </p:pic>
      <p:sp>
        <p:nvSpPr>
          <p:cNvPr id="68" name="Text 56"/>
          <p:cNvSpPr txBox="1"/>
          <p:nvPr/>
        </p:nvSpPr>
        <p:spPr>
          <a:xfrm>
            <a:off x="6080760" y="3410712"/>
            <a:ext cx="1920240" cy="914400"/>
          </a:xfrm>
          <a:prstGeom prst="rect">
            <a:avLst/>
          </a:prstGeom>
          <a:noFill/>
          <a:ln/>
        </p:spPr>
        <p:txBody>
          <a:bodyPr wrap="square" lIns="0" tIns="0" rIns="0" bIns="0" rtlCol="0" anchor="t"/>
          <a:lstStyle/>
          <a:p>
            <a:pPr marL="342900" indent="-342900">
              <a:spcAft>
                <a:spcPts val="200"/>
              </a:spcAft>
              <a:buSzPct val="100000"/>
              <a:buChar char="•"/>
            </a:pPr>
            <a:r>
              <a:rPr lang="en-US" sz="750" dirty="0">
                <a:solidFill>
                  <a:srgbClr val="000000"/>
                </a:solidFill>
                <a:latin typeface="Arial" pitchFamily="34" charset="0"/>
                <a:ea typeface="Arial" pitchFamily="34" charset="-122"/>
                <a:cs typeface="Arial" pitchFamily="34" charset="-120"/>
              </a:rPr>
              <a:t>Ảnh khuôn mặt chỉ lưu tại tòa nhà</a:t>
            </a:r>
            <a:endParaRPr lang="en-US" sz="750" dirty="0"/>
          </a:p>
          <a:p>
            <a:pPr marL="342900" indent="-342900">
              <a:spcAft>
                <a:spcPts val="200"/>
              </a:spcAft>
              <a:buSzPct val="100000"/>
              <a:buChar char="•"/>
            </a:pPr>
            <a:r>
              <a:rPr lang="en-US" sz="750" dirty="0">
                <a:solidFill>
                  <a:srgbClr val="000000"/>
                </a:solidFill>
                <a:latin typeface="Arial" pitchFamily="34" charset="0"/>
                <a:ea typeface="Arial" pitchFamily="34" charset="-122"/>
                <a:cs typeface="Arial" pitchFamily="34" charset="-120"/>
              </a:rPr>
              <a:t>Dùng để mở cửa và thang máy</a:t>
            </a:r>
            <a:endParaRPr lang="en-US" sz="750" dirty="0"/>
          </a:p>
          <a:p>
            <a:pPr marL="342900" indent="-342900">
              <a:spcAft>
                <a:spcPts val="200"/>
              </a:spcAft>
              <a:buSzPct val="100000"/>
              <a:buChar char="•"/>
            </a:pPr>
            <a:r>
              <a:rPr lang="en-US" sz="750" dirty="0">
                <a:solidFill>
                  <a:srgbClr val="000000"/>
                </a:solidFill>
                <a:latin typeface="Arial" pitchFamily="34" charset="0"/>
                <a:ea typeface="Arial" pitchFamily="34" charset="-122"/>
                <a:cs typeface="Arial" pitchFamily="34" charset="-120"/>
              </a:rPr>
              <a:t>Xóa được bất cứ lúc nào</a:t>
            </a:r>
            <a:endParaRPr lang="en-US" sz="750" dirty="0"/>
          </a:p>
          <a:p>
            <a:pPr marL="342900" indent="-342900">
              <a:spcAft>
                <a:spcPts val="200"/>
              </a:spcAft>
              <a:buSzPct val="100000"/>
              <a:buChar char="•"/>
            </a:pPr>
            <a:r>
              <a:rPr lang="en-US" sz="750" dirty="0">
                <a:solidFill>
                  <a:srgbClr val="000000"/>
                </a:solidFill>
                <a:latin typeface="Arial" pitchFamily="34" charset="0"/>
                <a:ea typeface="Arial" pitchFamily="34" charset="-122"/>
                <a:cs typeface="Arial" pitchFamily="34" charset="-120"/>
              </a:rPr>
              <a:t>Tự xóa khi kết thúc hợp đồng</a:t>
            </a:r>
            <a:endParaRPr lang="en-US" sz="750" dirty="0"/>
          </a:p>
        </p:txBody>
      </p:sp>
      <p:sp>
        <p:nvSpPr>
          <p:cNvPr id="69" name="Shape 57"/>
          <p:cNvSpPr/>
          <p:nvPr/>
        </p:nvSpPr>
        <p:spPr>
          <a:xfrm>
            <a:off x="6080760" y="4416552"/>
            <a:ext cx="164592" cy="164592"/>
          </a:xfrm>
          <a:prstGeom prst="roundRect">
            <a:avLst>
              <a:gd name="adj" fmla="val 16667"/>
            </a:avLst>
          </a:prstGeom>
          <a:solidFill>
            <a:srgbClr val="FFFFFF"/>
          </a:solidFill>
          <a:ln w="12700">
            <a:solidFill>
              <a:srgbClr val="6B7785"/>
            </a:solidFill>
            <a:prstDash val="solid"/>
          </a:ln>
        </p:spPr>
      </p:sp>
      <p:sp>
        <p:nvSpPr>
          <p:cNvPr id="70" name="Text 58"/>
          <p:cNvSpPr txBox="1"/>
          <p:nvPr/>
        </p:nvSpPr>
        <p:spPr>
          <a:xfrm>
            <a:off x="6327648" y="4370832"/>
            <a:ext cx="1645920" cy="457200"/>
          </a:xfrm>
          <a:prstGeom prst="rect">
            <a:avLst/>
          </a:prstGeom>
          <a:noFill/>
          <a:ln/>
        </p:spPr>
        <p:txBody>
          <a:bodyPr wrap="square" lIns="0" tIns="0" rIns="0" bIns="0" rtlCol="0" anchor="t"/>
          <a:lstStyle/>
          <a:p>
            <a:pPr algn="l" indent="0" marL="0">
              <a:buNone/>
            </a:pPr>
            <a:r>
              <a:rPr lang="en-US" sz="680" dirty="0">
                <a:solidFill>
                  <a:srgbClr val="1A2330"/>
                </a:solidFill>
                <a:latin typeface="Arial" pitchFamily="34" charset="0"/>
                <a:ea typeface="Arial" pitchFamily="34" charset="-122"/>
                <a:cs typeface="Arial" pitchFamily="34" charset="-120"/>
              </a:rPr>
              <a:t>Tôi đồng ý cho tòa nhà xử lý ảnh khuôn mặt của tôi cho mục đích trên</a:t>
            </a:r>
            <a:endParaRPr lang="en-US" sz="680" dirty="0"/>
          </a:p>
        </p:txBody>
      </p:sp>
      <p:sp>
        <p:nvSpPr>
          <p:cNvPr id="71" name="Shape 59"/>
          <p:cNvSpPr/>
          <p:nvPr/>
        </p:nvSpPr>
        <p:spPr>
          <a:xfrm>
            <a:off x="6080760" y="4965192"/>
            <a:ext cx="1920240" cy="347472"/>
          </a:xfrm>
          <a:prstGeom prst="roundRect">
            <a:avLst>
              <a:gd name="adj" fmla="val 21053"/>
            </a:avLst>
          </a:prstGeom>
          <a:solidFill>
            <a:srgbClr val="1B7F79"/>
          </a:solidFill>
          <a:ln/>
        </p:spPr>
      </p:sp>
      <p:sp>
        <p:nvSpPr>
          <p:cNvPr id="72" name="Text 60"/>
          <p:cNvSpPr txBox="1"/>
          <p:nvPr/>
        </p:nvSpPr>
        <p:spPr>
          <a:xfrm>
            <a:off x="6080760" y="4965192"/>
            <a:ext cx="19202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Đồng ý và chụp ảnh</a:t>
            </a:r>
            <a:endParaRPr lang="en-US" sz="800" dirty="0"/>
          </a:p>
        </p:txBody>
      </p:sp>
      <p:sp>
        <p:nvSpPr>
          <p:cNvPr id="73" name="Shape 61"/>
          <p:cNvSpPr/>
          <p:nvPr/>
        </p:nvSpPr>
        <p:spPr>
          <a:xfrm>
            <a:off x="6080760" y="5376672"/>
            <a:ext cx="1920240" cy="310896"/>
          </a:xfrm>
          <a:prstGeom prst="roundRect">
            <a:avLst>
              <a:gd name="adj" fmla="val 23529"/>
            </a:avLst>
          </a:prstGeom>
          <a:solidFill>
            <a:srgbClr val="FFFFFF"/>
          </a:solidFill>
          <a:ln w="9525">
            <a:solidFill>
              <a:srgbClr val="1B7F79"/>
            </a:solidFill>
            <a:prstDash val="solid"/>
          </a:ln>
        </p:spPr>
      </p:sp>
      <p:sp>
        <p:nvSpPr>
          <p:cNvPr id="74" name="Text 62"/>
          <p:cNvSpPr txBox="1"/>
          <p:nvPr/>
        </p:nvSpPr>
        <p:spPr>
          <a:xfrm>
            <a:off x="6080760" y="5376672"/>
            <a:ext cx="1920240" cy="310896"/>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Dùng thẻ hoặc QR thay thế</a:t>
            </a:r>
            <a:endParaRPr lang="en-US" sz="800" dirty="0"/>
          </a:p>
        </p:txBody>
      </p:sp>
      <p:sp>
        <p:nvSpPr>
          <p:cNvPr id="75" name="Text 63"/>
          <p:cNvSpPr txBox="1"/>
          <p:nvPr/>
        </p:nvSpPr>
        <p:spPr>
          <a:xfrm>
            <a:off x="5943600" y="5769864"/>
            <a:ext cx="2194560" cy="182880"/>
          </a:xfrm>
          <a:prstGeom prst="rect">
            <a:avLst/>
          </a:prstGeom>
          <a:noFill/>
          <a:ln/>
        </p:spPr>
        <p:txBody>
          <a:bodyPr wrap="square" lIns="0" tIns="0" rIns="0" bIns="0" rtlCol="0" anchor="ctr"/>
          <a:lstStyle/>
          <a:p>
            <a:pPr algn="ctr" indent="0" marL="0">
              <a:buNone/>
            </a:pPr>
            <a:r>
              <a:rPr lang="en-US" sz="650" dirty="0">
                <a:solidFill>
                  <a:srgbClr val="1B7F79"/>
                </a:solidFill>
                <a:latin typeface="Arial" pitchFamily="34" charset="0"/>
                <a:ea typeface="Arial" pitchFamily="34" charset="-122"/>
                <a:cs typeface="Arial" pitchFamily="34" charset="-120"/>
              </a:rPr>
              <a:t>Chính sách dữ liệu cá nhân</a:t>
            </a:r>
            <a:endParaRPr lang="en-US" sz="650" dirty="0"/>
          </a:p>
        </p:txBody>
      </p:sp>
      <p:sp>
        <p:nvSpPr>
          <p:cNvPr id="76" name="Shape 64"/>
          <p:cNvSpPr/>
          <p:nvPr/>
        </p:nvSpPr>
        <p:spPr>
          <a:xfrm>
            <a:off x="2697480" y="3794760"/>
            <a:ext cx="274320" cy="274320"/>
          </a:xfrm>
          <a:prstGeom prst="ellipse">
            <a:avLst/>
          </a:prstGeom>
          <a:solidFill>
            <a:srgbClr val="E8833A"/>
          </a:solidFill>
          <a:ln w="19050">
            <a:solidFill>
              <a:srgbClr val="FFFFFF"/>
            </a:solidFill>
            <a:prstDash val="solid"/>
          </a:ln>
        </p:spPr>
      </p:sp>
      <p:sp>
        <p:nvSpPr>
          <p:cNvPr id="77" name="Text 65"/>
          <p:cNvSpPr txBox="1"/>
          <p:nvPr/>
        </p:nvSpPr>
        <p:spPr>
          <a:xfrm>
            <a:off x="2697480" y="37947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8" name="Shape 66"/>
          <p:cNvSpPr/>
          <p:nvPr/>
        </p:nvSpPr>
        <p:spPr>
          <a:xfrm>
            <a:off x="5349240" y="2377440"/>
            <a:ext cx="274320" cy="274320"/>
          </a:xfrm>
          <a:prstGeom prst="ellipse">
            <a:avLst/>
          </a:prstGeom>
          <a:solidFill>
            <a:srgbClr val="E8833A"/>
          </a:solidFill>
          <a:ln w="19050">
            <a:solidFill>
              <a:srgbClr val="FFFFFF"/>
            </a:solidFill>
            <a:prstDash val="solid"/>
          </a:ln>
        </p:spPr>
      </p:sp>
      <p:sp>
        <p:nvSpPr>
          <p:cNvPr id="79" name="Text 67"/>
          <p:cNvSpPr txBox="1"/>
          <p:nvPr/>
        </p:nvSpPr>
        <p:spPr>
          <a:xfrm>
            <a:off x="5349240" y="23774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80" name="Shape 68"/>
          <p:cNvSpPr/>
          <p:nvPr/>
        </p:nvSpPr>
        <p:spPr>
          <a:xfrm>
            <a:off x="8001000" y="4114800"/>
            <a:ext cx="274320" cy="274320"/>
          </a:xfrm>
          <a:prstGeom prst="ellipse">
            <a:avLst/>
          </a:prstGeom>
          <a:solidFill>
            <a:srgbClr val="E8833A"/>
          </a:solidFill>
          <a:ln w="19050">
            <a:solidFill>
              <a:srgbClr val="FFFFFF"/>
            </a:solidFill>
            <a:prstDash val="solid"/>
          </a:ln>
        </p:spPr>
      </p:sp>
      <p:sp>
        <p:nvSpPr>
          <p:cNvPr id="81" name="Text 69"/>
          <p:cNvSpPr txBox="1"/>
          <p:nvPr/>
        </p:nvSpPr>
        <p:spPr>
          <a:xfrm>
            <a:off x="8001000" y="41148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82" name="Shape 70"/>
          <p:cNvSpPr/>
          <p:nvPr/>
        </p:nvSpPr>
        <p:spPr>
          <a:xfrm>
            <a:off x="8549640" y="1325880"/>
            <a:ext cx="3200400" cy="5120640"/>
          </a:xfrm>
          <a:prstGeom prst="roundRect">
            <a:avLst>
              <a:gd name="adj" fmla="val 1429"/>
            </a:avLst>
          </a:prstGeom>
          <a:solidFill>
            <a:srgbClr val="E8F3F2"/>
          </a:solidFill>
          <a:ln/>
        </p:spPr>
      </p:sp>
      <p:sp>
        <p:nvSpPr>
          <p:cNvPr id="83" name="Text 71"/>
          <p:cNvSpPr txBox="1"/>
          <p:nvPr/>
        </p:nvSpPr>
        <p:spPr>
          <a:xfrm>
            <a:off x="8732520" y="1435608"/>
            <a:ext cx="283464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84" name="Shape 72"/>
          <p:cNvSpPr/>
          <p:nvPr/>
        </p:nvSpPr>
        <p:spPr>
          <a:xfrm>
            <a:off x="8732520" y="1892808"/>
            <a:ext cx="274320" cy="274320"/>
          </a:xfrm>
          <a:prstGeom prst="ellipse">
            <a:avLst/>
          </a:prstGeom>
          <a:solidFill>
            <a:srgbClr val="E8833A"/>
          </a:solidFill>
          <a:ln w="19050">
            <a:solidFill>
              <a:srgbClr val="FFFFFF"/>
            </a:solidFill>
            <a:prstDash val="solid"/>
          </a:ln>
        </p:spPr>
      </p:sp>
      <p:sp>
        <p:nvSpPr>
          <p:cNvPr id="85" name="Text 73"/>
          <p:cNvSpPr txBox="1"/>
          <p:nvPr/>
        </p:nvSpPr>
        <p:spPr>
          <a:xfrm>
            <a:off x="873252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6" name="Text 74"/>
          <p:cNvSpPr txBox="1"/>
          <p:nvPr/>
        </p:nvSpPr>
        <p:spPr>
          <a:xfrm>
            <a:off x="9098280" y="187452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Xác nhận kết quả, không chỉ sự kiện</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Cư dân biết khách đã vào và thang đã mở đúng tầng; có nút báo sai</a:t>
            </a:r>
            <a:endParaRPr lang="en-US" sz="1050" dirty="0"/>
          </a:p>
        </p:txBody>
      </p:sp>
      <p:sp>
        <p:nvSpPr>
          <p:cNvPr id="87" name="Shape 75"/>
          <p:cNvSpPr/>
          <p:nvPr/>
        </p:nvSpPr>
        <p:spPr>
          <a:xfrm>
            <a:off x="8732520" y="3386328"/>
            <a:ext cx="274320" cy="274320"/>
          </a:xfrm>
          <a:prstGeom prst="ellipse">
            <a:avLst/>
          </a:prstGeom>
          <a:solidFill>
            <a:srgbClr val="E8833A"/>
          </a:solidFill>
          <a:ln w="19050">
            <a:solidFill>
              <a:srgbClr val="FFFFFF"/>
            </a:solidFill>
            <a:prstDash val="solid"/>
          </a:ln>
        </p:spPr>
      </p:sp>
      <p:sp>
        <p:nvSpPr>
          <p:cNvPr id="88" name="Text 76"/>
          <p:cNvSpPr txBox="1"/>
          <p:nvPr/>
        </p:nvSpPr>
        <p:spPr>
          <a:xfrm>
            <a:off x="8732520" y="33863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89" name="Text 77"/>
          <p:cNvSpPr txBox="1"/>
          <p:nvPr/>
        </p:nvSpPr>
        <p:spPr>
          <a:xfrm>
            <a:off x="9098280" y="336804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Hóa đơn minh bạch</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Tách điện, nước, sạc xe, phí; so sánh 6 tháng để tự kiểm tra</a:t>
            </a:r>
            <a:endParaRPr lang="en-US" sz="1050" dirty="0"/>
          </a:p>
        </p:txBody>
      </p:sp>
      <p:sp>
        <p:nvSpPr>
          <p:cNvPr id="90" name="Shape 78"/>
          <p:cNvSpPr/>
          <p:nvPr/>
        </p:nvSpPr>
        <p:spPr>
          <a:xfrm>
            <a:off x="8732520" y="4879848"/>
            <a:ext cx="274320" cy="274320"/>
          </a:xfrm>
          <a:prstGeom prst="ellipse">
            <a:avLst/>
          </a:prstGeom>
          <a:solidFill>
            <a:srgbClr val="E8833A"/>
          </a:solidFill>
          <a:ln w="19050">
            <a:solidFill>
              <a:srgbClr val="FFFFFF"/>
            </a:solidFill>
            <a:prstDash val="solid"/>
          </a:ln>
        </p:spPr>
      </p:sp>
      <p:sp>
        <p:nvSpPr>
          <p:cNvPr id="91" name="Text 79"/>
          <p:cNvSpPr txBox="1"/>
          <p:nvPr/>
        </p:nvSpPr>
        <p:spPr>
          <a:xfrm>
            <a:off x="8732520" y="48798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92" name="Text 80"/>
          <p:cNvSpPr txBox="1"/>
          <p:nvPr/>
        </p:nvSpPr>
        <p:spPr>
          <a:xfrm>
            <a:off x="9098280" y="486156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Đồng ý thật sự</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Ô đồng ý không đánh sẵn; lựa chọn thay thế có trọng lượng ngang nhau</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App vận hành: cảnh báo, duyệt lệnh AI, việc tại hiện trường</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Persona: bảo vệ, kỹ thuật, trưởng BQL · Điện thoại công vụ · Đăng nhập theo ca</a:t>
            </a:r>
            <a:endParaRPr lang="en-US" sz="1300" dirty="0"/>
          </a:p>
        </p:txBody>
      </p:sp>
      <p:sp>
        <p:nvSpPr>
          <p:cNvPr id="4" name="Shape 2"/>
          <p:cNvSpPr/>
          <p:nvPr/>
        </p:nvSpPr>
        <p:spPr>
          <a:xfrm>
            <a:off x="777240" y="1344168"/>
            <a:ext cx="1920240" cy="246888"/>
          </a:xfrm>
          <a:prstGeom prst="roundRect">
            <a:avLst>
              <a:gd name="adj" fmla="val 37037"/>
            </a:avLst>
          </a:prstGeom>
          <a:solidFill>
            <a:srgbClr val="12324A"/>
          </a:solidFill>
          <a:ln/>
        </p:spPr>
      </p:sp>
      <p:sp>
        <p:nvSpPr>
          <p:cNvPr id="5" name="Text 3"/>
          <p:cNvSpPr txBox="1"/>
          <p:nvPr/>
        </p:nvSpPr>
        <p:spPr>
          <a:xfrm>
            <a:off x="77724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Cảnh báo an ninh</a:t>
            </a:r>
            <a:endParaRPr lang="en-US" sz="900" dirty="0"/>
          </a:p>
        </p:txBody>
      </p:sp>
      <p:sp>
        <p:nvSpPr>
          <p:cNvPr id="6" name="Shape 4"/>
          <p:cNvSpPr/>
          <p:nvPr/>
        </p:nvSpPr>
        <p:spPr>
          <a:xfrm>
            <a:off x="54864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7" name="Shape 5"/>
          <p:cNvSpPr/>
          <p:nvPr/>
        </p:nvSpPr>
        <p:spPr>
          <a:xfrm>
            <a:off x="640080" y="1783080"/>
            <a:ext cx="2194560" cy="4617720"/>
          </a:xfrm>
          <a:prstGeom prst="roundRect">
            <a:avLst>
              <a:gd name="adj" fmla="val 3750"/>
            </a:avLst>
          </a:prstGeom>
          <a:solidFill>
            <a:srgbClr val="FFFFFF"/>
          </a:solidFill>
          <a:ln/>
        </p:spPr>
      </p:sp>
      <p:sp>
        <p:nvSpPr>
          <p:cNvPr id="8" name="Text 6"/>
          <p:cNvSpPr txBox="1"/>
          <p:nvPr/>
        </p:nvSpPr>
        <p:spPr>
          <a:xfrm>
            <a:off x="77724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9" name="Text 7"/>
          <p:cNvSpPr txBox="1"/>
          <p:nvPr/>
        </p:nvSpPr>
        <p:spPr>
          <a:xfrm>
            <a:off x="214884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10" name="Shape 8"/>
          <p:cNvSpPr/>
          <p:nvPr/>
        </p:nvSpPr>
        <p:spPr>
          <a:xfrm>
            <a:off x="1417320" y="1837944"/>
            <a:ext cx="640080" cy="128016"/>
          </a:xfrm>
          <a:prstGeom prst="roundRect">
            <a:avLst>
              <a:gd name="adj" fmla="val 50000"/>
            </a:avLst>
          </a:prstGeom>
          <a:solidFill>
            <a:srgbClr val="0E1C28"/>
          </a:solidFill>
          <a:ln/>
        </p:spPr>
      </p:sp>
      <p:sp>
        <p:nvSpPr>
          <p:cNvPr id="11" name="Shape 9"/>
          <p:cNvSpPr/>
          <p:nvPr/>
        </p:nvSpPr>
        <p:spPr>
          <a:xfrm>
            <a:off x="640080" y="2039112"/>
            <a:ext cx="2194560" cy="384048"/>
          </a:xfrm>
          <a:prstGeom prst="rect">
            <a:avLst/>
          </a:prstGeom>
          <a:solidFill>
            <a:srgbClr val="E8833A"/>
          </a:solidFill>
          <a:ln/>
        </p:spPr>
      </p:sp>
      <p:sp>
        <p:nvSpPr>
          <p:cNvPr id="12" name="Text 10"/>
          <p:cNvSpPr txBox="1"/>
          <p:nvPr/>
        </p:nvSpPr>
        <p:spPr>
          <a:xfrm>
            <a:off x="777240" y="2039112"/>
            <a:ext cx="1920240" cy="384048"/>
          </a:xfrm>
          <a:prstGeom prst="rect">
            <a:avLst/>
          </a:prstGeom>
          <a:noFill/>
          <a:ln/>
        </p:spPr>
        <p:txBody>
          <a:bodyPr wrap="square" lIns="0" tIns="0" rIns="0" bIns="0" rtlCol="0" anchor="ctr"/>
          <a:lstStyle/>
          <a:p>
            <a:pPr algn="l" indent="0" marL="0">
              <a:buNone/>
            </a:pPr>
            <a:r>
              <a:rPr lang="en-US" sz="800" b="1" dirty="0">
                <a:solidFill>
                  <a:srgbClr val="FFFFFF"/>
                </a:solidFill>
                <a:latin typeface="Arial" pitchFamily="34" charset="0"/>
                <a:ea typeface="Arial" pitchFamily="34" charset="-122"/>
                <a:cs typeface="Arial" pitchFamily="34" charset="-120"/>
              </a:rPr>
              <a:t>CAO · Khu kỹ thuật Z10 · 23:47</a:t>
            </a:r>
            <a:endParaRPr lang="en-US" sz="800" dirty="0"/>
          </a:p>
        </p:txBody>
      </p:sp>
      <p:sp>
        <p:nvSpPr>
          <p:cNvPr id="13" name="Shape 11"/>
          <p:cNvSpPr/>
          <p:nvPr/>
        </p:nvSpPr>
        <p:spPr>
          <a:xfrm>
            <a:off x="777240" y="2542032"/>
            <a:ext cx="1920240" cy="1234440"/>
          </a:xfrm>
          <a:prstGeom prst="roundRect">
            <a:avLst>
              <a:gd name="adj" fmla="val 4444"/>
            </a:avLst>
          </a:prstGeom>
          <a:solidFill>
            <a:srgbClr val="2B3A47"/>
          </a:solidFill>
          <a:ln/>
        </p:spPr>
      </p:sp>
      <p:sp>
        <p:nvSpPr>
          <p:cNvPr id="14" name="Shape 12"/>
          <p:cNvSpPr/>
          <p:nvPr/>
        </p:nvSpPr>
        <p:spPr>
          <a:xfrm>
            <a:off x="1325880" y="2724912"/>
            <a:ext cx="777240" cy="868680"/>
          </a:xfrm>
          <a:prstGeom prst="rect">
            <a:avLst/>
          </a:prstGeom>
          <a:solidFill>
            <a:srgbClr val="2B3A47"/>
          </a:solidFill>
          <a:ln w="19050">
            <a:solidFill>
              <a:srgbClr val="E8833A"/>
            </a:solidFill>
            <a:prstDash val="solid"/>
          </a:ln>
        </p:spPr>
      </p:sp>
      <p:pic>
        <p:nvPicPr>
          <p:cNvPr id="15" name="Image 0" descr="preencoded.png">    </p:cNvPr>
          <p:cNvPicPr>
            <a:picLocks noChangeAspect="1"/>
          </p:cNvPicPr>
          <p:nvPr/>
        </p:nvPicPr>
        <p:blipFill>
          <a:blip r:embed="rId1"/>
          <a:stretch>
            <a:fillRect/>
          </a:stretch>
        </p:blipFill>
        <p:spPr>
          <a:xfrm>
            <a:off x="1508760" y="2907792"/>
            <a:ext cx="411480" cy="411480"/>
          </a:xfrm>
          <a:prstGeom prst="rect">
            <a:avLst/>
          </a:prstGeom>
        </p:spPr>
      </p:pic>
      <p:sp>
        <p:nvSpPr>
          <p:cNvPr id="16" name="Text 13"/>
          <p:cNvSpPr txBox="1"/>
          <p:nvPr/>
        </p:nvSpPr>
        <p:spPr>
          <a:xfrm>
            <a:off x="777240" y="3867912"/>
            <a:ext cx="1920240" cy="411480"/>
          </a:xfrm>
          <a:prstGeom prst="rect">
            <a:avLst/>
          </a:prstGeom>
          <a:noFill/>
          <a:ln/>
        </p:spPr>
        <p:txBody>
          <a:bodyPr wrap="square" lIns="0" tIns="0" rIns="0" bIns="0" rtlCol="0" anchor="t"/>
          <a:lstStyle/>
          <a:p>
            <a:pPr algn="l" indent="0" marL="0">
              <a:buNone/>
            </a:pPr>
            <a:r>
              <a:rPr lang="en-US" sz="850" b="1" dirty="0">
                <a:solidFill>
                  <a:srgbClr val="12324A"/>
                </a:solidFill>
                <a:latin typeface="Arial" pitchFamily="34" charset="0"/>
                <a:ea typeface="Arial" pitchFamily="34" charset="-122"/>
                <a:cs typeface="Arial" pitchFamily="34" charset="-120"/>
              </a:rPr>
              <a:t>Có người ngoài giờ, không có lượt quét hợp lệ</a:t>
            </a:r>
            <a:endParaRPr lang="en-US" sz="850" dirty="0"/>
          </a:p>
        </p:txBody>
      </p:sp>
      <p:sp>
        <p:nvSpPr>
          <p:cNvPr id="17" name="Text 14"/>
          <p:cNvSpPr txBox="1"/>
          <p:nvPr/>
        </p:nvSpPr>
        <p:spPr>
          <a:xfrm>
            <a:off x="777240" y="4279392"/>
            <a:ext cx="1920240" cy="274320"/>
          </a:xfrm>
          <a:prstGeom prst="rect">
            <a:avLst/>
          </a:prstGeom>
          <a:noFill/>
          <a:ln/>
        </p:spPr>
        <p:txBody>
          <a:bodyPr wrap="square" lIns="0" tIns="0" rIns="0" bIns="0" rtlCol="0" anchor="t"/>
          <a:lstStyle/>
          <a:p>
            <a:pPr algn="l" indent="0" marL="0">
              <a:buNone/>
            </a:pPr>
            <a:r>
              <a:rPr lang="en-US" sz="700" dirty="0">
                <a:solidFill>
                  <a:srgbClr val="6B7785"/>
                </a:solidFill>
                <a:latin typeface="Arial" pitchFamily="34" charset="0"/>
                <a:ea typeface="Arial" pitchFamily="34" charset="-122"/>
                <a:cs typeface="Arial" pitchFamily="34" charset="-120"/>
              </a:rPr>
              <a:t>Camera CAM-B2-17 · cạnh tủ rack trung tâm</a:t>
            </a:r>
            <a:endParaRPr lang="en-US" sz="700" dirty="0"/>
          </a:p>
        </p:txBody>
      </p:sp>
      <p:sp>
        <p:nvSpPr>
          <p:cNvPr id="18" name="Shape 15"/>
          <p:cNvSpPr/>
          <p:nvPr/>
        </p:nvSpPr>
        <p:spPr>
          <a:xfrm>
            <a:off x="777240" y="4690872"/>
            <a:ext cx="1920240" cy="365760"/>
          </a:xfrm>
          <a:prstGeom prst="roundRect">
            <a:avLst>
              <a:gd name="adj" fmla="val 20000"/>
            </a:avLst>
          </a:prstGeom>
          <a:solidFill>
            <a:srgbClr val="E8833A"/>
          </a:solidFill>
          <a:ln/>
        </p:spPr>
      </p:sp>
      <p:sp>
        <p:nvSpPr>
          <p:cNvPr id="19" name="Text 16"/>
          <p:cNvSpPr txBox="1"/>
          <p:nvPr/>
        </p:nvSpPr>
        <p:spPr>
          <a:xfrm>
            <a:off x="777240" y="4690872"/>
            <a:ext cx="192024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Tôi nhận xử lý</a:t>
            </a:r>
            <a:endParaRPr lang="en-US" sz="800" dirty="0"/>
          </a:p>
        </p:txBody>
      </p:sp>
      <p:sp>
        <p:nvSpPr>
          <p:cNvPr id="20" name="Shape 17"/>
          <p:cNvSpPr/>
          <p:nvPr/>
        </p:nvSpPr>
        <p:spPr>
          <a:xfrm>
            <a:off x="777240" y="5129784"/>
            <a:ext cx="937260" cy="310896"/>
          </a:xfrm>
          <a:prstGeom prst="roundRect">
            <a:avLst>
              <a:gd name="adj" fmla="val 23529"/>
            </a:avLst>
          </a:prstGeom>
          <a:solidFill>
            <a:srgbClr val="FFFFFF"/>
          </a:solidFill>
          <a:ln w="9525">
            <a:solidFill>
              <a:srgbClr val="1B7F79"/>
            </a:solidFill>
            <a:prstDash val="solid"/>
          </a:ln>
        </p:spPr>
      </p:sp>
      <p:sp>
        <p:nvSpPr>
          <p:cNvPr id="21" name="Text 18"/>
          <p:cNvSpPr txBox="1"/>
          <p:nvPr/>
        </p:nvSpPr>
        <p:spPr>
          <a:xfrm>
            <a:off x="777240" y="5129784"/>
            <a:ext cx="937260" cy="310896"/>
          </a:xfrm>
          <a:prstGeom prst="rect">
            <a:avLst/>
          </a:prstGeom>
          <a:noFill/>
          <a:ln/>
        </p:spPr>
        <p:txBody>
          <a:bodyPr wrap="square" lIns="0" tIns="0" rIns="0" bIns="0" rtlCol="0" anchor="ctr"/>
          <a:lstStyle/>
          <a:p>
            <a:pPr algn="ctr" indent="0" marL="0">
              <a:buNone/>
            </a:pPr>
            <a:r>
              <a:rPr lang="en-US" sz="800" b="1" dirty="0">
                <a:solidFill>
                  <a:srgbClr val="1B7F79"/>
                </a:solidFill>
                <a:latin typeface="Arial" pitchFamily="34" charset="0"/>
                <a:ea typeface="Arial" pitchFamily="34" charset="-122"/>
                <a:cs typeface="Arial" pitchFamily="34" charset="-120"/>
              </a:rPr>
              <a:t>Xem trực tiếp</a:t>
            </a:r>
            <a:endParaRPr lang="en-US" sz="800" dirty="0"/>
          </a:p>
        </p:txBody>
      </p:sp>
      <p:sp>
        <p:nvSpPr>
          <p:cNvPr id="22" name="Shape 19"/>
          <p:cNvSpPr/>
          <p:nvPr/>
        </p:nvSpPr>
        <p:spPr>
          <a:xfrm>
            <a:off x="1760220" y="5129784"/>
            <a:ext cx="937260" cy="310896"/>
          </a:xfrm>
          <a:prstGeom prst="roundRect">
            <a:avLst>
              <a:gd name="adj" fmla="val 23529"/>
            </a:avLst>
          </a:prstGeom>
          <a:solidFill>
            <a:srgbClr val="FFFFFF"/>
          </a:solidFill>
          <a:ln w="9525">
            <a:solidFill>
              <a:srgbClr val="6B7785"/>
            </a:solidFill>
            <a:prstDash val="solid"/>
          </a:ln>
        </p:spPr>
      </p:sp>
      <p:sp>
        <p:nvSpPr>
          <p:cNvPr id="23" name="Text 20"/>
          <p:cNvSpPr txBox="1"/>
          <p:nvPr/>
        </p:nvSpPr>
        <p:spPr>
          <a:xfrm>
            <a:off x="1760220" y="5129784"/>
            <a:ext cx="937260" cy="310896"/>
          </a:xfrm>
          <a:prstGeom prst="rect">
            <a:avLst/>
          </a:prstGeom>
          <a:noFill/>
          <a:ln/>
        </p:spPr>
        <p:txBody>
          <a:bodyPr wrap="square" lIns="0" tIns="0" rIns="0" bIns="0" rtlCol="0" anchor="ctr"/>
          <a:lstStyle/>
          <a:p>
            <a:pPr algn="ctr" indent="0" marL="0">
              <a:buNone/>
            </a:pPr>
            <a:r>
              <a:rPr lang="en-US" sz="800" b="1" dirty="0">
                <a:solidFill>
                  <a:srgbClr val="6B7785"/>
                </a:solidFill>
                <a:latin typeface="Arial" pitchFamily="34" charset="0"/>
                <a:ea typeface="Arial" pitchFamily="34" charset="-122"/>
                <a:cs typeface="Arial" pitchFamily="34" charset="-120"/>
              </a:rPr>
              <a:t>Báo giả</a:t>
            </a:r>
            <a:endParaRPr lang="en-US" sz="800" dirty="0"/>
          </a:p>
        </p:txBody>
      </p:sp>
      <p:sp>
        <p:nvSpPr>
          <p:cNvPr id="24" name="Text 21"/>
          <p:cNvSpPr txBox="1"/>
          <p:nvPr/>
        </p:nvSpPr>
        <p:spPr>
          <a:xfrm>
            <a:off x="777240" y="5559552"/>
            <a:ext cx="1920240" cy="274320"/>
          </a:xfrm>
          <a:prstGeom prst="rect">
            <a:avLst/>
          </a:prstGeom>
          <a:noFill/>
          <a:ln/>
        </p:spPr>
        <p:txBody>
          <a:bodyPr wrap="square" lIns="0" tIns="0" rIns="0" bIns="0" rtlCol="0" anchor="t"/>
          <a:lstStyle/>
          <a:p>
            <a:pPr algn="l" indent="0" marL="0">
              <a:buNone/>
            </a:pPr>
            <a:r>
              <a:rPr lang="en-US" sz="650" dirty="0">
                <a:solidFill>
                  <a:srgbClr val="6B7785"/>
                </a:solidFill>
                <a:latin typeface="Arial" pitchFamily="34" charset="0"/>
                <a:ea typeface="Arial" pitchFamily="34" charset="-122"/>
                <a:cs typeface="Arial" pitchFamily="34" charset="-120"/>
              </a:rPr>
              <a:t>Đã gửi: Tuấn (bảo vệ), Hùng (KT) · chưa ai nhận</a:t>
            </a:r>
            <a:endParaRPr lang="en-US" sz="650" dirty="0"/>
          </a:p>
        </p:txBody>
      </p:sp>
      <p:sp>
        <p:nvSpPr>
          <p:cNvPr id="25" name="Shape 22"/>
          <p:cNvSpPr/>
          <p:nvPr/>
        </p:nvSpPr>
        <p:spPr>
          <a:xfrm>
            <a:off x="3429000" y="1344168"/>
            <a:ext cx="1920240" cy="246888"/>
          </a:xfrm>
          <a:prstGeom prst="roundRect">
            <a:avLst>
              <a:gd name="adj" fmla="val 37037"/>
            </a:avLst>
          </a:prstGeom>
          <a:solidFill>
            <a:srgbClr val="12324A"/>
          </a:solidFill>
          <a:ln/>
        </p:spPr>
      </p:sp>
      <p:sp>
        <p:nvSpPr>
          <p:cNvPr id="26" name="Text 23"/>
          <p:cNvSpPr txBox="1"/>
          <p:nvPr/>
        </p:nvSpPr>
        <p:spPr>
          <a:xfrm>
            <a:off x="342900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Duyệt lệnh AI</a:t>
            </a:r>
            <a:endParaRPr lang="en-US" sz="900" dirty="0"/>
          </a:p>
        </p:txBody>
      </p:sp>
      <p:sp>
        <p:nvSpPr>
          <p:cNvPr id="27" name="Shape 24"/>
          <p:cNvSpPr/>
          <p:nvPr/>
        </p:nvSpPr>
        <p:spPr>
          <a:xfrm>
            <a:off x="320040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28" name="Shape 25"/>
          <p:cNvSpPr/>
          <p:nvPr/>
        </p:nvSpPr>
        <p:spPr>
          <a:xfrm>
            <a:off x="3291840" y="1783080"/>
            <a:ext cx="2194560" cy="4617720"/>
          </a:xfrm>
          <a:prstGeom prst="roundRect">
            <a:avLst>
              <a:gd name="adj" fmla="val 3750"/>
            </a:avLst>
          </a:prstGeom>
          <a:solidFill>
            <a:srgbClr val="FFFFFF"/>
          </a:solidFill>
          <a:ln/>
        </p:spPr>
      </p:sp>
      <p:sp>
        <p:nvSpPr>
          <p:cNvPr id="29" name="Text 26"/>
          <p:cNvSpPr txBox="1"/>
          <p:nvPr/>
        </p:nvSpPr>
        <p:spPr>
          <a:xfrm>
            <a:off x="342900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30" name="Text 27"/>
          <p:cNvSpPr txBox="1"/>
          <p:nvPr/>
        </p:nvSpPr>
        <p:spPr>
          <a:xfrm>
            <a:off x="480060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31" name="Shape 28"/>
          <p:cNvSpPr/>
          <p:nvPr/>
        </p:nvSpPr>
        <p:spPr>
          <a:xfrm>
            <a:off x="4069080" y="1837944"/>
            <a:ext cx="640080" cy="128016"/>
          </a:xfrm>
          <a:prstGeom prst="roundRect">
            <a:avLst>
              <a:gd name="adj" fmla="val 50000"/>
            </a:avLst>
          </a:prstGeom>
          <a:solidFill>
            <a:srgbClr val="0E1C28"/>
          </a:solidFill>
          <a:ln/>
        </p:spPr>
      </p:sp>
      <p:sp>
        <p:nvSpPr>
          <p:cNvPr id="32" name="Text 29"/>
          <p:cNvSpPr txBox="1"/>
          <p:nvPr/>
        </p:nvSpPr>
        <p:spPr>
          <a:xfrm>
            <a:off x="3429000" y="2039112"/>
            <a:ext cx="1737360" cy="320040"/>
          </a:xfrm>
          <a:prstGeom prst="rect">
            <a:avLst/>
          </a:prstGeom>
          <a:noFill/>
          <a:ln/>
        </p:spPr>
        <p:txBody>
          <a:bodyPr wrap="square" lIns="0" tIns="0" rIns="0" bIns="0" rtlCol="0" anchor="ctr"/>
          <a:lstStyle/>
          <a:p>
            <a:pPr algn="l" indent="0" marL="0">
              <a:buNone/>
            </a:pPr>
            <a:r>
              <a:rPr lang="en-US" sz="1000" b="1" dirty="0">
                <a:solidFill>
                  <a:srgbClr val="12324A"/>
                </a:solidFill>
                <a:latin typeface="Arial" pitchFamily="34" charset="0"/>
                <a:ea typeface="Arial" pitchFamily="34" charset="-122"/>
                <a:cs typeface="Arial" pitchFamily="34" charset="-120"/>
              </a:rPr>
              <a:t>Chờ duyệt (1)</a:t>
            </a:r>
            <a:endParaRPr lang="en-US" sz="1000" dirty="0"/>
          </a:p>
        </p:txBody>
      </p:sp>
      <p:sp>
        <p:nvSpPr>
          <p:cNvPr id="33" name="Shape 30"/>
          <p:cNvSpPr/>
          <p:nvPr/>
        </p:nvSpPr>
        <p:spPr>
          <a:xfrm>
            <a:off x="3401568" y="2423160"/>
            <a:ext cx="1975104" cy="3200400"/>
          </a:xfrm>
          <a:prstGeom prst="roundRect">
            <a:avLst>
              <a:gd name="adj" fmla="val 2778"/>
            </a:avLst>
          </a:prstGeom>
          <a:solidFill>
            <a:srgbClr val="FFFFFF"/>
          </a:solidFill>
          <a:ln w="6350">
            <a:solidFill>
              <a:srgbClr val="D5DCE3"/>
            </a:solidFill>
            <a:prstDash val="solid"/>
          </a:ln>
        </p:spPr>
      </p:sp>
      <p:pic>
        <p:nvPicPr>
          <p:cNvPr id="34" name="Image 1" descr="preencoded.png">    </p:cNvPr>
          <p:cNvPicPr>
            <a:picLocks noChangeAspect="1"/>
          </p:cNvPicPr>
          <p:nvPr/>
        </p:nvPicPr>
        <p:blipFill>
          <a:blip r:embed="rId2"/>
          <a:stretch>
            <a:fillRect/>
          </a:stretch>
        </p:blipFill>
        <p:spPr>
          <a:xfrm>
            <a:off x="3520440" y="2514600"/>
            <a:ext cx="164592" cy="164592"/>
          </a:xfrm>
          <a:prstGeom prst="rect">
            <a:avLst/>
          </a:prstGeom>
        </p:spPr>
      </p:pic>
      <p:sp>
        <p:nvSpPr>
          <p:cNvPr id="35" name="Text 31"/>
          <p:cNvSpPr txBox="1"/>
          <p:nvPr/>
        </p:nvSpPr>
        <p:spPr>
          <a:xfrm>
            <a:off x="3749040" y="2496312"/>
            <a:ext cx="1554480" cy="201168"/>
          </a:xfrm>
          <a:prstGeom prst="rect">
            <a:avLst/>
          </a:prstGeom>
          <a:noFill/>
          <a:ln/>
        </p:spPr>
        <p:txBody>
          <a:bodyPr wrap="square" lIns="0" tIns="0" rIns="0" bIns="0" rtlCol="0" anchor="ctr"/>
          <a:lstStyle/>
          <a:p>
            <a:pPr algn="l" indent="0" marL="0">
              <a:buNone/>
            </a:pPr>
            <a:r>
              <a:rPr lang="en-US" sz="700" b="1" dirty="0">
                <a:solidFill>
                  <a:srgbClr val="1B7F79"/>
                </a:solidFill>
                <a:latin typeface="Arial" pitchFamily="34" charset="0"/>
                <a:ea typeface="Arial" pitchFamily="34" charset="-122"/>
                <a:cs typeface="Arial" pitchFamily="34" charset="-120"/>
              </a:rPr>
              <a:t>AI đề xuất · thông gió hầm</a:t>
            </a:r>
            <a:endParaRPr lang="en-US" sz="700" dirty="0"/>
          </a:p>
        </p:txBody>
      </p:sp>
      <p:sp>
        <p:nvSpPr>
          <p:cNvPr id="36" name="Text 32"/>
          <p:cNvSpPr txBox="1"/>
          <p:nvPr/>
        </p:nvSpPr>
        <p:spPr>
          <a:xfrm>
            <a:off x="3520440" y="2752344"/>
            <a:ext cx="1737360" cy="457200"/>
          </a:xfrm>
          <a:prstGeom prst="rect">
            <a:avLst/>
          </a:prstGeom>
          <a:noFill/>
          <a:ln/>
        </p:spPr>
        <p:txBody>
          <a:bodyPr wrap="square" lIns="0" tIns="0" rIns="0" bIns="0" rtlCol="0" anchor="t"/>
          <a:lstStyle/>
          <a:p>
            <a:pPr algn="l" indent="0" marL="0">
              <a:buNone/>
            </a:pPr>
            <a:r>
              <a:rPr lang="en-US" sz="900" b="1" dirty="0">
                <a:solidFill>
                  <a:srgbClr val="12324A"/>
                </a:solidFill>
                <a:latin typeface="Arial" pitchFamily="34" charset="0"/>
                <a:ea typeface="Arial" pitchFamily="34" charset="-122"/>
                <a:cs typeface="Arial" pitchFamily="34" charset="-120"/>
              </a:rPr>
              <a:t>Bật quạt thông gió thường hầm B2 ở 40 Hz từ 06:45</a:t>
            </a:r>
            <a:endParaRPr lang="en-US" sz="900" dirty="0"/>
          </a:p>
        </p:txBody>
      </p:sp>
      <p:sp>
        <p:nvSpPr>
          <p:cNvPr id="37" name="Text 33"/>
          <p:cNvSpPr txBox="1"/>
          <p:nvPr/>
        </p:nvSpPr>
        <p:spPr>
          <a:xfrm>
            <a:off x="3520440" y="3273552"/>
            <a:ext cx="914400" cy="182880"/>
          </a:xfrm>
          <a:prstGeom prst="rect">
            <a:avLst/>
          </a:prstGeom>
          <a:noFill/>
          <a:ln/>
        </p:spPr>
        <p:txBody>
          <a:bodyPr wrap="square" lIns="0" tIns="0" rIns="0" bIns="0" rtlCol="0" anchor="ctr"/>
          <a:lstStyle/>
          <a:p>
            <a:pPr algn="l" indent="0" marL="0">
              <a:buNone/>
            </a:pPr>
            <a:r>
              <a:rPr lang="en-US" sz="680" b="1" dirty="0">
                <a:solidFill>
                  <a:srgbClr val="6B7785"/>
                </a:solidFill>
                <a:latin typeface="Arial" pitchFamily="34" charset="0"/>
                <a:ea typeface="Arial" pitchFamily="34" charset="-122"/>
                <a:cs typeface="Arial" pitchFamily="34" charset="-120"/>
              </a:rPr>
              <a:t>Căn cứ</a:t>
            </a:r>
            <a:endParaRPr lang="en-US" sz="680" dirty="0"/>
          </a:p>
        </p:txBody>
      </p:sp>
      <p:sp>
        <p:nvSpPr>
          <p:cNvPr id="38" name="Text 34"/>
          <p:cNvSpPr txBox="1"/>
          <p:nvPr/>
        </p:nvSpPr>
        <p:spPr>
          <a:xfrm>
            <a:off x="3520440" y="3456432"/>
            <a:ext cx="1737360" cy="777240"/>
          </a:xfrm>
          <a:prstGeom prst="rect">
            <a:avLst/>
          </a:prstGeom>
          <a:noFill/>
          <a:ln/>
        </p:spPr>
        <p:txBody>
          <a:bodyPr wrap="square" lIns="0" tIns="0" rIns="0" bIns="0" rtlCol="0" anchor="t"/>
          <a:lstStyle/>
          <a:p>
            <a:pPr marL="342900" indent="-342900">
              <a:spcAft>
                <a:spcPts val="200"/>
              </a:spcAft>
              <a:buSzPct val="100000"/>
              <a:buChar char="•"/>
            </a:pPr>
            <a:r>
              <a:rPr lang="en-US" sz="700" dirty="0">
                <a:solidFill>
                  <a:srgbClr val="000000"/>
                </a:solidFill>
                <a:latin typeface="Arial" pitchFamily="34" charset="0"/>
                <a:ea typeface="Arial" pitchFamily="34" charset="-122"/>
                <a:cs typeface="Arial" pitchFamily="34" charset="-120"/>
              </a:rPr>
              <a:t>CO hiện tại 18 ppm (ngưỡng 50)</a:t>
            </a:r>
            <a:endParaRPr lang="en-US" sz="700" dirty="0"/>
          </a:p>
          <a:p>
            <a:pPr marL="342900" indent="-342900">
              <a:spcAft>
                <a:spcPts val="200"/>
              </a:spcAft>
              <a:buSzPct val="100000"/>
              <a:buChar char="•"/>
            </a:pPr>
            <a:r>
              <a:rPr lang="en-US" sz="700" dirty="0">
                <a:solidFill>
                  <a:srgbClr val="000000"/>
                </a:solidFill>
                <a:latin typeface="Arial" pitchFamily="34" charset="0"/>
                <a:ea typeface="Arial" pitchFamily="34" charset="-122"/>
                <a:cs typeface="Arial" pitchFamily="34" charset="-120"/>
              </a:rPr>
              <a:t>Thứ Ba thường có 22 xe ra từ 07:00–07:30</a:t>
            </a:r>
            <a:endParaRPr lang="en-US" sz="700" dirty="0"/>
          </a:p>
          <a:p>
            <a:pPr marL="342900" indent="-342900">
              <a:spcAft>
                <a:spcPts val="200"/>
              </a:spcAft>
              <a:buSzPct val="100000"/>
              <a:buChar char="•"/>
            </a:pPr>
            <a:r>
              <a:rPr lang="en-US" sz="700" dirty="0">
                <a:solidFill>
                  <a:srgbClr val="000000"/>
                </a:solidFill>
                <a:latin typeface="Arial" pitchFamily="34" charset="0"/>
                <a:ea typeface="Arial" pitchFamily="34" charset="-122"/>
                <a:cs typeface="Arial" pitchFamily="34" charset="-120"/>
              </a:rPr>
              <a:t>Ước tính giữ CO dưới 35 ppm</a:t>
            </a:r>
            <a:endParaRPr lang="en-US" sz="700" dirty="0"/>
          </a:p>
        </p:txBody>
      </p:sp>
      <p:sp>
        <p:nvSpPr>
          <p:cNvPr id="39" name="Shape 35"/>
          <p:cNvSpPr/>
          <p:nvPr/>
        </p:nvSpPr>
        <p:spPr>
          <a:xfrm>
            <a:off x="3520440" y="4325112"/>
            <a:ext cx="1737360" cy="219456"/>
          </a:xfrm>
          <a:prstGeom prst="roundRect">
            <a:avLst>
              <a:gd name="adj" fmla="val 41667"/>
            </a:avLst>
          </a:prstGeom>
          <a:solidFill>
            <a:srgbClr val="E8F3F2"/>
          </a:solidFill>
          <a:ln/>
        </p:spPr>
      </p:sp>
      <p:sp>
        <p:nvSpPr>
          <p:cNvPr id="40" name="Text 36"/>
          <p:cNvSpPr txBox="1"/>
          <p:nvPr/>
        </p:nvSpPr>
        <p:spPr>
          <a:xfrm>
            <a:off x="3520440" y="4325112"/>
            <a:ext cx="1737360" cy="219456"/>
          </a:xfrm>
          <a:prstGeom prst="rect">
            <a:avLst/>
          </a:prstGeom>
          <a:noFill/>
          <a:ln/>
        </p:spPr>
        <p:txBody>
          <a:bodyPr wrap="square" lIns="0" tIns="0" rIns="0" bIns="0" rtlCol="0" anchor="ctr"/>
          <a:lstStyle/>
          <a:p>
            <a:pPr algn="ctr" indent="0" marL="0">
              <a:buNone/>
            </a:pPr>
            <a:r>
              <a:rPr lang="en-US" sz="680" b="1" dirty="0">
                <a:solidFill>
                  <a:srgbClr val="1B7F79"/>
                </a:solidFill>
                <a:latin typeface="Arial" pitchFamily="34" charset="0"/>
                <a:ea typeface="Arial" pitchFamily="34" charset="-122"/>
                <a:cs typeface="Arial" pitchFamily="34" charset="-120"/>
              </a:rPr>
              <a:t>Ghi có giới hạn · 20–50 Hz</a:t>
            </a:r>
            <a:endParaRPr lang="en-US" sz="680" dirty="0"/>
          </a:p>
        </p:txBody>
      </p:sp>
      <p:sp>
        <p:nvSpPr>
          <p:cNvPr id="41" name="Text 37"/>
          <p:cNvSpPr txBox="1"/>
          <p:nvPr/>
        </p:nvSpPr>
        <p:spPr>
          <a:xfrm>
            <a:off x="3520440" y="4581144"/>
            <a:ext cx="1737360" cy="182880"/>
          </a:xfrm>
          <a:prstGeom prst="rect">
            <a:avLst/>
          </a:prstGeom>
          <a:noFill/>
          <a:ln/>
        </p:spPr>
        <p:txBody>
          <a:bodyPr wrap="square" lIns="0" tIns="0" rIns="0" bIns="0" rtlCol="0" anchor="ctr"/>
          <a:lstStyle/>
          <a:p>
            <a:pPr algn="l" indent="0" marL="0">
              <a:buNone/>
            </a:pPr>
            <a:r>
              <a:rPr lang="en-US" sz="630" i="1" dirty="0">
                <a:solidFill>
                  <a:srgbClr val="6B7785"/>
                </a:solidFill>
                <a:latin typeface="Arial" pitchFamily="34" charset="0"/>
                <a:ea typeface="Arial" pitchFamily="34" charset="-122"/>
                <a:cs typeface="Arial" pitchFamily="34" charset="-120"/>
              </a:rPr>
              <a:t>Không áp dụng cho quạt sự cố SEAF/FAP</a:t>
            </a:r>
            <a:endParaRPr lang="en-US" sz="630" dirty="0"/>
          </a:p>
        </p:txBody>
      </p:sp>
      <p:sp>
        <p:nvSpPr>
          <p:cNvPr id="42" name="Shape 38"/>
          <p:cNvSpPr/>
          <p:nvPr/>
        </p:nvSpPr>
        <p:spPr>
          <a:xfrm>
            <a:off x="3520440" y="4828032"/>
            <a:ext cx="822960" cy="329184"/>
          </a:xfrm>
          <a:prstGeom prst="roundRect">
            <a:avLst>
              <a:gd name="adj" fmla="val 22222"/>
            </a:avLst>
          </a:prstGeom>
          <a:solidFill>
            <a:srgbClr val="1B7F79"/>
          </a:solidFill>
          <a:ln/>
        </p:spPr>
      </p:sp>
      <p:sp>
        <p:nvSpPr>
          <p:cNvPr id="43" name="Text 39"/>
          <p:cNvSpPr txBox="1"/>
          <p:nvPr/>
        </p:nvSpPr>
        <p:spPr>
          <a:xfrm>
            <a:off x="3520440" y="4828032"/>
            <a:ext cx="8229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Phê duyệt</a:t>
            </a:r>
            <a:endParaRPr lang="en-US" sz="800" dirty="0"/>
          </a:p>
        </p:txBody>
      </p:sp>
      <p:sp>
        <p:nvSpPr>
          <p:cNvPr id="44" name="Shape 40"/>
          <p:cNvSpPr/>
          <p:nvPr/>
        </p:nvSpPr>
        <p:spPr>
          <a:xfrm>
            <a:off x="4434840" y="4828032"/>
            <a:ext cx="822960" cy="329184"/>
          </a:xfrm>
          <a:prstGeom prst="roundRect">
            <a:avLst>
              <a:gd name="adj" fmla="val 22222"/>
            </a:avLst>
          </a:prstGeom>
          <a:solidFill>
            <a:srgbClr val="FFFFFF"/>
          </a:solidFill>
          <a:ln w="9525">
            <a:solidFill>
              <a:srgbClr val="6B7785"/>
            </a:solidFill>
            <a:prstDash val="solid"/>
          </a:ln>
        </p:spPr>
      </p:sp>
      <p:sp>
        <p:nvSpPr>
          <p:cNvPr id="45" name="Text 41"/>
          <p:cNvSpPr txBox="1"/>
          <p:nvPr/>
        </p:nvSpPr>
        <p:spPr>
          <a:xfrm>
            <a:off x="4434840" y="4828032"/>
            <a:ext cx="822960" cy="329184"/>
          </a:xfrm>
          <a:prstGeom prst="rect">
            <a:avLst/>
          </a:prstGeom>
          <a:noFill/>
          <a:ln/>
        </p:spPr>
        <p:txBody>
          <a:bodyPr wrap="square" lIns="0" tIns="0" rIns="0" bIns="0" rtlCol="0" anchor="ctr"/>
          <a:lstStyle/>
          <a:p>
            <a:pPr algn="ctr" indent="0" marL="0">
              <a:buNone/>
            </a:pPr>
            <a:r>
              <a:rPr lang="en-US" sz="800" b="1" dirty="0">
                <a:solidFill>
                  <a:srgbClr val="6B7785"/>
                </a:solidFill>
                <a:latin typeface="Arial" pitchFamily="34" charset="0"/>
                <a:ea typeface="Arial" pitchFamily="34" charset="-122"/>
                <a:cs typeface="Arial" pitchFamily="34" charset="-120"/>
              </a:rPr>
              <a:t>Từ chối</a:t>
            </a:r>
            <a:endParaRPr lang="en-US" sz="800" dirty="0"/>
          </a:p>
        </p:txBody>
      </p:sp>
      <p:sp>
        <p:nvSpPr>
          <p:cNvPr id="46" name="Text 42"/>
          <p:cNvSpPr txBox="1"/>
          <p:nvPr/>
        </p:nvSpPr>
        <p:spPr>
          <a:xfrm>
            <a:off x="3520440" y="5239512"/>
            <a:ext cx="1737360" cy="182880"/>
          </a:xfrm>
          <a:prstGeom prst="rect">
            <a:avLst/>
          </a:prstGeom>
          <a:noFill/>
          <a:ln/>
        </p:spPr>
        <p:txBody>
          <a:bodyPr wrap="square" lIns="0" tIns="0" rIns="0" bIns="0" rtlCol="0" anchor="ctr"/>
          <a:lstStyle/>
          <a:p>
            <a:pPr algn="l" indent="0" marL="0">
              <a:buNone/>
            </a:pPr>
            <a:r>
              <a:rPr lang="en-US" sz="630" dirty="0">
                <a:solidFill>
                  <a:srgbClr val="6B7785"/>
                </a:solidFill>
                <a:latin typeface="Arial" pitchFamily="34" charset="0"/>
                <a:ea typeface="Arial" pitchFamily="34" charset="-122"/>
                <a:cs typeface="Arial" pitchFamily="34" charset="-120"/>
              </a:rPr>
              <a:t>Hết hạn sau 10 phút nếu không duyệt</a:t>
            </a:r>
            <a:endParaRPr lang="en-US" sz="630" dirty="0"/>
          </a:p>
        </p:txBody>
      </p:sp>
      <p:sp>
        <p:nvSpPr>
          <p:cNvPr id="47" name="Shape 43"/>
          <p:cNvSpPr/>
          <p:nvPr/>
        </p:nvSpPr>
        <p:spPr>
          <a:xfrm>
            <a:off x="6080760" y="1344168"/>
            <a:ext cx="1920240" cy="246888"/>
          </a:xfrm>
          <a:prstGeom prst="roundRect">
            <a:avLst>
              <a:gd name="adj" fmla="val 37037"/>
            </a:avLst>
          </a:prstGeom>
          <a:solidFill>
            <a:srgbClr val="12324A"/>
          </a:solidFill>
          <a:ln/>
        </p:spPr>
      </p:sp>
      <p:sp>
        <p:nvSpPr>
          <p:cNvPr id="48" name="Text 44"/>
          <p:cNvSpPr txBox="1"/>
          <p:nvPr/>
        </p:nvSpPr>
        <p:spPr>
          <a:xfrm>
            <a:off x="6080760" y="1344168"/>
            <a:ext cx="1920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Phiếu công việc</a:t>
            </a:r>
            <a:endParaRPr lang="en-US" sz="900" dirty="0"/>
          </a:p>
        </p:txBody>
      </p:sp>
      <p:sp>
        <p:nvSpPr>
          <p:cNvPr id="49" name="Shape 45"/>
          <p:cNvSpPr/>
          <p:nvPr/>
        </p:nvSpPr>
        <p:spPr>
          <a:xfrm>
            <a:off x="5852160" y="1691640"/>
            <a:ext cx="2377440" cy="4800600"/>
          </a:xfrm>
          <a:prstGeom prst="roundRect">
            <a:avLst>
              <a:gd name="adj" fmla="val 4615"/>
            </a:avLst>
          </a:prstGeom>
          <a:solidFill>
            <a:srgbClr val="0E1C28"/>
          </a:solidFill>
          <a:ln/>
          <a:effectLst>
            <a:outerShdw sx="100000" sy="100000" kx="0" ky="0" algn="bl" rotWithShape="0" blurRad="50800" dist="19050" dir="5400000">
              <a:srgbClr val="000000">
                <a:alpha val="12000"/>
              </a:srgbClr>
            </a:outerShdw>
          </a:effectLst>
        </p:spPr>
      </p:sp>
      <p:sp>
        <p:nvSpPr>
          <p:cNvPr id="50" name="Shape 46"/>
          <p:cNvSpPr/>
          <p:nvPr/>
        </p:nvSpPr>
        <p:spPr>
          <a:xfrm>
            <a:off x="5943600" y="1783080"/>
            <a:ext cx="2194560" cy="4617720"/>
          </a:xfrm>
          <a:prstGeom prst="roundRect">
            <a:avLst>
              <a:gd name="adj" fmla="val 3750"/>
            </a:avLst>
          </a:prstGeom>
          <a:solidFill>
            <a:srgbClr val="FFFFFF"/>
          </a:solidFill>
          <a:ln/>
        </p:spPr>
      </p:sp>
      <p:sp>
        <p:nvSpPr>
          <p:cNvPr id="51" name="Text 47"/>
          <p:cNvSpPr txBox="1"/>
          <p:nvPr/>
        </p:nvSpPr>
        <p:spPr>
          <a:xfrm>
            <a:off x="6080760" y="1810512"/>
            <a:ext cx="548640" cy="182880"/>
          </a:xfrm>
          <a:prstGeom prst="rect">
            <a:avLst/>
          </a:prstGeom>
          <a:noFill/>
          <a:ln/>
        </p:spPr>
        <p:txBody>
          <a:bodyPr wrap="square" lIns="0" tIns="0" rIns="0" bIns="0" rtlCol="0" anchor="ctr"/>
          <a:lstStyle/>
          <a:p>
            <a:pPr algn="l" indent="0" marL="0">
              <a:buNone/>
            </a:pPr>
            <a:r>
              <a:rPr lang="en-US" sz="700" b="1" dirty="0">
                <a:solidFill>
                  <a:srgbClr val="1A2330"/>
                </a:solidFill>
                <a:latin typeface="Arial" pitchFamily="34" charset="0"/>
                <a:ea typeface="Arial" pitchFamily="34" charset="-122"/>
                <a:cs typeface="Arial" pitchFamily="34" charset="-120"/>
              </a:rPr>
              <a:t>9:41</a:t>
            </a:r>
            <a:endParaRPr lang="en-US" sz="700" dirty="0"/>
          </a:p>
        </p:txBody>
      </p:sp>
      <p:sp>
        <p:nvSpPr>
          <p:cNvPr id="52" name="Text 48"/>
          <p:cNvSpPr txBox="1"/>
          <p:nvPr/>
        </p:nvSpPr>
        <p:spPr>
          <a:xfrm>
            <a:off x="7452360" y="1810512"/>
            <a:ext cx="548640" cy="182880"/>
          </a:xfrm>
          <a:prstGeom prst="rect">
            <a:avLst/>
          </a:prstGeom>
          <a:noFill/>
          <a:ln/>
        </p:spPr>
        <p:txBody>
          <a:bodyPr wrap="square" lIns="0" tIns="0" rIns="0" bIns="0" rtlCol="0" anchor="ctr"/>
          <a:lstStyle/>
          <a:p>
            <a:pPr algn="r" indent="0" marL="0">
              <a:buNone/>
            </a:pPr>
            <a:r>
              <a:rPr lang="en-US" sz="650" dirty="0">
                <a:solidFill>
                  <a:srgbClr val="1A2330"/>
                </a:solidFill>
                <a:latin typeface="Arial" pitchFamily="34" charset="0"/>
                <a:ea typeface="Arial" pitchFamily="34" charset="-122"/>
                <a:cs typeface="Arial" pitchFamily="34" charset="-120"/>
              </a:rPr>
              <a:t>5G ▮▮▮</a:t>
            </a:r>
            <a:endParaRPr lang="en-US" sz="650" dirty="0"/>
          </a:p>
        </p:txBody>
      </p:sp>
      <p:sp>
        <p:nvSpPr>
          <p:cNvPr id="53" name="Shape 49"/>
          <p:cNvSpPr/>
          <p:nvPr/>
        </p:nvSpPr>
        <p:spPr>
          <a:xfrm>
            <a:off x="6720840" y="1837944"/>
            <a:ext cx="640080" cy="128016"/>
          </a:xfrm>
          <a:prstGeom prst="roundRect">
            <a:avLst>
              <a:gd name="adj" fmla="val 50000"/>
            </a:avLst>
          </a:prstGeom>
          <a:solidFill>
            <a:srgbClr val="0E1C28"/>
          </a:solidFill>
          <a:ln/>
        </p:spPr>
      </p:sp>
      <p:sp>
        <p:nvSpPr>
          <p:cNvPr id="54" name="Text 50"/>
          <p:cNvSpPr txBox="1"/>
          <p:nvPr/>
        </p:nvSpPr>
        <p:spPr>
          <a:xfrm>
            <a:off x="6080760" y="2039112"/>
            <a:ext cx="1737360" cy="320040"/>
          </a:xfrm>
          <a:prstGeom prst="rect">
            <a:avLst/>
          </a:prstGeom>
          <a:noFill/>
          <a:ln/>
        </p:spPr>
        <p:txBody>
          <a:bodyPr wrap="square" lIns="0" tIns="0" rIns="0" bIns="0" rtlCol="0" anchor="ctr"/>
          <a:lstStyle/>
          <a:p>
            <a:pPr algn="l" indent="0" marL="0">
              <a:buNone/>
            </a:pPr>
            <a:r>
              <a:rPr lang="en-US" sz="1000" b="1" dirty="0">
                <a:solidFill>
                  <a:srgbClr val="12324A"/>
                </a:solidFill>
                <a:latin typeface="Arial" pitchFamily="34" charset="0"/>
                <a:ea typeface="Arial" pitchFamily="34" charset="-122"/>
                <a:cs typeface="Arial" pitchFamily="34" charset="-120"/>
              </a:rPr>
              <a:t>Việc của tôi</a:t>
            </a:r>
            <a:endParaRPr lang="en-US" sz="1000" dirty="0"/>
          </a:p>
        </p:txBody>
      </p:sp>
      <p:sp>
        <p:nvSpPr>
          <p:cNvPr id="55" name="Shape 51"/>
          <p:cNvSpPr/>
          <p:nvPr/>
        </p:nvSpPr>
        <p:spPr>
          <a:xfrm>
            <a:off x="7635240" y="2084832"/>
            <a:ext cx="365760" cy="256032"/>
          </a:xfrm>
          <a:prstGeom prst="roundRect">
            <a:avLst>
              <a:gd name="adj" fmla="val 21429"/>
            </a:avLst>
          </a:prstGeom>
          <a:solidFill>
            <a:srgbClr val="1B7F79"/>
          </a:solidFill>
          <a:ln/>
        </p:spPr>
      </p:sp>
      <p:pic>
        <p:nvPicPr>
          <p:cNvPr id="56" name="Image 2" descr="preencoded.png">    </p:cNvPr>
          <p:cNvPicPr>
            <a:picLocks noChangeAspect="1"/>
          </p:cNvPicPr>
          <p:nvPr/>
        </p:nvPicPr>
        <p:blipFill>
          <a:blip r:embed="rId3"/>
          <a:stretch>
            <a:fillRect/>
          </a:stretch>
        </p:blipFill>
        <p:spPr>
          <a:xfrm>
            <a:off x="7735824" y="2121408"/>
            <a:ext cx="164592" cy="164592"/>
          </a:xfrm>
          <a:prstGeom prst="rect">
            <a:avLst/>
          </a:prstGeom>
        </p:spPr>
      </p:pic>
      <p:sp>
        <p:nvSpPr>
          <p:cNvPr id="57" name="Shape 52"/>
          <p:cNvSpPr/>
          <p:nvPr/>
        </p:nvSpPr>
        <p:spPr>
          <a:xfrm>
            <a:off x="6053328" y="2450592"/>
            <a:ext cx="1975104" cy="658368"/>
          </a:xfrm>
          <a:prstGeom prst="roundRect">
            <a:avLst>
              <a:gd name="adj" fmla="val 8333"/>
            </a:avLst>
          </a:prstGeom>
          <a:solidFill>
            <a:srgbClr val="FFFFFF"/>
          </a:solidFill>
          <a:ln w="6350">
            <a:solidFill>
              <a:srgbClr val="D5DCE3"/>
            </a:solidFill>
            <a:prstDash val="solid"/>
          </a:ln>
        </p:spPr>
      </p:sp>
      <p:sp>
        <p:nvSpPr>
          <p:cNvPr id="58" name="Shape 53"/>
          <p:cNvSpPr/>
          <p:nvPr/>
        </p:nvSpPr>
        <p:spPr>
          <a:xfrm>
            <a:off x="6144768" y="2523744"/>
            <a:ext cx="365760" cy="155448"/>
          </a:xfrm>
          <a:prstGeom prst="roundRect">
            <a:avLst>
              <a:gd name="adj" fmla="val 58824"/>
            </a:avLst>
          </a:prstGeom>
          <a:solidFill>
            <a:srgbClr val="E8833A"/>
          </a:solidFill>
          <a:ln/>
        </p:spPr>
      </p:sp>
      <p:sp>
        <p:nvSpPr>
          <p:cNvPr id="59" name="Text 54"/>
          <p:cNvSpPr txBox="1"/>
          <p:nvPr/>
        </p:nvSpPr>
        <p:spPr>
          <a:xfrm>
            <a:off x="6144768" y="2523744"/>
            <a:ext cx="365760" cy="15544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CAO</a:t>
            </a:r>
            <a:endParaRPr lang="en-US" sz="600" dirty="0"/>
          </a:p>
        </p:txBody>
      </p:sp>
      <p:sp>
        <p:nvSpPr>
          <p:cNvPr id="60" name="Text 55"/>
          <p:cNvSpPr txBox="1"/>
          <p:nvPr/>
        </p:nvSpPr>
        <p:spPr>
          <a:xfrm>
            <a:off x="6565392" y="2505456"/>
            <a:ext cx="548640"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#1047</a:t>
            </a:r>
            <a:endParaRPr lang="en-US" sz="680" dirty="0"/>
          </a:p>
        </p:txBody>
      </p:sp>
      <p:sp>
        <p:nvSpPr>
          <p:cNvPr id="61" name="Text 56"/>
          <p:cNvSpPr txBox="1"/>
          <p:nvPr/>
        </p:nvSpPr>
        <p:spPr>
          <a:xfrm>
            <a:off x="6144768" y="2706624"/>
            <a:ext cx="178308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Kiểm tra van một chiều BTA-02</a:t>
            </a:r>
            <a:endParaRPr lang="en-US" sz="780" dirty="0"/>
          </a:p>
        </p:txBody>
      </p:sp>
      <p:sp>
        <p:nvSpPr>
          <p:cNvPr id="62" name="Text 57"/>
          <p:cNvSpPr txBox="1"/>
          <p:nvPr/>
        </p:nvSpPr>
        <p:spPr>
          <a:xfrm>
            <a:off x="6144768" y="2889504"/>
            <a:ext cx="1783080" cy="182880"/>
          </a:xfrm>
          <a:prstGeom prst="rect">
            <a:avLst/>
          </a:prstGeom>
          <a:noFill/>
          <a:ln/>
        </p:spPr>
        <p:txBody>
          <a:bodyPr wrap="square" lIns="0" tIns="0" rIns="0" bIns="0" rtlCol="0" anchor="ctr"/>
          <a:lstStyle/>
          <a:p>
            <a:pPr algn="l" indent="0" marL="0">
              <a:buNone/>
            </a:pPr>
            <a:r>
              <a:rPr lang="en-US" sz="660" dirty="0">
                <a:solidFill>
                  <a:srgbClr val="6B7785"/>
                </a:solidFill>
                <a:latin typeface="Arial" pitchFamily="34" charset="0"/>
                <a:ea typeface="Arial" pitchFamily="34" charset="-122"/>
                <a:cs typeface="Arial" pitchFamily="34" charset="-120"/>
              </a:rPr>
              <a:t>Trạm bơm B2 · hạn 27/10</a:t>
            </a:r>
            <a:endParaRPr lang="en-US" sz="660" dirty="0"/>
          </a:p>
        </p:txBody>
      </p:sp>
      <p:sp>
        <p:nvSpPr>
          <p:cNvPr id="63" name="Shape 58"/>
          <p:cNvSpPr/>
          <p:nvPr/>
        </p:nvSpPr>
        <p:spPr>
          <a:xfrm>
            <a:off x="6053328" y="3200400"/>
            <a:ext cx="1975104" cy="658368"/>
          </a:xfrm>
          <a:prstGeom prst="roundRect">
            <a:avLst>
              <a:gd name="adj" fmla="val 8333"/>
            </a:avLst>
          </a:prstGeom>
          <a:solidFill>
            <a:srgbClr val="FFFFFF"/>
          </a:solidFill>
          <a:ln w="6350">
            <a:solidFill>
              <a:srgbClr val="D5DCE3"/>
            </a:solidFill>
            <a:prstDash val="solid"/>
          </a:ln>
        </p:spPr>
      </p:sp>
      <p:sp>
        <p:nvSpPr>
          <p:cNvPr id="64" name="Shape 59"/>
          <p:cNvSpPr/>
          <p:nvPr/>
        </p:nvSpPr>
        <p:spPr>
          <a:xfrm>
            <a:off x="6144768" y="3273552"/>
            <a:ext cx="365760" cy="155448"/>
          </a:xfrm>
          <a:prstGeom prst="roundRect">
            <a:avLst>
              <a:gd name="adj" fmla="val 58824"/>
            </a:avLst>
          </a:prstGeom>
          <a:solidFill>
            <a:srgbClr val="D9A21B"/>
          </a:solidFill>
          <a:ln/>
        </p:spPr>
      </p:sp>
      <p:sp>
        <p:nvSpPr>
          <p:cNvPr id="65" name="Text 60"/>
          <p:cNvSpPr txBox="1"/>
          <p:nvPr/>
        </p:nvSpPr>
        <p:spPr>
          <a:xfrm>
            <a:off x="6144768" y="3273552"/>
            <a:ext cx="365760" cy="15544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TB</a:t>
            </a:r>
            <a:endParaRPr lang="en-US" sz="600" dirty="0"/>
          </a:p>
        </p:txBody>
      </p:sp>
      <p:sp>
        <p:nvSpPr>
          <p:cNvPr id="66" name="Text 61"/>
          <p:cNvSpPr txBox="1"/>
          <p:nvPr/>
        </p:nvSpPr>
        <p:spPr>
          <a:xfrm>
            <a:off x="6565392" y="3255264"/>
            <a:ext cx="548640"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#1043</a:t>
            </a:r>
            <a:endParaRPr lang="en-US" sz="680" dirty="0"/>
          </a:p>
        </p:txBody>
      </p:sp>
      <p:sp>
        <p:nvSpPr>
          <p:cNvPr id="67" name="Text 62"/>
          <p:cNvSpPr txBox="1"/>
          <p:nvPr/>
        </p:nvSpPr>
        <p:spPr>
          <a:xfrm>
            <a:off x="6144768" y="3456432"/>
            <a:ext cx="178308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Vệ sinh lọc FAF-02</a:t>
            </a:r>
            <a:endParaRPr lang="en-US" sz="780" dirty="0"/>
          </a:p>
        </p:txBody>
      </p:sp>
      <p:sp>
        <p:nvSpPr>
          <p:cNvPr id="68" name="Text 63"/>
          <p:cNvSpPr txBox="1"/>
          <p:nvPr/>
        </p:nvSpPr>
        <p:spPr>
          <a:xfrm>
            <a:off x="6144768" y="3639312"/>
            <a:ext cx="1783080" cy="182880"/>
          </a:xfrm>
          <a:prstGeom prst="rect">
            <a:avLst/>
          </a:prstGeom>
          <a:noFill/>
          <a:ln/>
        </p:spPr>
        <p:txBody>
          <a:bodyPr wrap="square" lIns="0" tIns="0" rIns="0" bIns="0" rtlCol="0" anchor="ctr"/>
          <a:lstStyle/>
          <a:p>
            <a:pPr algn="l" indent="0" marL="0">
              <a:buNone/>
            </a:pPr>
            <a:r>
              <a:rPr lang="en-US" sz="660" dirty="0">
                <a:solidFill>
                  <a:srgbClr val="6B7785"/>
                </a:solidFill>
                <a:latin typeface="Arial" pitchFamily="34" charset="0"/>
                <a:ea typeface="Arial" pitchFamily="34" charset="-122"/>
                <a:cs typeface="Arial" pitchFamily="34" charset="-120"/>
              </a:rPr>
              <a:t>Tầng mái · hạn 22/10</a:t>
            </a:r>
            <a:endParaRPr lang="en-US" sz="660" dirty="0"/>
          </a:p>
        </p:txBody>
      </p:sp>
      <p:sp>
        <p:nvSpPr>
          <p:cNvPr id="69" name="Shape 64"/>
          <p:cNvSpPr/>
          <p:nvPr/>
        </p:nvSpPr>
        <p:spPr>
          <a:xfrm>
            <a:off x="6053328" y="3950208"/>
            <a:ext cx="1975104" cy="658368"/>
          </a:xfrm>
          <a:prstGeom prst="roundRect">
            <a:avLst>
              <a:gd name="adj" fmla="val 8333"/>
            </a:avLst>
          </a:prstGeom>
          <a:solidFill>
            <a:srgbClr val="FFFFFF"/>
          </a:solidFill>
          <a:ln w="6350">
            <a:solidFill>
              <a:srgbClr val="D5DCE3"/>
            </a:solidFill>
            <a:prstDash val="solid"/>
          </a:ln>
        </p:spPr>
      </p:sp>
      <p:sp>
        <p:nvSpPr>
          <p:cNvPr id="70" name="Shape 65"/>
          <p:cNvSpPr/>
          <p:nvPr/>
        </p:nvSpPr>
        <p:spPr>
          <a:xfrm>
            <a:off x="6144768" y="4023360"/>
            <a:ext cx="365760" cy="155448"/>
          </a:xfrm>
          <a:prstGeom prst="roundRect">
            <a:avLst>
              <a:gd name="adj" fmla="val 58824"/>
            </a:avLst>
          </a:prstGeom>
          <a:solidFill>
            <a:srgbClr val="D9A21B"/>
          </a:solidFill>
          <a:ln/>
        </p:spPr>
      </p:sp>
      <p:sp>
        <p:nvSpPr>
          <p:cNvPr id="71" name="Text 66"/>
          <p:cNvSpPr txBox="1"/>
          <p:nvPr/>
        </p:nvSpPr>
        <p:spPr>
          <a:xfrm>
            <a:off x="6144768" y="4023360"/>
            <a:ext cx="365760" cy="15544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TB</a:t>
            </a:r>
            <a:endParaRPr lang="en-US" sz="600" dirty="0"/>
          </a:p>
        </p:txBody>
      </p:sp>
      <p:sp>
        <p:nvSpPr>
          <p:cNvPr id="72" name="Text 67"/>
          <p:cNvSpPr txBox="1"/>
          <p:nvPr/>
        </p:nvSpPr>
        <p:spPr>
          <a:xfrm>
            <a:off x="6565392" y="4005072"/>
            <a:ext cx="548640"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#1039</a:t>
            </a:r>
            <a:endParaRPr lang="en-US" sz="680" dirty="0"/>
          </a:p>
        </p:txBody>
      </p:sp>
      <p:sp>
        <p:nvSpPr>
          <p:cNvPr id="73" name="Text 68"/>
          <p:cNvSpPr txBox="1"/>
          <p:nvPr/>
        </p:nvSpPr>
        <p:spPr>
          <a:xfrm>
            <a:off x="6144768" y="4206240"/>
            <a:ext cx="178308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Thay pin đồng hồ nước T5</a:t>
            </a:r>
            <a:endParaRPr lang="en-US" sz="780" dirty="0"/>
          </a:p>
        </p:txBody>
      </p:sp>
      <p:sp>
        <p:nvSpPr>
          <p:cNvPr id="74" name="Text 69"/>
          <p:cNvSpPr txBox="1"/>
          <p:nvPr/>
        </p:nvSpPr>
        <p:spPr>
          <a:xfrm>
            <a:off x="6144768" y="4389120"/>
            <a:ext cx="1783080" cy="182880"/>
          </a:xfrm>
          <a:prstGeom prst="rect">
            <a:avLst/>
          </a:prstGeom>
          <a:noFill/>
          <a:ln/>
        </p:spPr>
        <p:txBody>
          <a:bodyPr wrap="square" lIns="0" tIns="0" rIns="0" bIns="0" rtlCol="0" anchor="ctr"/>
          <a:lstStyle/>
          <a:p>
            <a:pPr algn="l" indent="0" marL="0">
              <a:buNone/>
            </a:pPr>
            <a:r>
              <a:rPr lang="en-US" sz="660" dirty="0">
                <a:solidFill>
                  <a:srgbClr val="6B7785"/>
                </a:solidFill>
                <a:latin typeface="Arial" pitchFamily="34" charset="0"/>
                <a:ea typeface="Arial" pitchFamily="34" charset="-122"/>
                <a:cs typeface="Arial" pitchFamily="34" charset="-120"/>
              </a:rPr>
              <a:t>Hành lang T5 · đang làm</a:t>
            </a:r>
            <a:endParaRPr lang="en-US" sz="660" dirty="0"/>
          </a:p>
        </p:txBody>
      </p:sp>
      <p:sp>
        <p:nvSpPr>
          <p:cNvPr id="75" name="Shape 70"/>
          <p:cNvSpPr/>
          <p:nvPr/>
        </p:nvSpPr>
        <p:spPr>
          <a:xfrm>
            <a:off x="6053328" y="4700016"/>
            <a:ext cx="1975104" cy="658368"/>
          </a:xfrm>
          <a:prstGeom prst="roundRect">
            <a:avLst>
              <a:gd name="adj" fmla="val 8333"/>
            </a:avLst>
          </a:prstGeom>
          <a:solidFill>
            <a:srgbClr val="FFFFFF"/>
          </a:solidFill>
          <a:ln w="6350">
            <a:solidFill>
              <a:srgbClr val="D5DCE3"/>
            </a:solidFill>
            <a:prstDash val="solid"/>
          </a:ln>
        </p:spPr>
      </p:sp>
      <p:sp>
        <p:nvSpPr>
          <p:cNvPr id="76" name="Shape 71"/>
          <p:cNvSpPr/>
          <p:nvPr/>
        </p:nvSpPr>
        <p:spPr>
          <a:xfrm>
            <a:off x="6144768" y="4773168"/>
            <a:ext cx="365760" cy="155448"/>
          </a:xfrm>
          <a:prstGeom prst="roundRect">
            <a:avLst>
              <a:gd name="adj" fmla="val 58824"/>
            </a:avLst>
          </a:prstGeom>
          <a:solidFill>
            <a:srgbClr val="3B82C4"/>
          </a:solidFill>
          <a:ln/>
        </p:spPr>
      </p:sp>
      <p:sp>
        <p:nvSpPr>
          <p:cNvPr id="77" name="Text 72"/>
          <p:cNvSpPr txBox="1"/>
          <p:nvPr/>
        </p:nvSpPr>
        <p:spPr>
          <a:xfrm>
            <a:off x="6144768" y="4773168"/>
            <a:ext cx="365760" cy="15544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TIN</a:t>
            </a:r>
            <a:endParaRPr lang="en-US" sz="600" dirty="0"/>
          </a:p>
        </p:txBody>
      </p:sp>
      <p:sp>
        <p:nvSpPr>
          <p:cNvPr id="78" name="Text 73"/>
          <p:cNvSpPr txBox="1"/>
          <p:nvPr/>
        </p:nvSpPr>
        <p:spPr>
          <a:xfrm>
            <a:off x="6565392" y="4754880"/>
            <a:ext cx="548640" cy="182880"/>
          </a:xfrm>
          <a:prstGeom prst="rect">
            <a:avLst/>
          </a:prstGeom>
          <a:noFill/>
          <a:ln/>
        </p:spPr>
        <p:txBody>
          <a:bodyPr wrap="square" lIns="0" tIns="0" rIns="0" bIns="0" rtlCol="0" anchor="ctr"/>
          <a:lstStyle/>
          <a:p>
            <a:pPr algn="l" indent="0" marL="0">
              <a:buNone/>
            </a:pPr>
            <a:r>
              <a:rPr lang="en-US" sz="680" dirty="0">
                <a:solidFill>
                  <a:srgbClr val="6B7785"/>
                </a:solidFill>
                <a:latin typeface="Arial" pitchFamily="34" charset="0"/>
                <a:ea typeface="Arial" pitchFamily="34" charset="-122"/>
                <a:cs typeface="Arial" pitchFamily="34" charset="-120"/>
              </a:rPr>
              <a:t>#1031</a:t>
            </a:r>
            <a:endParaRPr lang="en-US" sz="680" dirty="0"/>
          </a:p>
        </p:txBody>
      </p:sp>
      <p:sp>
        <p:nvSpPr>
          <p:cNvPr id="79" name="Text 74"/>
          <p:cNvSpPr txBox="1"/>
          <p:nvPr/>
        </p:nvSpPr>
        <p:spPr>
          <a:xfrm>
            <a:off x="6144768" y="4956048"/>
            <a:ext cx="1783080" cy="201168"/>
          </a:xfrm>
          <a:prstGeom prst="rect">
            <a:avLst/>
          </a:prstGeom>
          <a:noFill/>
          <a:ln/>
        </p:spPr>
        <p:txBody>
          <a:bodyPr wrap="square" lIns="0" tIns="0" rIns="0" bIns="0" rtlCol="0" anchor="ctr"/>
          <a:lstStyle/>
          <a:p>
            <a:pPr algn="l" indent="0" marL="0">
              <a:buNone/>
            </a:pPr>
            <a:r>
              <a:rPr lang="en-US" sz="780" b="1" dirty="0">
                <a:solidFill>
                  <a:srgbClr val="1A2330"/>
                </a:solidFill>
                <a:latin typeface="Arial" pitchFamily="34" charset="0"/>
                <a:ea typeface="Arial" pitchFamily="34" charset="-122"/>
                <a:cs typeface="Arial" pitchFamily="34" charset="-120"/>
              </a:rPr>
              <a:t>Kiểm tra trạm sạc 03</a:t>
            </a:r>
            <a:endParaRPr lang="en-US" sz="780" dirty="0"/>
          </a:p>
        </p:txBody>
      </p:sp>
      <p:sp>
        <p:nvSpPr>
          <p:cNvPr id="80" name="Text 75"/>
          <p:cNvSpPr txBox="1"/>
          <p:nvPr/>
        </p:nvSpPr>
        <p:spPr>
          <a:xfrm>
            <a:off x="6144768" y="5138928"/>
            <a:ext cx="1783080" cy="182880"/>
          </a:xfrm>
          <a:prstGeom prst="rect">
            <a:avLst/>
          </a:prstGeom>
          <a:noFill/>
          <a:ln/>
        </p:spPr>
        <p:txBody>
          <a:bodyPr wrap="square" lIns="0" tIns="0" rIns="0" bIns="0" rtlCol="0" anchor="ctr"/>
          <a:lstStyle/>
          <a:p>
            <a:pPr algn="l" indent="0" marL="0">
              <a:buNone/>
            </a:pPr>
            <a:r>
              <a:rPr lang="en-US" sz="660" dirty="0">
                <a:solidFill>
                  <a:srgbClr val="6B7785"/>
                </a:solidFill>
                <a:latin typeface="Arial" pitchFamily="34" charset="0"/>
                <a:ea typeface="Arial" pitchFamily="34" charset="-122"/>
                <a:cs typeface="Arial" pitchFamily="34" charset="-120"/>
              </a:rPr>
              <a:t>Hầm B2 · chờ nhà thầu</a:t>
            </a:r>
            <a:endParaRPr lang="en-US" sz="660" dirty="0"/>
          </a:p>
        </p:txBody>
      </p:sp>
      <p:sp>
        <p:nvSpPr>
          <p:cNvPr id="81" name="Text 76"/>
          <p:cNvSpPr txBox="1"/>
          <p:nvPr/>
        </p:nvSpPr>
        <p:spPr>
          <a:xfrm>
            <a:off x="6080760" y="5468112"/>
            <a:ext cx="1920240" cy="320040"/>
          </a:xfrm>
          <a:prstGeom prst="rect">
            <a:avLst/>
          </a:prstGeom>
          <a:noFill/>
          <a:ln/>
        </p:spPr>
        <p:txBody>
          <a:bodyPr wrap="square" lIns="0" tIns="0" rIns="0" bIns="0" rtlCol="0" anchor="t"/>
          <a:lstStyle/>
          <a:p>
            <a:pPr algn="l" indent="0" marL="0">
              <a:buNone/>
            </a:pPr>
            <a:r>
              <a:rPr lang="en-US" sz="660" dirty="0">
                <a:solidFill>
                  <a:srgbClr val="6B7785"/>
                </a:solidFill>
                <a:latin typeface="Arial" pitchFamily="34" charset="0"/>
                <a:ea typeface="Arial" pitchFamily="34" charset="-122"/>
                <a:cs typeface="Arial" pitchFamily="34" charset="-120"/>
              </a:rPr>
              <a:t>Quét QR trên thiết bị để mở lịch sử và phiếu liên quan</a:t>
            </a:r>
            <a:endParaRPr lang="en-US" sz="660" dirty="0"/>
          </a:p>
        </p:txBody>
      </p:sp>
      <p:sp>
        <p:nvSpPr>
          <p:cNvPr id="82" name="Shape 77"/>
          <p:cNvSpPr/>
          <p:nvPr/>
        </p:nvSpPr>
        <p:spPr>
          <a:xfrm>
            <a:off x="2697480" y="4297680"/>
            <a:ext cx="274320" cy="274320"/>
          </a:xfrm>
          <a:prstGeom prst="ellipse">
            <a:avLst/>
          </a:prstGeom>
          <a:solidFill>
            <a:srgbClr val="E8833A"/>
          </a:solidFill>
          <a:ln w="19050">
            <a:solidFill>
              <a:srgbClr val="FFFFFF"/>
            </a:solidFill>
            <a:prstDash val="solid"/>
          </a:ln>
        </p:spPr>
      </p:sp>
      <p:sp>
        <p:nvSpPr>
          <p:cNvPr id="83" name="Text 78"/>
          <p:cNvSpPr txBox="1"/>
          <p:nvPr/>
        </p:nvSpPr>
        <p:spPr>
          <a:xfrm>
            <a:off x="2697480" y="42976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4" name="Shape 79"/>
          <p:cNvSpPr/>
          <p:nvPr/>
        </p:nvSpPr>
        <p:spPr>
          <a:xfrm>
            <a:off x="5349240" y="2926080"/>
            <a:ext cx="274320" cy="274320"/>
          </a:xfrm>
          <a:prstGeom prst="ellipse">
            <a:avLst/>
          </a:prstGeom>
          <a:solidFill>
            <a:srgbClr val="E8833A"/>
          </a:solidFill>
          <a:ln w="19050">
            <a:solidFill>
              <a:srgbClr val="FFFFFF"/>
            </a:solidFill>
            <a:prstDash val="solid"/>
          </a:ln>
        </p:spPr>
      </p:sp>
      <p:sp>
        <p:nvSpPr>
          <p:cNvPr id="85" name="Text 80"/>
          <p:cNvSpPr txBox="1"/>
          <p:nvPr/>
        </p:nvSpPr>
        <p:spPr>
          <a:xfrm>
            <a:off x="5349240" y="2926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86" name="Shape 81"/>
          <p:cNvSpPr/>
          <p:nvPr/>
        </p:nvSpPr>
        <p:spPr>
          <a:xfrm>
            <a:off x="8001000" y="2240280"/>
            <a:ext cx="274320" cy="274320"/>
          </a:xfrm>
          <a:prstGeom prst="ellipse">
            <a:avLst/>
          </a:prstGeom>
          <a:solidFill>
            <a:srgbClr val="E8833A"/>
          </a:solidFill>
          <a:ln w="19050">
            <a:solidFill>
              <a:srgbClr val="FFFFFF"/>
            </a:solidFill>
            <a:prstDash val="solid"/>
          </a:ln>
        </p:spPr>
      </p:sp>
      <p:sp>
        <p:nvSpPr>
          <p:cNvPr id="87" name="Text 82"/>
          <p:cNvSpPr txBox="1"/>
          <p:nvPr/>
        </p:nvSpPr>
        <p:spPr>
          <a:xfrm>
            <a:off x="8001000" y="2240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88" name="Shape 83"/>
          <p:cNvSpPr/>
          <p:nvPr/>
        </p:nvSpPr>
        <p:spPr>
          <a:xfrm>
            <a:off x="8549640" y="1325880"/>
            <a:ext cx="3200400" cy="5120640"/>
          </a:xfrm>
          <a:prstGeom prst="roundRect">
            <a:avLst>
              <a:gd name="adj" fmla="val 1429"/>
            </a:avLst>
          </a:prstGeom>
          <a:solidFill>
            <a:srgbClr val="E8F3F2"/>
          </a:solidFill>
          <a:ln/>
        </p:spPr>
      </p:sp>
      <p:sp>
        <p:nvSpPr>
          <p:cNvPr id="89" name="Text 84"/>
          <p:cNvSpPr txBox="1"/>
          <p:nvPr/>
        </p:nvSpPr>
        <p:spPr>
          <a:xfrm>
            <a:off x="8732520" y="1435608"/>
            <a:ext cx="2834640" cy="320040"/>
          </a:xfrm>
          <a:prstGeom prst="rect">
            <a:avLst/>
          </a:prstGeom>
          <a:noFill/>
          <a:ln/>
        </p:spPr>
        <p:txBody>
          <a:bodyPr wrap="square" lIns="0" tIns="0" rIns="0" bIns="0" rtlCol="0" anchor="ctr"/>
          <a:lstStyle/>
          <a:p>
            <a:pPr algn="l" indent="0" marL="0">
              <a:buNone/>
            </a:pPr>
            <a:r>
              <a:rPr lang="en-US" sz="1300" b="1" dirty="0">
                <a:solidFill>
                  <a:srgbClr val="12324A"/>
                </a:solidFill>
                <a:latin typeface="Arial" pitchFamily="34" charset="0"/>
                <a:ea typeface="Arial" pitchFamily="34" charset="-122"/>
                <a:cs typeface="Arial" pitchFamily="34" charset="-120"/>
              </a:rPr>
              <a:t>Best practice áp dụng</a:t>
            </a:r>
            <a:endParaRPr lang="en-US" sz="1300" dirty="0"/>
          </a:p>
        </p:txBody>
      </p:sp>
      <p:sp>
        <p:nvSpPr>
          <p:cNvPr id="90" name="Shape 85"/>
          <p:cNvSpPr/>
          <p:nvPr/>
        </p:nvSpPr>
        <p:spPr>
          <a:xfrm>
            <a:off x="8732520" y="1892808"/>
            <a:ext cx="274320" cy="274320"/>
          </a:xfrm>
          <a:prstGeom prst="ellipse">
            <a:avLst/>
          </a:prstGeom>
          <a:solidFill>
            <a:srgbClr val="E8833A"/>
          </a:solidFill>
          <a:ln w="19050">
            <a:solidFill>
              <a:srgbClr val="FFFFFF"/>
            </a:solidFill>
            <a:prstDash val="solid"/>
          </a:ln>
        </p:spPr>
      </p:sp>
      <p:sp>
        <p:nvSpPr>
          <p:cNvPr id="91" name="Text 86"/>
          <p:cNvSpPr txBox="1"/>
          <p:nvPr/>
        </p:nvSpPr>
        <p:spPr>
          <a:xfrm>
            <a:off x="8732520" y="1892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2" name="Text 87"/>
          <p:cNvSpPr txBox="1"/>
          <p:nvPr/>
        </p:nvSpPr>
        <p:spPr>
          <a:xfrm>
            <a:off x="9098280" y="187452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Một người nhận, mọi người biết</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Nút “Tôi nhận xử lý” tránh hai người cùng đi hoặc không ai đi</a:t>
            </a:r>
            <a:endParaRPr lang="en-US" sz="1050" dirty="0"/>
          </a:p>
        </p:txBody>
      </p:sp>
      <p:sp>
        <p:nvSpPr>
          <p:cNvPr id="93" name="Shape 88"/>
          <p:cNvSpPr/>
          <p:nvPr/>
        </p:nvSpPr>
        <p:spPr>
          <a:xfrm>
            <a:off x="8732520" y="3386328"/>
            <a:ext cx="274320" cy="274320"/>
          </a:xfrm>
          <a:prstGeom prst="ellipse">
            <a:avLst/>
          </a:prstGeom>
          <a:solidFill>
            <a:srgbClr val="E8833A"/>
          </a:solidFill>
          <a:ln w="19050">
            <a:solidFill>
              <a:srgbClr val="FFFFFF"/>
            </a:solidFill>
            <a:prstDash val="solid"/>
          </a:ln>
        </p:spPr>
      </p:sp>
      <p:sp>
        <p:nvSpPr>
          <p:cNvPr id="94" name="Text 89"/>
          <p:cNvSpPr txBox="1"/>
          <p:nvPr/>
        </p:nvSpPr>
        <p:spPr>
          <a:xfrm>
            <a:off x="8732520" y="33863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95" name="Text 90"/>
          <p:cNvSpPr txBox="1"/>
          <p:nvPr/>
        </p:nvSpPr>
        <p:spPr>
          <a:xfrm>
            <a:off x="9098280" y="336804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Duyệt có thời hạn và giới hạn</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Đề xuất hết hạn nếu không duyệt; dải giá trị và thiết bị bị loại trừ hiển thị rõ</a:t>
            </a:r>
            <a:endParaRPr lang="en-US" sz="1050" dirty="0"/>
          </a:p>
        </p:txBody>
      </p:sp>
      <p:sp>
        <p:nvSpPr>
          <p:cNvPr id="96" name="Shape 91"/>
          <p:cNvSpPr/>
          <p:nvPr/>
        </p:nvSpPr>
        <p:spPr>
          <a:xfrm>
            <a:off x="8732520" y="4879848"/>
            <a:ext cx="274320" cy="274320"/>
          </a:xfrm>
          <a:prstGeom prst="ellipse">
            <a:avLst/>
          </a:prstGeom>
          <a:solidFill>
            <a:srgbClr val="E8833A"/>
          </a:solidFill>
          <a:ln w="19050">
            <a:solidFill>
              <a:srgbClr val="FFFFFF"/>
            </a:solidFill>
            <a:prstDash val="solid"/>
          </a:ln>
        </p:spPr>
      </p:sp>
      <p:sp>
        <p:nvSpPr>
          <p:cNvPr id="97" name="Text 92"/>
          <p:cNvSpPr txBox="1"/>
          <p:nvPr/>
        </p:nvSpPr>
        <p:spPr>
          <a:xfrm>
            <a:off x="8732520" y="48798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98" name="Text 93"/>
          <p:cNvSpPr txBox="1"/>
          <p:nvPr/>
        </p:nvSpPr>
        <p:spPr>
          <a:xfrm>
            <a:off x="9098280" y="4861560"/>
            <a:ext cx="2514600" cy="1420368"/>
          </a:xfrm>
          <a:prstGeom prst="rect">
            <a:avLst/>
          </a:prstGeom>
          <a:noFill/>
          <a:ln/>
        </p:spPr>
        <p:txBody>
          <a:bodyPr wrap="square" lIns="0" tIns="0" rIns="0" bIns="0" rtlCol="0" anchor="t"/>
          <a:lstStyle/>
          <a:p>
            <a:pPr indent="0" marL="0">
              <a:spcAft>
                <a:spcPts val="200"/>
              </a:spcAft>
              <a:buNone/>
            </a:pPr>
            <a:r>
              <a:rPr lang="en-US" sz="1050" b="1" dirty="0">
                <a:solidFill>
                  <a:srgbClr val="12324A"/>
                </a:solidFill>
                <a:latin typeface="Arial" pitchFamily="34" charset="0"/>
                <a:ea typeface="Arial" pitchFamily="34" charset="-122"/>
                <a:cs typeface="Arial" pitchFamily="34" charset="-120"/>
              </a:rPr>
              <a:t>QR thiết bị nối hiện trường với dữ liệu</a:t>
            </a:r>
            <a:endParaRPr lang="en-US" sz="1050" dirty="0"/>
          </a:p>
          <a:p>
            <a:pPr indent="0" marL="0">
              <a:spcAft>
                <a:spcPts val="200"/>
              </a:spcAft>
              <a:buNone/>
            </a:pPr>
            <a:r>
              <a:rPr lang="en-US" sz="1050" dirty="0">
                <a:solidFill>
                  <a:srgbClr val="3A4654"/>
                </a:solidFill>
                <a:latin typeface="Arial" pitchFamily="34" charset="0"/>
                <a:ea typeface="Arial" pitchFamily="34" charset="-122"/>
                <a:cs typeface="Arial" pitchFamily="34" charset="-120"/>
              </a:rPr>
              <a:t>Kỹ thuật quét mã trên bơm, quạt để xem lịch sử, không phải tìm trên máy tính</a:t>
            </a:r>
            <a:endParaRPr lang="en-US" sz="105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Hai luồng nghiệp vụ xuyên suốt các màn hình</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Mỗi luồng đi qua nhiều hệ con; prototype kiểm tra trải nghiệm trọn vẹn, không từng màn hình riêng lẻ</a:t>
            </a:r>
            <a:endParaRPr lang="en-US" sz="1300" dirty="0"/>
          </a:p>
        </p:txBody>
      </p:sp>
      <p:sp>
        <p:nvSpPr>
          <p:cNvPr id="4" name="Text 2"/>
          <p:cNvSpPr txBox="1"/>
          <p:nvPr/>
        </p:nvSpPr>
        <p:spPr>
          <a:xfrm>
            <a:off x="457200" y="1417320"/>
            <a:ext cx="5486400" cy="365760"/>
          </a:xfrm>
          <a:prstGeom prst="rect">
            <a:avLst/>
          </a:prstGeom>
          <a:noFill/>
          <a:ln/>
        </p:spPr>
        <p:txBody>
          <a:bodyPr wrap="square" lIns="0" tIns="0" rIns="0" bIns="0" rtlCol="0" anchor="ctr"/>
          <a:lstStyle/>
          <a:p>
            <a:pPr algn="l" indent="0" marL="0">
              <a:buNone/>
            </a:pPr>
            <a:r>
              <a:rPr lang="en-US" sz="1600" b="1" dirty="0">
                <a:solidFill>
                  <a:srgbClr val="12324A"/>
                </a:solidFill>
                <a:latin typeface="Arial" pitchFamily="34" charset="0"/>
                <a:ea typeface="Arial" pitchFamily="34" charset="-122"/>
                <a:cs typeface="Arial" pitchFamily="34" charset="-120"/>
              </a:rPr>
              <a:t>K2 · Khách của cư dân</a:t>
            </a:r>
            <a:endParaRPr lang="en-US" sz="1600" dirty="0"/>
          </a:p>
        </p:txBody>
      </p:sp>
      <p:sp>
        <p:nvSpPr>
          <p:cNvPr id="5" name="Shape 3"/>
          <p:cNvSpPr/>
          <p:nvPr/>
        </p:nvSpPr>
        <p:spPr>
          <a:xfrm>
            <a:off x="457200" y="1874520"/>
            <a:ext cx="1691640" cy="1417320"/>
          </a:xfrm>
          <a:prstGeom prst="roundRect">
            <a:avLst>
              <a:gd name="adj" fmla="val 3871"/>
            </a:avLst>
          </a:prstGeom>
          <a:solidFill>
            <a:srgbClr val="FFFFFF"/>
          </a:solidFill>
          <a:ln w="6350">
            <a:solidFill>
              <a:srgbClr val="D5DCE3"/>
            </a:solidFill>
            <a:prstDash val="solid"/>
          </a:ln>
        </p:spPr>
      </p:sp>
      <p:sp>
        <p:nvSpPr>
          <p:cNvPr id="6" name="Shape 4"/>
          <p:cNvSpPr/>
          <p:nvPr/>
        </p:nvSpPr>
        <p:spPr>
          <a:xfrm>
            <a:off x="1028700" y="1984248"/>
            <a:ext cx="548640" cy="548640"/>
          </a:xfrm>
          <a:prstGeom prst="ellipse">
            <a:avLst/>
          </a:prstGeom>
          <a:solidFill>
            <a:srgbClr val="1B7F79"/>
          </a:solidFill>
          <a:ln/>
        </p:spPr>
      </p:sp>
      <p:pic>
        <p:nvPicPr>
          <p:cNvPr id="7" name="Image 0" descr="preencoded.png">    </p:cNvPr>
          <p:cNvPicPr>
            <a:picLocks noChangeAspect="1"/>
          </p:cNvPicPr>
          <p:nvPr/>
        </p:nvPicPr>
        <p:blipFill>
          <a:blip r:embed="rId1"/>
          <a:stretch>
            <a:fillRect/>
          </a:stretch>
        </p:blipFill>
        <p:spPr>
          <a:xfrm>
            <a:off x="1156716" y="2112264"/>
            <a:ext cx="292608" cy="292608"/>
          </a:xfrm>
          <a:prstGeom prst="rect">
            <a:avLst/>
          </a:prstGeom>
        </p:spPr>
      </p:pic>
      <p:sp>
        <p:nvSpPr>
          <p:cNvPr id="8" name="Text 5"/>
          <p:cNvSpPr txBox="1"/>
          <p:nvPr/>
        </p:nvSpPr>
        <p:spPr>
          <a:xfrm>
            <a:off x="548640" y="258775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Cư dân tạo lời mời</a:t>
            </a:r>
            <a:endParaRPr lang="en-US" sz="1100" dirty="0"/>
          </a:p>
        </p:txBody>
      </p:sp>
      <p:sp>
        <p:nvSpPr>
          <p:cNvPr id="9" name="Text 6"/>
          <p:cNvSpPr txBox="1"/>
          <p:nvPr/>
        </p:nvSpPr>
        <p:spPr>
          <a:xfrm>
            <a:off x="548640" y="299008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App cư dân</a:t>
            </a:r>
            <a:endParaRPr lang="en-US" sz="950" dirty="0"/>
          </a:p>
        </p:txBody>
      </p:sp>
      <p:sp>
        <p:nvSpPr>
          <p:cNvPr id="10" name="Text 7"/>
          <p:cNvSpPr txBox="1"/>
          <p:nvPr/>
        </p:nvSpPr>
        <p:spPr>
          <a:xfrm>
            <a:off x="2148840" y="2331720"/>
            <a:ext cx="224942" cy="457200"/>
          </a:xfrm>
          <a:prstGeom prst="rect">
            <a:avLst/>
          </a:prstGeom>
          <a:noFill/>
          <a:ln/>
        </p:spPr>
        <p:txBody>
          <a:bodyPr wrap="square" lIns="0" tIns="0" rIns="0" bIns="0" rtlCol="0" anchor="ctr"/>
          <a:lstStyle/>
          <a:p>
            <a:pPr algn="ctr" indent="0" marL="0">
              <a:buNone/>
            </a:pPr>
            <a:r>
              <a:rPr lang="en-US" sz="2200" b="1" dirty="0">
                <a:solidFill>
                  <a:srgbClr val="1B7F79"/>
                </a:solidFill>
                <a:latin typeface="Arial" pitchFamily="34" charset="0"/>
                <a:ea typeface="Arial" pitchFamily="34" charset="-122"/>
                <a:cs typeface="Arial" pitchFamily="34" charset="-120"/>
              </a:rPr>
              <a:t>›</a:t>
            </a:r>
            <a:endParaRPr lang="en-US" sz="2200" dirty="0"/>
          </a:p>
        </p:txBody>
      </p:sp>
      <p:sp>
        <p:nvSpPr>
          <p:cNvPr id="11" name="Shape 8"/>
          <p:cNvSpPr/>
          <p:nvPr/>
        </p:nvSpPr>
        <p:spPr>
          <a:xfrm>
            <a:off x="2373782" y="1874520"/>
            <a:ext cx="1691640" cy="1417320"/>
          </a:xfrm>
          <a:prstGeom prst="roundRect">
            <a:avLst>
              <a:gd name="adj" fmla="val 3871"/>
            </a:avLst>
          </a:prstGeom>
          <a:solidFill>
            <a:srgbClr val="FFFFFF"/>
          </a:solidFill>
          <a:ln w="6350">
            <a:solidFill>
              <a:srgbClr val="D5DCE3"/>
            </a:solidFill>
            <a:prstDash val="solid"/>
          </a:ln>
        </p:spPr>
      </p:sp>
      <p:sp>
        <p:nvSpPr>
          <p:cNvPr id="12" name="Shape 9"/>
          <p:cNvSpPr/>
          <p:nvPr/>
        </p:nvSpPr>
        <p:spPr>
          <a:xfrm>
            <a:off x="2945282" y="1984248"/>
            <a:ext cx="548640" cy="548640"/>
          </a:xfrm>
          <a:prstGeom prst="ellipse">
            <a:avLst/>
          </a:prstGeom>
          <a:solidFill>
            <a:srgbClr val="1B7F79"/>
          </a:solidFill>
          <a:ln/>
        </p:spPr>
      </p:sp>
      <p:pic>
        <p:nvPicPr>
          <p:cNvPr id="13" name="Image 1" descr="preencoded.png">    </p:cNvPr>
          <p:cNvPicPr>
            <a:picLocks noChangeAspect="1"/>
          </p:cNvPicPr>
          <p:nvPr/>
        </p:nvPicPr>
        <p:blipFill>
          <a:blip r:embed="rId2"/>
          <a:stretch>
            <a:fillRect/>
          </a:stretch>
        </p:blipFill>
        <p:spPr>
          <a:xfrm>
            <a:off x="3073298" y="2112264"/>
            <a:ext cx="292608" cy="292608"/>
          </a:xfrm>
          <a:prstGeom prst="rect">
            <a:avLst/>
          </a:prstGeom>
        </p:spPr>
      </p:pic>
      <p:sp>
        <p:nvSpPr>
          <p:cNvPr id="14" name="Text 10"/>
          <p:cNvSpPr txBox="1"/>
          <p:nvPr/>
        </p:nvSpPr>
        <p:spPr>
          <a:xfrm>
            <a:off x="2465222" y="258775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Khách nhận QR</a:t>
            </a:r>
            <a:endParaRPr lang="en-US" sz="1100" dirty="0"/>
          </a:p>
        </p:txBody>
      </p:sp>
      <p:sp>
        <p:nvSpPr>
          <p:cNvPr id="15" name="Text 11"/>
          <p:cNvSpPr txBox="1"/>
          <p:nvPr/>
        </p:nvSpPr>
        <p:spPr>
          <a:xfrm>
            <a:off x="2465222" y="299008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Zalo / SMS</a:t>
            </a:r>
            <a:endParaRPr lang="en-US" sz="950" dirty="0"/>
          </a:p>
        </p:txBody>
      </p:sp>
      <p:sp>
        <p:nvSpPr>
          <p:cNvPr id="16" name="Text 12"/>
          <p:cNvSpPr txBox="1"/>
          <p:nvPr/>
        </p:nvSpPr>
        <p:spPr>
          <a:xfrm>
            <a:off x="4065422" y="2331720"/>
            <a:ext cx="224942" cy="457200"/>
          </a:xfrm>
          <a:prstGeom prst="rect">
            <a:avLst/>
          </a:prstGeom>
          <a:noFill/>
          <a:ln/>
        </p:spPr>
        <p:txBody>
          <a:bodyPr wrap="square" lIns="0" tIns="0" rIns="0" bIns="0" rtlCol="0" anchor="ctr"/>
          <a:lstStyle/>
          <a:p>
            <a:pPr algn="ctr" indent="0" marL="0">
              <a:buNone/>
            </a:pPr>
            <a:r>
              <a:rPr lang="en-US" sz="2200" b="1" dirty="0">
                <a:solidFill>
                  <a:srgbClr val="1B7F79"/>
                </a:solidFill>
                <a:latin typeface="Arial" pitchFamily="34" charset="0"/>
                <a:ea typeface="Arial" pitchFamily="34" charset="-122"/>
                <a:cs typeface="Arial" pitchFamily="34" charset="-120"/>
              </a:rPr>
              <a:t>›</a:t>
            </a:r>
            <a:endParaRPr lang="en-US" sz="2200" dirty="0"/>
          </a:p>
        </p:txBody>
      </p:sp>
      <p:sp>
        <p:nvSpPr>
          <p:cNvPr id="17" name="Shape 13"/>
          <p:cNvSpPr/>
          <p:nvPr/>
        </p:nvSpPr>
        <p:spPr>
          <a:xfrm>
            <a:off x="4290365" y="1874520"/>
            <a:ext cx="1691640" cy="1417320"/>
          </a:xfrm>
          <a:prstGeom prst="roundRect">
            <a:avLst>
              <a:gd name="adj" fmla="val 3871"/>
            </a:avLst>
          </a:prstGeom>
          <a:solidFill>
            <a:srgbClr val="FFFFFF"/>
          </a:solidFill>
          <a:ln w="6350">
            <a:solidFill>
              <a:srgbClr val="D5DCE3"/>
            </a:solidFill>
            <a:prstDash val="solid"/>
          </a:ln>
        </p:spPr>
      </p:sp>
      <p:sp>
        <p:nvSpPr>
          <p:cNvPr id="18" name="Shape 14"/>
          <p:cNvSpPr/>
          <p:nvPr/>
        </p:nvSpPr>
        <p:spPr>
          <a:xfrm>
            <a:off x="4861865" y="1984248"/>
            <a:ext cx="548640" cy="548640"/>
          </a:xfrm>
          <a:prstGeom prst="ellipse">
            <a:avLst/>
          </a:prstGeom>
          <a:solidFill>
            <a:srgbClr val="1B7F79"/>
          </a:solidFill>
          <a:ln/>
        </p:spPr>
      </p:sp>
      <p:pic>
        <p:nvPicPr>
          <p:cNvPr id="19" name="Image 2" descr="preencoded.png">    </p:cNvPr>
          <p:cNvPicPr>
            <a:picLocks noChangeAspect="1"/>
          </p:cNvPicPr>
          <p:nvPr/>
        </p:nvPicPr>
        <p:blipFill>
          <a:blip r:embed="rId3"/>
          <a:stretch>
            <a:fillRect/>
          </a:stretch>
        </p:blipFill>
        <p:spPr>
          <a:xfrm>
            <a:off x="4989881" y="2112264"/>
            <a:ext cx="292608" cy="292608"/>
          </a:xfrm>
          <a:prstGeom prst="rect">
            <a:avLst/>
          </a:prstGeom>
        </p:spPr>
      </p:pic>
      <p:sp>
        <p:nvSpPr>
          <p:cNvPr id="20" name="Text 15"/>
          <p:cNvSpPr txBox="1"/>
          <p:nvPr/>
        </p:nvSpPr>
        <p:spPr>
          <a:xfrm>
            <a:off x="4381805" y="258775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Quét QR tại sảnh</a:t>
            </a:r>
            <a:endParaRPr lang="en-US" sz="1100" dirty="0"/>
          </a:p>
        </p:txBody>
      </p:sp>
      <p:sp>
        <p:nvSpPr>
          <p:cNvPr id="21" name="Text 16"/>
          <p:cNvSpPr txBox="1"/>
          <p:nvPr/>
        </p:nvSpPr>
        <p:spPr>
          <a:xfrm>
            <a:off x="4381805" y="299008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Đầu đọc sảnh T1</a:t>
            </a:r>
            <a:endParaRPr lang="en-US" sz="950" dirty="0"/>
          </a:p>
        </p:txBody>
      </p:sp>
      <p:sp>
        <p:nvSpPr>
          <p:cNvPr id="22" name="Text 17"/>
          <p:cNvSpPr txBox="1"/>
          <p:nvPr/>
        </p:nvSpPr>
        <p:spPr>
          <a:xfrm>
            <a:off x="5982005" y="2331720"/>
            <a:ext cx="224942" cy="457200"/>
          </a:xfrm>
          <a:prstGeom prst="rect">
            <a:avLst/>
          </a:prstGeom>
          <a:noFill/>
          <a:ln/>
        </p:spPr>
        <p:txBody>
          <a:bodyPr wrap="square" lIns="0" tIns="0" rIns="0" bIns="0" rtlCol="0" anchor="ctr"/>
          <a:lstStyle/>
          <a:p>
            <a:pPr algn="ctr" indent="0" marL="0">
              <a:buNone/>
            </a:pPr>
            <a:r>
              <a:rPr lang="en-US" sz="2200" b="1" dirty="0">
                <a:solidFill>
                  <a:srgbClr val="1B7F79"/>
                </a:solidFill>
                <a:latin typeface="Arial" pitchFamily="34" charset="0"/>
                <a:ea typeface="Arial" pitchFamily="34" charset="-122"/>
                <a:cs typeface="Arial" pitchFamily="34" charset="-120"/>
              </a:rPr>
              <a:t>›</a:t>
            </a:r>
            <a:endParaRPr lang="en-US" sz="2200" dirty="0"/>
          </a:p>
        </p:txBody>
      </p:sp>
      <p:sp>
        <p:nvSpPr>
          <p:cNvPr id="23" name="Shape 18"/>
          <p:cNvSpPr/>
          <p:nvPr/>
        </p:nvSpPr>
        <p:spPr>
          <a:xfrm>
            <a:off x="6206947" y="1874520"/>
            <a:ext cx="1691640" cy="1417320"/>
          </a:xfrm>
          <a:prstGeom prst="roundRect">
            <a:avLst>
              <a:gd name="adj" fmla="val 3871"/>
            </a:avLst>
          </a:prstGeom>
          <a:solidFill>
            <a:srgbClr val="FFFFFF"/>
          </a:solidFill>
          <a:ln w="6350">
            <a:solidFill>
              <a:srgbClr val="D5DCE3"/>
            </a:solidFill>
            <a:prstDash val="solid"/>
          </a:ln>
        </p:spPr>
      </p:sp>
      <p:sp>
        <p:nvSpPr>
          <p:cNvPr id="24" name="Shape 19"/>
          <p:cNvSpPr/>
          <p:nvPr/>
        </p:nvSpPr>
        <p:spPr>
          <a:xfrm>
            <a:off x="6778447" y="1984248"/>
            <a:ext cx="548640" cy="548640"/>
          </a:xfrm>
          <a:prstGeom prst="ellipse">
            <a:avLst/>
          </a:prstGeom>
          <a:solidFill>
            <a:srgbClr val="1B7F79"/>
          </a:solidFill>
          <a:ln/>
        </p:spPr>
      </p:sp>
      <p:pic>
        <p:nvPicPr>
          <p:cNvPr id="25" name="Image 3" descr="preencoded.png">    </p:cNvPr>
          <p:cNvPicPr>
            <a:picLocks noChangeAspect="1"/>
          </p:cNvPicPr>
          <p:nvPr/>
        </p:nvPicPr>
        <p:blipFill>
          <a:blip r:embed="rId4"/>
          <a:stretch>
            <a:fillRect/>
          </a:stretch>
        </p:blipFill>
        <p:spPr>
          <a:xfrm>
            <a:off x="6906463" y="2112264"/>
            <a:ext cx="292608" cy="292608"/>
          </a:xfrm>
          <a:prstGeom prst="rect">
            <a:avLst/>
          </a:prstGeom>
        </p:spPr>
      </p:pic>
      <p:sp>
        <p:nvSpPr>
          <p:cNvPr id="26" name="Text 20"/>
          <p:cNvSpPr txBox="1"/>
          <p:nvPr/>
        </p:nvSpPr>
        <p:spPr>
          <a:xfrm>
            <a:off x="6298387" y="258775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Cư dân nhận ảnh khách</a:t>
            </a:r>
            <a:endParaRPr lang="en-US" sz="1100" dirty="0"/>
          </a:p>
        </p:txBody>
      </p:sp>
      <p:sp>
        <p:nvSpPr>
          <p:cNvPr id="27" name="Text 21"/>
          <p:cNvSpPr txBox="1"/>
          <p:nvPr/>
        </p:nvSpPr>
        <p:spPr>
          <a:xfrm>
            <a:off x="6298387" y="299008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App cư dân</a:t>
            </a:r>
            <a:endParaRPr lang="en-US" sz="950" dirty="0"/>
          </a:p>
        </p:txBody>
      </p:sp>
      <p:sp>
        <p:nvSpPr>
          <p:cNvPr id="28" name="Text 22"/>
          <p:cNvSpPr txBox="1"/>
          <p:nvPr/>
        </p:nvSpPr>
        <p:spPr>
          <a:xfrm>
            <a:off x="7898587" y="2331720"/>
            <a:ext cx="224942" cy="457200"/>
          </a:xfrm>
          <a:prstGeom prst="rect">
            <a:avLst/>
          </a:prstGeom>
          <a:noFill/>
          <a:ln/>
        </p:spPr>
        <p:txBody>
          <a:bodyPr wrap="square" lIns="0" tIns="0" rIns="0" bIns="0" rtlCol="0" anchor="ctr"/>
          <a:lstStyle/>
          <a:p>
            <a:pPr algn="ctr" indent="0" marL="0">
              <a:buNone/>
            </a:pPr>
            <a:r>
              <a:rPr lang="en-US" sz="2200" b="1" dirty="0">
                <a:solidFill>
                  <a:srgbClr val="1B7F79"/>
                </a:solidFill>
                <a:latin typeface="Arial" pitchFamily="34" charset="0"/>
                <a:ea typeface="Arial" pitchFamily="34" charset="-122"/>
                <a:cs typeface="Arial" pitchFamily="34" charset="-120"/>
              </a:rPr>
              <a:t>›</a:t>
            </a:r>
            <a:endParaRPr lang="en-US" sz="2200" dirty="0"/>
          </a:p>
        </p:txBody>
      </p:sp>
      <p:sp>
        <p:nvSpPr>
          <p:cNvPr id="29" name="Shape 23"/>
          <p:cNvSpPr/>
          <p:nvPr/>
        </p:nvSpPr>
        <p:spPr>
          <a:xfrm>
            <a:off x="8123530" y="1874520"/>
            <a:ext cx="1691640" cy="1417320"/>
          </a:xfrm>
          <a:prstGeom prst="roundRect">
            <a:avLst>
              <a:gd name="adj" fmla="val 3871"/>
            </a:avLst>
          </a:prstGeom>
          <a:solidFill>
            <a:srgbClr val="FFFFFF"/>
          </a:solidFill>
          <a:ln w="6350">
            <a:solidFill>
              <a:srgbClr val="D5DCE3"/>
            </a:solidFill>
            <a:prstDash val="solid"/>
          </a:ln>
        </p:spPr>
      </p:sp>
      <p:sp>
        <p:nvSpPr>
          <p:cNvPr id="30" name="Shape 24"/>
          <p:cNvSpPr/>
          <p:nvPr/>
        </p:nvSpPr>
        <p:spPr>
          <a:xfrm>
            <a:off x="8695030" y="1984248"/>
            <a:ext cx="548640" cy="548640"/>
          </a:xfrm>
          <a:prstGeom prst="ellipse">
            <a:avLst/>
          </a:prstGeom>
          <a:solidFill>
            <a:srgbClr val="1B7F79"/>
          </a:solidFill>
          <a:ln/>
        </p:spPr>
      </p:sp>
      <p:pic>
        <p:nvPicPr>
          <p:cNvPr id="31" name="Image 4" descr="preencoded.png">    </p:cNvPr>
          <p:cNvPicPr>
            <a:picLocks noChangeAspect="1"/>
          </p:cNvPicPr>
          <p:nvPr/>
        </p:nvPicPr>
        <p:blipFill>
          <a:blip r:embed="rId5"/>
          <a:stretch>
            <a:fillRect/>
          </a:stretch>
        </p:blipFill>
        <p:spPr>
          <a:xfrm>
            <a:off x="8823046" y="2112264"/>
            <a:ext cx="292608" cy="292608"/>
          </a:xfrm>
          <a:prstGeom prst="rect">
            <a:avLst/>
          </a:prstGeom>
        </p:spPr>
      </p:pic>
      <p:sp>
        <p:nvSpPr>
          <p:cNvPr id="32" name="Text 25"/>
          <p:cNvSpPr txBox="1"/>
          <p:nvPr/>
        </p:nvSpPr>
        <p:spPr>
          <a:xfrm>
            <a:off x="8214970" y="258775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Thang chỉ mở tầng 4</a:t>
            </a:r>
            <a:endParaRPr lang="en-US" sz="1100" dirty="0"/>
          </a:p>
        </p:txBody>
      </p:sp>
      <p:sp>
        <p:nvSpPr>
          <p:cNvPr id="33" name="Text 26"/>
          <p:cNvSpPr txBox="1"/>
          <p:nvPr/>
        </p:nvSpPr>
        <p:spPr>
          <a:xfrm>
            <a:off x="8214970" y="299008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Thang máy</a:t>
            </a:r>
            <a:endParaRPr lang="en-US" sz="950" dirty="0"/>
          </a:p>
        </p:txBody>
      </p:sp>
      <p:sp>
        <p:nvSpPr>
          <p:cNvPr id="34" name="Text 27"/>
          <p:cNvSpPr txBox="1"/>
          <p:nvPr/>
        </p:nvSpPr>
        <p:spPr>
          <a:xfrm>
            <a:off x="9815170" y="2331720"/>
            <a:ext cx="224942" cy="457200"/>
          </a:xfrm>
          <a:prstGeom prst="rect">
            <a:avLst/>
          </a:prstGeom>
          <a:noFill/>
          <a:ln/>
        </p:spPr>
        <p:txBody>
          <a:bodyPr wrap="square" lIns="0" tIns="0" rIns="0" bIns="0" rtlCol="0" anchor="ctr"/>
          <a:lstStyle/>
          <a:p>
            <a:pPr algn="ctr" indent="0" marL="0">
              <a:buNone/>
            </a:pPr>
            <a:r>
              <a:rPr lang="en-US" sz="2200" b="1" dirty="0">
                <a:solidFill>
                  <a:srgbClr val="1B7F79"/>
                </a:solidFill>
                <a:latin typeface="Arial" pitchFamily="34" charset="0"/>
                <a:ea typeface="Arial" pitchFamily="34" charset="-122"/>
                <a:cs typeface="Arial" pitchFamily="34" charset="-120"/>
              </a:rPr>
              <a:t>›</a:t>
            </a:r>
            <a:endParaRPr lang="en-US" sz="2200" dirty="0"/>
          </a:p>
        </p:txBody>
      </p:sp>
      <p:sp>
        <p:nvSpPr>
          <p:cNvPr id="35" name="Shape 28"/>
          <p:cNvSpPr/>
          <p:nvPr/>
        </p:nvSpPr>
        <p:spPr>
          <a:xfrm>
            <a:off x="10040112" y="1874520"/>
            <a:ext cx="1691640" cy="1417320"/>
          </a:xfrm>
          <a:prstGeom prst="roundRect">
            <a:avLst>
              <a:gd name="adj" fmla="val 3871"/>
            </a:avLst>
          </a:prstGeom>
          <a:solidFill>
            <a:srgbClr val="FFFFFF"/>
          </a:solidFill>
          <a:ln w="6350">
            <a:solidFill>
              <a:srgbClr val="D5DCE3"/>
            </a:solidFill>
            <a:prstDash val="solid"/>
          </a:ln>
        </p:spPr>
      </p:sp>
      <p:sp>
        <p:nvSpPr>
          <p:cNvPr id="36" name="Shape 29"/>
          <p:cNvSpPr/>
          <p:nvPr/>
        </p:nvSpPr>
        <p:spPr>
          <a:xfrm>
            <a:off x="10611612" y="1984248"/>
            <a:ext cx="548640" cy="548640"/>
          </a:xfrm>
          <a:prstGeom prst="ellipse">
            <a:avLst/>
          </a:prstGeom>
          <a:solidFill>
            <a:srgbClr val="1B7F79"/>
          </a:solidFill>
          <a:ln/>
        </p:spPr>
      </p:sp>
      <p:pic>
        <p:nvPicPr>
          <p:cNvPr id="37" name="Image 5" descr="preencoded.png">    </p:cNvPr>
          <p:cNvPicPr>
            <a:picLocks noChangeAspect="1"/>
          </p:cNvPicPr>
          <p:nvPr/>
        </p:nvPicPr>
        <p:blipFill>
          <a:blip r:embed="rId6"/>
          <a:stretch>
            <a:fillRect/>
          </a:stretch>
        </p:blipFill>
        <p:spPr>
          <a:xfrm>
            <a:off x="10739628" y="2112264"/>
            <a:ext cx="292608" cy="292608"/>
          </a:xfrm>
          <a:prstGeom prst="rect">
            <a:avLst/>
          </a:prstGeom>
        </p:spPr>
      </p:pic>
      <p:sp>
        <p:nvSpPr>
          <p:cNvPr id="38" name="Text 30"/>
          <p:cNvSpPr txBox="1"/>
          <p:nvPr/>
        </p:nvSpPr>
        <p:spPr>
          <a:xfrm>
            <a:off x="10131552" y="258775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Mã tự hết hạn</a:t>
            </a:r>
            <a:endParaRPr lang="en-US" sz="1100" dirty="0"/>
          </a:p>
        </p:txBody>
      </p:sp>
      <p:sp>
        <p:nvSpPr>
          <p:cNvPr id="39" name="Text 31"/>
          <p:cNvSpPr txBox="1"/>
          <p:nvPr/>
        </p:nvSpPr>
        <p:spPr>
          <a:xfrm>
            <a:off x="10131552" y="299008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Nền tảng</a:t>
            </a:r>
            <a:endParaRPr lang="en-US" sz="950" dirty="0"/>
          </a:p>
        </p:txBody>
      </p:sp>
      <p:sp>
        <p:nvSpPr>
          <p:cNvPr id="40" name="Text 32"/>
          <p:cNvSpPr txBox="1"/>
          <p:nvPr/>
        </p:nvSpPr>
        <p:spPr>
          <a:xfrm>
            <a:off x="457200" y="3383280"/>
            <a:ext cx="11247120" cy="274320"/>
          </a:xfrm>
          <a:prstGeom prst="rect">
            <a:avLst/>
          </a:prstGeom>
          <a:noFill/>
          <a:ln/>
        </p:spPr>
        <p:txBody>
          <a:bodyPr wrap="square" lIns="0" tIns="0" rIns="0" bIns="0" rtlCol="0" anchor="ctr"/>
          <a:lstStyle/>
          <a:p>
            <a:pPr algn="l" indent="0" marL="0">
              <a:buNone/>
            </a:pPr>
            <a:r>
              <a:rPr lang="en-US" sz="1100" i="1" dirty="0">
                <a:solidFill>
                  <a:srgbClr val="3A4654"/>
                </a:solidFill>
                <a:latin typeface="Arial" pitchFamily="34" charset="0"/>
                <a:ea typeface="Arial" pitchFamily="34" charset="-122"/>
                <a:cs typeface="Arial" pitchFamily="34" charset="-120"/>
              </a:rPr>
              <a:t>Ngoại lệ: không có lời mời → bấm chuông sảnh, cư dân mở từ xa · QR hết hạn → gọi lễ tân</a:t>
            </a:r>
            <a:endParaRPr lang="en-US" sz="1100" dirty="0"/>
          </a:p>
        </p:txBody>
      </p:sp>
      <p:sp>
        <p:nvSpPr>
          <p:cNvPr id="41" name="Text 33"/>
          <p:cNvSpPr txBox="1"/>
          <p:nvPr/>
        </p:nvSpPr>
        <p:spPr>
          <a:xfrm>
            <a:off x="457200" y="3977640"/>
            <a:ext cx="5486400" cy="365760"/>
          </a:xfrm>
          <a:prstGeom prst="rect">
            <a:avLst/>
          </a:prstGeom>
          <a:noFill/>
          <a:ln/>
        </p:spPr>
        <p:txBody>
          <a:bodyPr wrap="square" lIns="0" tIns="0" rIns="0" bIns="0" rtlCol="0" anchor="ctr"/>
          <a:lstStyle/>
          <a:p>
            <a:pPr algn="l" indent="0" marL="0">
              <a:buNone/>
            </a:pPr>
            <a:r>
              <a:rPr lang="en-US" sz="1600" b="1" dirty="0">
                <a:solidFill>
                  <a:srgbClr val="12324A"/>
                </a:solidFill>
                <a:latin typeface="Arial" pitchFamily="34" charset="0"/>
                <a:ea typeface="Arial" pitchFamily="34" charset="-122"/>
                <a:cs typeface="Arial" pitchFamily="34" charset="-120"/>
              </a:rPr>
              <a:t>K8 · Người lạ, đi sai khu</a:t>
            </a:r>
            <a:endParaRPr lang="en-US" sz="1600" dirty="0"/>
          </a:p>
        </p:txBody>
      </p:sp>
      <p:sp>
        <p:nvSpPr>
          <p:cNvPr id="42" name="Shape 34"/>
          <p:cNvSpPr/>
          <p:nvPr/>
        </p:nvSpPr>
        <p:spPr>
          <a:xfrm>
            <a:off x="457200" y="4434840"/>
            <a:ext cx="1691640" cy="1417320"/>
          </a:xfrm>
          <a:prstGeom prst="roundRect">
            <a:avLst>
              <a:gd name="adj" fmla="val 3871"/>
            </a:avLst>
          </a:prstGeom>
          <a:solidFill>
            <a:srgbClr val="FFFFFF"/>
          </a:solidFill>
          <a:ln w="6350">
            <a:solidFill>
              <a:srgbClr val="D5DCE3"/>
            </a:solidFill>
            <a:prstDash val="solid"/>
          </a:ln>
        </p:spPr>
      </p:sp>
      <p:sp>
        <p:nvSpPr>
          <p:cNvPr id="43" name="Shape 35"/>
          <p:cNvSpPr/>
          <p:nvPr/>
        </p:nvSpPr>
        <p:spPr>
          <a:xfrm>
            <a:off x="1028700" y="4544568"/>
            <a:ext cx="548640" cy="548640"/>
          </a:xfrm>
          <a:prstGeom prst="ellipse">
            <a:avLst/>
          </a:prstGeom>
          <a:solidFill>
            <a:srgbClr val="E8833A"/>
          </a:solidFill>
          <a:ln/>
        </p:spPr>
      </p:sp>
      <p:pic>
        <p:nvPicPr>
          <p:cNvPr id="44" name="Image 6" descr="preencoded.png">    </p:cNvPr>
          <p:cNvPicPr>
            <a:picLocks noChangeAspect="1"/>
          </p:cNvPicPr>
          <p:nvPr/>
        </p:nvPicPr>
        <p:blipFill>
          <a:blip r:embed="rId7"/>
          <a:stretch>
            <a:fillRect/>
          </a:stretch>
        </p:blipFill>
        <p:spPr>
          <a:xfrm>
            <a:off x="1156716" y="4672584"/>
            <a:ext cx="292608" cy="292608"/>
          </a:xfrm>
          <a:prstGeom prst="rect">
            <a:avLst/>
          </a:prstGeom>
        </p:spPr>
      </p:pic>
      <p:sp>
        <p:nvSpPr>
          <p:cNvPr id="45" name="Text 36"/>
          <p:cNvSpPr txBox="1"/>
          <p:nvPr/>
        </p:nvSpPr>
        <p:spPr>
          <a:xfrm>
            <a:off x="548640" y="514807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Camera AI phát hiện</a:t>
            </a:r>
            <a:endParaRPr lang="en-US" sz="1100" dirty="0"/>
          </a:p>
        </p:txBody>
      </p:sp>
      <p:sp>
        <p:nvSpPr>
          <p:cNvPr id="46" name="Text 37"/>
          <p:cNvSpPr txBox="1"/>
          <p:nvPr/>
        </p:nvSpPr>
        <p:spPr>
          <a:xfrm>
            <a:off x="548640" y="555040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Máy chủ AI tại chỗ</a:t>
            </a:r>
            <a:endParaRPr lang="en-US" sz="950" dirty="0"/>
          </a:p>
        </p:txBody>
      </p:sp>
      <p:sp>
        <p:nvSpPr>
          <p:cNvPr id="47" name="Text 38"/>
          <p:cNvSpPr txBox="1"/>
          <p:nvPr/>
        </p:nvSpPr>
        <p:spPr>
          <a:xfrm>
            <a:off x="2148840" y="4892040"/>
            <a:ext cx="224942" cy="457200"/>
          </a:xfrm>
          <a:prstGeom prst="rect">
            <a:avLst/>
          </a:prstGeom>
          <a:noFill/>
          <a:ln/>
        </p:spPr>
        <p:txBody>
          <a:bodyPr wrap="square" lIns="0" tIns="0" rIns="0" bIns="0" rtlCol="0" anchor="ctr"/>
          <a:lstStyle/>
          <a:p>
            <a:pPr algn="ctr" indent="0" marL="0">
              <a:buNone/>
            </a:pPr>
            <a:r>
              <a:rPr lang="en-US" sz="2200" b="1" dirty="0">
                <a:solidFill>
                  <a:srgbClr val="E8833A"/>
                </a:solidFill>
                <a:latin typeface="Arial" pitchFamily="34" charset="0"/>
                <a:ea typeface="Arial" pitchFamily="34" charset="-122"/>
                <a:cs typeface="Arial" pitchFamily="34" charset="-120"/>
              </a:rPr>
              <a:t>›</a:t>
            </a:r>
            <a:endParaRPr lang="en-US" sz="2200" dirty="0"/>
          </a:p>
        </p:txBody>
      </p:sp>
      <p:sp>
        <p:nvSpPr>
          <p:cNvPr id="48" name="Shape 39"/>
          <p:cNvSpPr/>
          <p:nvPr/>
        </p:nvSpPr>
        <p:spPr>
          <a:xfrm>
            <a:off x="2373782" y="4434840"/>
            <a:ext cx="1691640" cy="1417320"/>
          </a:xfrm>
          <a:prstGeom prst="roundRect">
            <a:avLst>
              <a:gd name="adj" fmla="val 3871"/>
            </a:avLst>
          </a:prstGeom>
          <a:solidFill>
            <a:srgbClr val="FFFFFF"/>
          </a:solidFill>
          <a:ln w="6350">
            <a:solidFill>
              <a:srgbClr val="D5DCE3"/>
            </a:solidFill>
            <a:prstDash val="solid"/>
          </a:ln>
        </p:spPr>
      </p:sp>
      <p:sp>
        <p:nvSpPr>
          <p:cNvPr id="49" name="Shape 40"/>
          <p:cNvSpPr/>
          <p:nvPr/>
        </p:nvSpPr>
        <p:spPr>
          <a:xfrm>
            <a:off x="2945282" y="4544568"/>
            <a:ext cx="548640" cy="548640"/>
          </a:xfrm>
          <a:prstGeom prst="ellipse">
            <a:avLst/>
          </a:prstGeom>
          <a:solidFill>
            <a:srgbClr val="E8833A"/>
          </a:solidFill>
          <a:ln/>
        </p:spPr>
      </p:sp>
      <p:pic>
        <p:nvPicPr>
          <p:cNvPr id="50" name="Image 7" descr="preencoded.png">    </p:cNvPr>
          <p:cNvPicPr>
            <a:picLocks noChangeAspect="1"/>
          </p:cNvPicPr>
          <p:nvPr/>
        </p:nvPicPr>
        <p:blipFill>
          <a:blip r:embed="rId8"/>
          <a:stretch>
            <a:fillRect/>
          </a:stretch>
        </p:blipFill>
        <p:spPr>
          <a:xfrm>
            <a:off x="3073298" y="4672584"/>
            <a:ext cx="292608" cy="292608"/>
          </a:xfrm>
          <a:prstGeom prst="rect">
            <a:avLst/>
          </a:prstGeom>
        </p:spPr>
      </p:pic>
      <p:sp>
        <p:nvSpPr>
          <p:cNvPr id="51" name="Text 41"/>
          <p:cNvSpPr txBox="1"/>
          <p:nvPr/>
        </p:nvSpPr>
        <p:spPr>
          <a:xfrm>
            <a:off x="2465222" y="514807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Đối chiếu nhật ký vào ra</a:t>
            </a:r>
            <a:endParaRPr lang="en-US" sz="1100" dirty="0"/>
          </a:p>
        </p:txBody>
      </p:sp>
      <p:sp>
        <p:nvSpPr>
          <p:cNvPr id="52" name="Text 42"/>
          <p:cNvSpPr txBox="1"/>
          <p:nvPr/>
        </p:nvSpPr>
        <p:spPr>
          <a:xfrm>
            <a:off x="2465222" y="555040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Nền tảng</a:t>
            </a:r>
            <a:endParaRPr lang="en-US" sz="950" dirty="0"/>
          </a:p>
        </p:txBody>
      </p:sp>
      <p:sp>
        <p:nvSpPr>
          <p:cNvPr id="53" name="Text 43"/>
          <p:cNvSpPr txBox="1"/>
          <p:nvPr/>
        </p:nvSpPr>
        <p:spPr>
          <a:xfrm>
            <a:off x="4065422" y="4892040"/>
            <a:ext cx="224942" cy="457200"/>
          </a:xfrm>
          <a:prstGeom prst="rect">
            <a:avLst/>
          </a:prstGeom>
          <a:noFill/>
          <a:ln/>
        </p:spPr>
        <p:txBody>
          <a:bodyPr wrap="square" lIns="0" tIns="0" rIns="0" bIns="0" rtlCol="0" anchor="ctr"/>
          <a:lstStyle/>
          <a:p>
            <a:pPr algn="ctr" indent="0" marL="0">
              <a:buNone/>
            </a:pPr>
            <a:r>
              <a:rPr lang="en-US" sz="2200" b="1" dirty="0">
                <a:solidFill>
                  <a:srgbClr val="E8833A"/>
                </a:solidFill>
                <a:latin typeface="Arial" pitchFamily="34" charset="0"/>
                <a:ea typeface="Arial" pitchFamily="34" charset="-122"/>
                <a:cs typeface="Arial" pitchFamily="34" charset="-120"/>
              </a:rPr>
              <a:t>›</a:t>
            </a:r>
            <a:endParaRPr lang="en-US" sz="2200" dirty="0"/>
          </a:p>
        </p:txBody>
      </p:sp>
      <p:sp>
        <p:nvSpPr>
          <p:cNvPr id="54" name="Shape 44"/>
          <p:cNvSpPr/>
          <p:nvPr/>
        </p:nvSpPr>
        <p:spPr>
          <a:xfrm>
            <a:off x="4290365" y="4434840"/>
            <a:ext cx="1691640" cy="1417320"/>
          </a:xfrm>
          <a:prstGeom prst="roundRect">
            <a:avLst>
              <a:gd name="adj" fmla="val 3871"/>
            </a:avLst>
          </a:prstGeom>
          <a:solidFill>
            <a:srgbClr val="FFFFFF"/>
          </a:solidFill>
          <a:ln w="6350">
            <a:solidFill>
              <a:srgbClr val="D5DCE3"/>
            </a:solidFill>
            <a:prstDash val="solid"/>
          </a:ln>
        </p:spPr>
      </p:sp>
      <p:sp>
        <p:nvSpPr>
          <p:cNvPr id="55" name="Shape 45"/>
          <p:cNvSpPr/>
          <p:nvPr/>
        </p:nvSpPr>
        <p:spPr>
          <a:xfrm>
            <a:off x="4861865" y="4544568"/>
            <a:ext cx="548640" cy="548640"/>
          </a:xfrm>
          <a:prstGeom prst="ellipse">
            <a:avLst/>
          </a:prstGeom>
          <a:solidFill>
            <a:srgbClr val="E8833A"/>
          </a:solidFill>
          <a:ln/>
        </p:spPr>
      </p:sp>
      <p:pic>
        <p:nvPicPr>
          <p:cNvPr id="56" name="Image 8" descr="preencoded.png">    </p:cNvPr>
          <p:cNvPicPr>
            <a:picLocks noChangeAspect="1"/>
          </p:cNvPicPr>
          <p:nvPr/>
        </p:nvPicPr>
        <p:blipFill>
          <a:blip r:embed="rId9"/>
          <a:stretch>
            <a:fillRect/>
          </a:stretch>
        </p:blipFill>
        <p:spPr>
          <a:xfrm>
            <a:off x="4989881" y="4672584"/>
            <a:ext cx="292608" cy="292608"/>
          </a:xfrm>
          <a:prstGeom prst="rect">
            <a:avLst/>
          </a:prstGeom>
        </p:spPr>
      </p:pic>
      <p:sp>
        <p:nvSpPr>
          <p:cNvPr id="57" name="Text 46"/>
          <p:cNvSpPr txBox="1"/>
          <p:nvPr/>
        </p:nvSpPr>
        <p:spPr>
          <a:xfrm>
            <a:off x="4381805" y="514807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Cảnh báo kèm hình ≤ 10 s</a:t>
            </a:r>
            <a:endParaRPr lang="en-US" sz="1100" dirty="0"/>
          </a:p>
        </p:txBody>
      </p:sp>
      <p:sp>
        <p:nvSpPr>
          <p:cNvPr id="58" name="Text 47"/>
          <p:cNvSpPr txBox="1"/>
          <p:nvPr/>
        </p:nvSpPr>
        <p:spPr>
          <a:xfrm>
            <a:off x="4381805" y="555040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Trung tâm cảnh báo</a:t>
            </a:r>
            <a:endParaRPr lang="en-US" sz="950" dirty="0"/>
          </a:p>
        </p:txBody>
      </p:sp>
      <p:sp>
        <p:nvSpPr>
          <p:cNvPr id="59" name="Text 48"/>
          <p:cNvSpPr txBox="1"/>
          <p:nvPr/>
        </p:nvSpPr>
        <p:spPr>
          <a:xfrm>
            <a:off x="5982005" y="4892040"/>
            <a:ext cx="224942" cy="457200"/>
          </a:xfrm>
          <a:prstGeom prst="rect">
            <a:avLst/>
          </a:prstGeom>
          <a:noFill/>
          <a:ln/>
        </p:spPr>
        <p:txBody>
          <a:bodyPr wrap="square" lIns="0" tIns="0" rIns="0" bIns="0" rtlCol="0" anchor="ctr"/>
          <a:lstStyle/>
          <a:p>
            <a:pPr algn="ctr" indent="0" marL="0">
              <a:buNone/>
            </a:pPr>
            <a:r>
              <a:rPr lang="en-US" sz="2200" b="1" dirty="0">
                <a:solidFill>
                  <a:srgbClr val="E8833A"/>
                </a:solidFill>
                <a:latin typeface="Arial" pitchFamily="34" charset="0"/>
                <a:ea typeface="Arial" pitchFamily="34" charset="-122"/>
                <a:cs typeface="Arial" pitchFamily="34" charset="-120"/>
              </a:rPr>
              <a:t>›</a:t>
            </a:r>
            <a:endParaRPr lang="en-US" sz="2200" dirty="0"/>
          </a:p>
        </p:txBody>
      </p:sp>
      <p:sp>
        <p:nvSpPr>
          <p:cNvPr id="60" name="Shape 49"/>
          <p:cNvSpPr/>
          <p:nvPr/>
        </p:nvSpPr>
        <p:spPr>
          <a:xfrm>
            <a:off x="6206947" y="4434840"/>
            <a:ext cx="1691640" cy="1417320"/>
          </a:xfrm>
          <a:prstGeom prst="roundRect">
            <a:avLst>
              <a:gd name="adj" fmla="val 3871"/>
            </a:avLst>
          </a:prstGeom>
          <a:solidFill>
            <a:srgbClr val="FFFFFF"/>
          </a:solidFill>
          <a:ln w="6350">
            <a:solidFill>
              <a:srgbClr val="D5DCE3"/>
            </a:solidFill>
            <a:prstDash val="solid"/>
          </a:ln>
        </p:spPr>
      </p:sp>
      <p:sp>
        <p:nvSpPr>
          <p:cNvPr id="61" name="Shape 50"/>
          <p:cNvSpPr/>
          <p:nvPr/>
        </p:nvSpPr>
        <p:spPr>
          <a:xfrm>
            <a:off x="6778447" y="4544568"/>
            <a:ext cx="548640" cy="548640"/>
          </a:xfrm>
          <a:prstGeom prst="ellipse">
            <a:avLst/>
          </a:prstGeom>
          <a:solidFill>
            <a:srgbClr val="E8833A"/>
          </a:solidFill>
          <a:ln/>
        </p:spPr>
      </p:sp>
      <p:pic>
        <p:nvPicPr>
          <p:cNvPr id="62" name="Image 9" descr="preencoded.png">    </p:cNvPr>
          <p:cNvPicPr>
            <a:picLocks noChangeAspect="1"/>
          </p:cNvPicPr>
          <p:nvPr/>
        </p:nvPicPr>
        <p:blipFill>
          <a:blip r:embed="rId10"/>
          <a:stretch>
            <a:fillRect/>
          </a:stretch>
        </p:blipFill>
        <p:spPr>
          <a:xfrm>
            <a:off x="6906463" y="4672584"/>
            <a:ext cx="292608" cy="292608"/>
          </a:xfrm>
          <a:prstGeom prst="rect">
            <a:avLst/>
          </a:prstGeom>
        </p:spPr>
      </p:pic>
      <p:sp>
        <p:nvSpPr>
          <p:cNvPr id="63" name="Text 51"/>
          <p:cNvSpPr txBox="1"/>
          <p:nvPr/>
        </p:nvSpPr>
        <p:spPr>
          <a:xfrm>
            <a:off x="6298387" y="514807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Bảo vệ nhận xử lý</a:t>
            </a:r>
            <a:endParaRPr lang="en-US" sz="1100" dirty="0"/>
          </a:p>
        </p:txBody>
      </p:sp>
      <p:sp>
        <p:nvSpPr>
          <p:cNvPr id="64" name="Text 52"/>
          <p:cNvSpPr txBox="1"/>
          <p:nvPr/>
        </p:nvSpPr>
        <p:spPr>
          <a:xfrm>
            <a:off x="6298387" y="555040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App vận hành</a:t>
            </a:r>
            <a:endParaRPr lang="en-US" sz="950" dirty="0"/>
          </a:p>
        </p:txBody>
      </p:sp>
      <p:sp>
        <p:nvSpPr>
          <p:cNvPr id="65" name="Text 53"/>
          <p:cNvSpPr txBox="1"/>
          <p:nvPr/>
        </p:nvSpPr>
        <p:spPr>
          <a:xfrm>
            <a:off x="7898587" y="4892040"/>
            <a:ext cx="224942" cy="457200"/>
          </a:xfrm>
          <a:prstGeom prst="rect">
            <a:avLst/>
          </a:prstGeom>
          <a:noFill/>
          <a:ln/>
        </p:spPr>
        <p:txBody>
          <a:bodyPr wrap="square" lIns="0" tIns="0" rIns="0" bIns="0" rtlCol="0" anchor="ctr"/>
          <a:lstStyle/>
          <a:p>
            <a:pPr algn="ctr" indent="0" marL="0">
              <a:buNone/>
            </a:pPr>
            <a:r>
              <a:rPr lang="en-US" sz="2200" b="1" dirty="0">
                <a:solidFill>
                  <a:srgbClr val="E8833A"/>
                </a:solidFill>
                <a:latin typeface="Arial" pitchFamily="34" charset="0"/>
                <a:ea typeface="Arial" pitchFamily="34" charset="-122"/>
                <a:cs typeface="Arial" pitchFamily="34" charset="-120"/>
              </a:rPr>
              <a:t>›</a:t>
            </a:r>
            <a:endParaRPr lang="en-US" sz="2200" dirty="0"/>
          </a:p>
        </p:txBody>
      </p:sp>
      <p:sp>
        <p:nvSpPr>
          <p:cNvPr id="66" name="Shape 54"/>
          <p:cNvSpPr/>
          <p:nvPr/>
        </p:nvSpPr>
        <p:spPr>
          <a:xfrm>
            <a:off x="8123530" y="4434840"/>
            <a:ext cx="1691640" cy="1417320"/>
          </a:xfrm>
          <a:prstGeom prst="roundRect">
            <a:avLst>
              <a:gd name="adj" fmla="val 3871"/>
            </a:avLst>
          </a:prstGeom>
          <a:solidFill>
            <a:srgbClr val="FFFFFF"/>
          </a:solidFill>
          <a:ln w="6350">
            <a:solidFill>
              <a:srgbClr val="D5DCE3"/>
            </a:solidFill>
            <a:prstDash val="solid"/>
          </a:ln>
        </p:spPr>
      </p:sp>
      <p:sp>
        <p:nvSpPr>
          <p:cNvPr id="67" name="Shape 55"/>
          <p:cNvSpPr/>
          <p:nvPr/>
        </p:nvSpPr>
        <p:spPr>
          <a:xfrm>
            <a:off x="8695030" y="4544568"/>
            <a:ext cx="548640" cy="548640"/>
          </a:xfrm>
          <a:prstGeom prst="ellipse">
            <a:avLst/>
          </a:prstGeom>
          <a:solidFill>
            <a:srgbClr val="E8833A"/>
          </a:solidFill>
          <a:ln/>
        </p:spPr>
      </p:sp>
      <p:pic>
        <p:nvPicPr>
          <p:cNvPr id="68" name="Image 10" descr="preencoded.png">    </p:cNvPr>
          <p:cNvPicPr>
            <a:picLocks noChangeAspect="1"/>
          </p:cNvPicPr>
          <p:nvPr/>
        </p:nvPicPr>
        <p:blipFill>
          <a:blip r:embed="rId11"/>
          <a:stretch>
            <a:fillRect/>
          </a:stretch>
        </p:blipFill>
        <p:spPr>
          <a:xfrm>
            <a:off x="8823046" y="4672584"/>
            <a:ext cx="292608" cy="292608"/>
          </a:xfrm>
          <a:prstGeom prst="rect">
            <a:avLst/>
          </a:prstGeom>
        </p:spPr>
      </p:pic>
      <p:sp>
        <p:nvSpPr>
          <p:cNvPr id="69" name="Text 56"/>
          <p:cNvSpPr txBox="1"/>
          <p:nvPr/>
        </p:nvSpPr>
        <p:spPr>
          <a:xfrm>
            <a:off x="8214970" y="514807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Xác minh, đóng sự kiện</a:t>
            </a:r>
            <a:endParaRPr lang="en-US" sz="1100" dirty="0"/>
          </a:p>
        </p:txBody>
      </p:sp>
      <p:sp>
        <p:nvSpPr>
          <p:cNvPr id="70" name="Text 57"/>
          <p:cNvSpPr txBox="1"/>
          <p:nvPr/>
        </p:nvSpPr>
        <p:spPr>
          <a:xfrm>
            <a:off x="8214970" y="555040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App vận hành</a:t>
            </a:r>
            <a:endParaRPr lang="en-US" sz="950" dirty="0"/>
          </a:p>
        </p:txBody>
      </p:sp>
      <p:sp>
        <p:nvSpPr>
          <p:cNvPr id="71" name="Text 58"/>
          <p:cNvSpPr txBox="1"/>
          <p:nvPr/>
        </p:nvSpPr>
        <p:spPr>
          <a:xfrm>
            <a:off x="9815170" y="4892040"/>
            <a:ext cx="224942" cy="457200"/>
          </a:xfrm>
          <a:prstGeom prst="rect">
            <a:avLst/>
          </a:prstGeom>
          <a:noFill/>
          <a:ln/>
        </p:spPr>
        <p:txBody>
          <a:bodyPr wrap="square" lIns="0" tIns="0" rIns="0" bIns="0" rtlCol="0" anchor="ctr"/>
          <a:lstStyle/>
          <a:p>
            <a:pPr algn="ctr" indent="0" marL="0">
              <a:buNone/>
            </a:pPr>
            <a:r>
              <a:rPr lang="en-US" sz="2200" b="1" dirty="0">
                <a:solidFill>
                  <a:srgbClr val="E8833A"/>
                </a:solidFill>
                <a:latin typeface="Arial" pitchFamily="34" charset="0"/>
                <a:ea typeface="Arial" pitchFamily="34" charset="-122"/>
                <a:cs typeface="Arial" pitchFamily="34" charset="-120"/>
              </a:rPr>
              <a:t>›</a:t>
            </a:r>
            <a:endParaRPr lang="en-US" sz="2200" dirty="0"/>
          </a:p>
        </p:txBody>
      </p:sp>
      <p:sp>
        <p:nvSpPr>
          <p:cNvPr id="72" name="Shape 59"/>
          <p:cNvSpPr/>
          <p:nvPr/>
        </p:nvSpPr>
        <p:spPr>
          <a:xfrm>
            <a:off x="10040112" y="4434840"/>
            <a:ext cx="1691640" cy="1417320"/>
          </a:xfrm>
          <a:prstGeom prst="roundRect">
            <a:avLst>
              <a:gd name="adj" fmla="val 3871"/>
            </a:avLst>
          </a:prstGeom>
          <a:solidFill>
            <a:srgbClr val="FFFFFF"/>
          </a:solidFill>
          <a:ln w="6350">
            <a:solidFill>
              <a:srgbClr val="D5DCE3"/>
            </a:solidFill>
            <a:prstDash val="solid"/>
          </a:ln>
        </p:spPr>
      </p:sp>
      <p:sp>
        <p:nvSpPr>
          <p:cNvPr id="73" name="Shape 60"/>
          <p:cNvSpPr/>
          <p:nvPr/>
        </p:nvSpPr>
        <p:spPr>
          <a:xfrm>
            <a:off x="10611612" y="4544568"/>
            <a:ext cx="548640" cy="548640"/>
          </a:xfrm>
          <a:prstGeom prst="ellipse">
            <a:avLst/>
          </a:prstGeom>
          <a:solidFill>
            <a:srgbClr val="E8833A"/>
          </a:solidFill>
          <a:ln/>
        </p:spPr>
      </p:sp>
      <p:pic>
        <p:nvPicPr>
          <p:cNvPr id="74" name="Image 11" descr="preencoded.png">    </p:cNvPr>
          <p:cNvPicPr>
            <a:picLocks noChangeAspect="1"/>
          </p:cNvPicPr>
          <p:nvPr/>
        </p:nvPicPr>
        <p:blipFill>
          <a:blip r:embed="rId12"/>
          <a:stretch>
            <a:fillRect/>
          </a:stretch>
        </p:blipFill>
        <p:spPr>
          <a:xfrm>
            <a:off x="10739628" y="4672584"/>
            <a:ext cx="292608" cy="292608"/>
          </a:xfrm>
          <a:prstGeom prst="rect">
            <a:avLst/>
          </a:prstGeom>
        </p:spPr>
      </p:pic>
      <p:sp>
        <p:nvSpPr>
          <p:cNvPr id="75" name="Text 61"/>
          <p:cNvSpPr txBox="1"/>
          <p:nvPr/>
        </p:nvSpPr>
        <p:spPr>
          <a:xfrm>
            <a:off x="10131552" y="5148072"/>
            <a:ext cx="1508760" cy="411480"/>
          </a:xfrm>
          <a:prstGeom prst="rect">
            <a:avLst/>
          </a:prstGeom>
          <a:noFill/>
          <a:ln/>
        </p:spPr>
        <p:txBody>
          <a:bodyPr wrap="square" lIns="0" tIns="0" rIns="0" bIns="0" rtlCol="0" anchor="t"/>
          <a:lstStyle/>
          <a:p>
            <a:pPr algn="ctr" indent="0" marL="0">
              <a:buNone/>
            </a:pPr>
            <a:r>
              <a:rPr lang="en-US" sz="1100" b="1" dirty="0">
                <a:solidFill>
                  <a:srgbClr val="12324A"/>
                </a:solidFill>
                <a:latin typeface="Arial" pitchFamily="34" charset="0"/>
                <a:ea typeface="Arial" pitchFamily="34" charset="-122"/>
                <a:cs typeface="Arial" pitchFamily="34" charset="-120"/>
              </a:rPr>
              <a:t>Vào tóm tắt ca</a:t>
            </a:r>
            <a:endParaRPr lang="en-US" sz="1100" dirty="0"/>
          </a:p>
        </p:txBody>
      </p:sp>
      <p:sp>
        <p:nvSpPr>
          <p:cNvPr id="76" name="Text 62"/>
          <p:cNvSpPr txBox="1"/>
          <p:nvPr/>
        </p:nvSpPr>
        <p:spPr>
          <a:xfrm>
            <a:off x="10131552" y="5550408"/>
            <a:ext cx="1508760" cy="228600"/>
          </a:xfrm>
          <a:prstGeom prst="rect">
            <a:avLst/>
          </a:prstGeom>
          <a:noFill/>
          <a:ln/>
        </p:spPr>
        <p:txBody>
          <a:bodyPr wrap="square" lIns="0" tIns="0" rIns="0" bIns="0" rtlCol="0" anchor="ctr"/>
          <a:lstStyle/>
          <a:p>
            <a:pPr algn="ctr" indent="0" marL="0">
              <a:buNone/>
            </a:pPr>
            <a:r>
              <a:rPr lang="en-US" sz="950" dirty="0">
                <a:solidFill>
                  <a:srgbClr val="6B7785"/>
                </a:solidFill>
                <a:latin typeface="Arial" pitchFamily="34" charset="0"/>
                <a:ea typeface="Arial" pitchFamily="34" charset="-122"/>
                <a:cs typeface="Arial" pitchFamily="34" charset="-120"/>
              </a:rPr>
              <a:t>Trợ lý AI</a:t>
            </a:r>
            <a:endParaRPr lang="en-US" sz="950" dirty="0"/>
          </a:p>
        </p:txBody>
      </p:sp>
      <p:sp>
        <p:nvSpPr>
          <p:cNvPr id="77" name="Text 63"/>
          <p:cNvSpPr txBox="1"/>
          <p:nvPr/>
        </p:nvSpPr>
        <p:spPr>
          <a:xfrm>
            <a:off x="457200" y="5943600"/>
            <a:ext cx="11247120" cy="274320"/>
          </a:xfrm>
          <a:prstGeom prst="rect">
            <a:avLst/>
          </a:prstGeom>
          <a:noFill/>
          <a:ln/>
        </p:spPr>
        <p:txBody>
          <a:bodyPr wrap="square" lIns="0" tIns="0" rIns="0" bIns="0" rtlCol="0" anchor="ctr"/>
          <a:lstStyle/>
          <a:p>
            <a:pPr algn="l" indent="0" marL="0">
              <a:buNone/>
            </a:pPr>
            <a:r>
              <a:rPr lang="en-US" sz="1100" i="1" dirty="0">
                <a:solidFill>
                  <a:srgbClr val="3A4654"/>
                </a:solidFill>
                <a:latin typeface="Arial" pitchFamily="34" charset="0"/>
                <a:ea typeface="Arial" pitchFamily="34" charset="-122"/>
                <a:cs typeface="Arial" pitchFamily="34" charset="-120"/>
              </a:rPr>
              <a:t>Ngoại lệ: báo giả → đánh dấu để hiệu chỉnh vùng phát hiện · không ai nhận sau 3 phút → leo thang trưởng BQL</a:t>
            </a:r>
            <a:endParaRPr lang="en-US" sz="110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48640"/>
          </a:xfrm>
          <a:prstGeom prst="rect">
            <a:avLst/>
          </a:prstGeom>
          <a:noFill/>
          <a:ln/>
        </p:spPr>
        <p:txBody>
          <a:bodyPr wrap="square" lIns="0" tIns="0" rIns="0" bIns="0" rtlCol="0" anchor="ctr"/>
          <a:lstStyle/>
          <a:p>
            <a:pPr algn="l" indent="0" marL="0">
              <a:buNone/>
            </a:pPr>
            <a:r>
              <a:rPr lang="en-US" sz="2600" b="1" dirty="0">
                <a:solidFill>
                  <a:schemeClr val="tx2"/>
                </a:solidFill>
              </a:rPr>
              <a:t>Bước tiếp theo: kiểm chứng với người dùng thật trước khi phát triển</a:t>
            </a:r>
            <a:endParaRPr lang="en-US" sz="2600" dirty="0"/>
          </a:p>
        </p:txBody>
      </p:sp>
      <p:sp>
        <p:nvSpPr>
          <p:cNvPr id="3" name="Text 0"/>
          <p:cNvSpPr/>
          <p:nvPr>
            <p:ph idx="101" type="body" hasCustomPrompt="1"/>
          </p:nvPr>
        </p:nvSpPr>
        <p:spPr>
          <a:xfrm>
            <a:off x="457200" y="804672"/>
            <a:ext cx="11247120" cy="384048"/>
          </a:xfrm>
          <a:prstGeom prst="rect">
            <a:avLst/>
          </a:prstGeom>
          <a:noFill/>
          <a:ln/>
        </p:spPr>
        <p:txBody>
          <a:bodyPr wrap="square" lIns="0" tIns="0" rIns="0" bIns="0" rtlCol="0" anchor="t"/>
          <a:lstStyle/>
          <a:p>
            <a:pPr indent="0" marL="0">
              <a:buNone/>
            </a:pPr>
            <a:r>
              <a:rPr lang="en-US" sz="1300" dirty="0">
                <a:solidFill>
                  <a:srgbClr val="6B7785"/>
                </a:solidFill>
              </a:rPr>
              <a:t>Đề xuất thực hiện trong giai đoạn 0 (thiết kế chi tiết), song song với chốt ma trận phân quyền</a:t>
            </a:r>
            <a:endParaRPr lang="en-US" sz="1300" dirty="0"/>
          </a:p>
        </p:txBody>
      </p:sp>
      <p:sp>
        <p:nvSpPr>
          <p:cNvPr id="4" name="Shape 2"/>
          <p:cNvSpPr/>
          <p:nvPr/>
        </p:nvSpPr>
        <p:spPr>
          <a:xfrm>
            <a:off x="457200" y="1463040"/>
            <a:ext cx="2697480" cy="3291840"/>
          </a:xfrm>
          <a:prstGeom prst="roundRect">
            <a:avLst>
              <a:gd name="adj" fmla="val 2034"/>
            </a:avLst>
          </a:prstGeom>
          <a:solidFill>
            <a:srgbClr val="E8F3F2"/>
          </a:solidFill>
          <a:ln/>
        </p:spPr>
      </p:sp>
      <p:sp>
        <p:nvSpPr>
          <p:cNvPr id="5" name="Shape 3"/>
          <p:cNvSpPr/>
          <p:nvPr/>
        </p:nvSpPr>
        <p:spPr>
          <a:xfrm>
            <a:off x="685800" y="1691640"/>
            <a:ext cx="594360" cy="594360"/>
          </a:xfrm>
          <a:prstGeom prst="ellipse">
            <a:avLst/>
          </a:prstGeom>
          <a:solidFill>
            <a:srgbClr val="12324A"/>
          </a:solidFill>
          <a:ln/>
        </p:spPr>
      </p:sp>
      <p:sp>
        <p:nvSpPr>
          <p:cNvPr id="6" name="Text 4"/>
          <p:cNvSpPr txBox="1"/>
          <p:nvPr/>
        </p:nvSpPr>
        <p:spPr>
          <a:xfrm>
            <a:off x="685800" y="16916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685800" y="2468880"/>
            <a:ext cx="2240280" cy="36576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Góp ý prototype</a:t>
            </a:r>
            <a:endParaRPr lang="en-US" sz="1500" dirty="0"/>
          </a:p>
        </p:txBody>
      </p:sp>
      <p:sp>
        <p:nvSpPr>
          <p:cNvPr id="8" name="Text 6"/>
          <p:cNvSpPr txBox="1"/>
          <p:nvPr/>
        </p:nvSpPr>
        <p:spPr>
          <a:xfrm>
            <a:off x="685800" y="2880360"/>
            <a:ext cx="2240280" cy="1280160"/>
          </a:xfrm>
          <a:prstGeom prst="rect">
            <a:avLst/>
          </a:prstGeom>
          <a:noFill/>
          <a:ln/>
        </p:spPr>
        <p:txBody>
          <a:bodyPr wrap="square" lIns="0" tIns="0" rIns="0" bIns="0" rtlCol="0" anchor="t"/>
          <a:lstStyle/>
          <a:p>
            <a:pPr algn="l" indent="0" marL="0">
              <a:buNone/>
            </a:pPr>
            <a:r>
              <a:rPr lang="en-US" sz="1200" dirty="0">
                <a:solidFill>
                  <a:srgbClr val="3A4654"/>
                </a:solidFill>
                <a:latin typeface="Arial" pitchFamily="34" charset="0"/>
                <a:ea typeface="Arial" pitchFamily="34" charset="-122"/>
                <a:cs typeface="Arial" pitchFamily="34" charset="-120"/>
              </a:rPr>
              <a:t>CĐT, BQL, bảo vệ, kỹ thuật xem bộ màn hình; chốt phạm vi màn hình giai đoạn 1</a:t>
            </a:r>
            <a:endParaRPr lang="en-US" sz="1200" dirty="0"/>
          </a:p>
        </p:txBody>
      </p:sp>
      <p:sp>
        <p:nvSpPr>
          <p:cNvPr id="9" name="Shape 7"/>
          <p:cNvSpPr/>
          <p:nvPr/>
        </p:nvSpPr>
        <p:spPr>
          <a:xfrm>
            <a:off x="685800" y="4297680"/>
            <a:ext cx="1097280" cy="274320"/>
          </a:xfrm>
          <a:prstGeom prst="roundRect">
            <a:avLst>
              <a:gd name="adj" fmla="val 33333"/>
            </a:avLst>
          </a:prstGeom>
          <a:solidFill>
            <a:srgbClr val="1B7F79"/>
          </a:solidFill>
          <a:ln/>
        </p:spPr>
      </p:sp>
      <p:sp>
        <p:nvSpPr>
          <p:cNvPr id="10" name="Text 8"/>
          <p:cNvSpPr txBox="1"/>
          <p:nvPr/>
        </p:nvSpPr>
        <p:spPr>
          <a:xfrm>
            <a:off x="685800" y="429768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Tuần 1–2</a:t>
            </a:r>
            <a:endParaRPr lang="en-US" sz="1000" dirty="0"/>
          </a:p>
        </p:txBody>
      </p:sp>
      <p:sp>
        <p:nvSpPr>
          <p:cNvPr id="11" name="Shape 9"/>
          <p:cNvSpPr/>
          <p:nvPr/>
        </p:nvSpPr>
        <p:spPr>
          <a:xfrm>
            <a:off x="3337560" y="1463040"/>
            <a:ext cx="2697480" cy="3291840"/>
          </a:xfrm>
          <a:prstGeom prst="roundRect">
            <a:avLst>
              <a:gd name="adj" fmla="val 2034"/>
            </a:avLst>
          </a:prstGeom>
          <a:solidFill>
            <a:srgbClr val="E8F3F2"/>
          </a:solidFill>
          <a:ln/>
        </p:spPr>
      </p:sp>
      <p:sp>
        <p:nvSpPr>
          <p:cNvPr id="12" name="Shape 10"/>
          <p:cNvSpPr/>
          <p:nvPr/>
        </p:nvSpPr>
        <p:spPr>
          <a:xfrm>
            <a:off x="3566160" y="1691640"/>
            <a:ext cx="594360" cy="594360"/>
          </a:xfrm>
          <a:prstGeom prst="ellipse">
            <a:avLst/>
          </a:prstGeom>
          <a:solidFill>
            <a:srgbClr val="12324A"/>
          </a:solidFill>
          <a:ln/>
        </p:spPr>
      </p:sp>
      <p:sp>
        <p:nvSpPr>
          <p:cNvPr id="13" name="Text 11"/>
          <p:cNvSpPr txBox="1"/>
          <p:nvPr/>
        </p:nvSpPr>
        <p:spPr>
          <a:xfrm>
            <a:off x="3566160" y="16916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4" name="Text 12"/>
          <p:cNvSpPr txBox="1"/>
          <p:nvPr/>
        </p:nvSpPr>
        <p:spPr>
          <a:xfrm>
            <a:off x="3566160" y="2468880"/>
            <a:ext cx="2240280" cy="36576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Prototype tương tác</a:t>
            </a:r>
            <a:endParaRPr lang="en-US" sz="1500" dirty="0"/>
          </a:p>
        </p:txBody>
      </p:sp>
      <p:sp>
        <p:nvSpPr>
          <p:cNvPr id="15" name="Text 13"/>
          <p:cNvSpPr txBox="1"/>
          <p:nvPr/>
        </p:nvSpPr>
        <p:spPr>
          <a:xfrm>
            <a:off x="3566160" y="2880360"/>
            <a:ext cx="2240280" cy="1280160"/>
          </a:xfrm>
          <a:prstGeom prst="rect">
            <a:avLst/>
          </a:prstGeom>
          <a:noFill/>
          <a:ln/>
        </p:spPr>
        <p:txBody>
          <a:bodyPr wrap="square" lIns="0" tIns="0" rIns="0" bIns="0" rtlCol="0" anchor="t"/>
          <a:lstStyle/>
          <a:p>
            <a:pPr algn="l" indent="0" marL="0">
              <a:buNone/>
            </a:pPr>
            <a:r>
              <a:rPr lang="en-US" sz="1200" dirty="0">
                <a:solidFill>
                  <a:srgbClr val="3A4654"/>
                </a:solidFill>
                <a:latin typeface="Arial" pitchFamily="34" charset="0"/>
                <a:ea typeface="Arial" pitchFamily="34" charset="-122"/>
                <a:cs typeface="Arial" pitchFamily="34" charset="-120"/>
              </a:rPr>
              <a:t>Chuyển sang Figma có thể bấm thử; thêm luồng K1, K3–K7 và màn hình cấu hình</a:t>
            </a:r>
            <a:endParaRPr lang="en-US" sz="1200" dirty="0"/>
          </a:p>
        </p:txBody>
      </p:sp>
      <p:sp>
        <p:nvSpPr>
          <p:cNvPr id="16" name="Shape 14"/>
          <p:cNvSpPr/>
          <p:nvPr/>
        </p:nvSpPr>
        <p:spPr>
          <a:xfrm>
            <a:off x="3566160" y="4297680"/>
            <a:ext cx="1097280" cy="274320"/>
          </a:xfrm>
          <a:prstGeom prst="roundRect">
            <a:avLst>
              <a:gd name="adj" fmla="val 33333"/>
            </a:avLst>
          </a:prstGeom>
          <a:solidFill>
            <a:srgbClr val="1B7F79"/>
          </a:solidFill>
          <a:ln/>
        </p:spPr>
      </p:sp>
      <p:sp>
        <p:nvSpPr>
          <p:cNvPr id="17" name="Text 15"/>
          <p:cNvSpPr txBox="1"/>
          <p:nvPr/>
        </p:nvSpPr>
        <p:spPr>
          <a:xfrm>
            <a:off x="3566160" y="429768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Tuần 2–4</a:t>
            </a:r>
            <a:endParaRPr lang="en-US" sz="1000" dirty="0"/>
          </a:p>
        </p:txBody>
      </p:sp>
      <p:sp>
        <p:nvSpPr>
          <p:cNvPr id="18" name="Shape 16"/>
          <p:cNvSpPr/>
          <p:nvPr/>
        </p:nvSpPr>
        <p:spPr>
          <a:xfrm>
            <a:off x="6217920" y="1463040"/>
            <a:ext cx="2697480" cy="3291840"/>
          </a:xfrm>
          <a:prstGeom prst="roundRect">
            <a:avLst>
              <a:gd name="adj" fmla="val 2034"/>
            </a:avLst>
          </a:prstGeom>
          <a:solidFill>
            <a:srgbClr val="E8F3F2"/>
          </a:solidFill>
          <a:ln/>
        </p:spPr>
      </p:sp>
      <p:sp>
        <p:nvSpPr>
          <p:cNvPr id="19" name="Shape 17"/>
          <p:cNvSpPr/>
          <p:nvPr/>
        </p:nvSpPr>
        <p:spPr>
          <a:xfrm>
            <a:off x="6446520" y="1691640"/>
            <a:ext cx="594360" cy="594360"/>
          </a:xfrm>
          <a:prstGeom prst="ellipse">
            <a:avLst/>
          </a:prstGeom>
          <a:solidFill>
            <a:srgbClr val="12324A"/>
          </a:solidFill>
          <a:ln/>
        </p:spPr>
      </p:sp>
      <p:sp>
        <p:nvSpPr>
          <p:cNvPr id="20" name="Text 18"/>
          <p:cNvSpPr txBox="1"/>
          <p:nvPr/>
        </p:nvSpPr>
        <p:spPr>
          <a:xfrm>
            <a:off x="6446520" y="16916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9"/>
          <p:cNvSpPr txBox="1"/>
          <p:nvPr/>
        </p:nvSpPr>
        <p:spPr>
          <a:xfrm>
            <a:off x="6446520" y="2468880"/>
            <a:ext cx="2240280" cy="36576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Thử nghiệm khả dụng</a:t>
            </a:r>
            <a:endParaRPr lang="en-US" sz="1500" dirty="0"/>
          </a:p>
        </p:txBody>
      </p:sp>
      <p:sp>
        <p:nvSpPr>
          <p:cNvPr id="22" name="Text 20"/>
          <p:cNvSpPr txBox="1"/>
          <p:nvPr/>
        </p:nvSpPr>
        <p:spPr>
          <a:xfrm>
            <a:off x="6446520" y="2880360"/>
            <a:ext cx="2240280" cy="1280160"/>
          </a:xfrm>
          <a:prstGeom prst="rect">
            <a:avLst/>
          </a:prstGeom>
          <a:noFill/>
          <a:ln/>
        </p:spPr>
        <p:txBody>
          <a:bodyPr wrap="square" lIns="0" tIns="0" rIns="0" bIns="0" rtlCol="0" anchor="t"/>
          <a:lstStyle/>
          <a:p>
            <a:pPr algn="l" indent="0" marL="0">
              <a:buNone/>
            </a:pPr>
            <a:r>
              <a:rPr lang="en-US" sz="1200" dirty="0">
                <a:solidFill>
                  <a:srgbClr val="3A4654"/>
                </a:solidFill>
                <a:latin typeface="Arial" pitchFamily="34" charset="0"/>
                <a:ea typeface="Arial" pitchFamily="34" charset="-122"/>
                <a:cs typeface="Arial" pitchFamily="34" charset="-120"/>
              </a:rPr>
              <a:t>5 người mỗi nhóm thực hiện tác vụ thật: duyệt lệnh, mời khách, xử lý cảnh báo; đo thời gian và lỗi</a:t>
            </a:r>
            <a:endParaRPr lang="en-US" sz="1200" dirty="0"/>
          </a:p>
        </p:txBody>
      </p:sp>
      <p:sp>
        <p:nvSpPr>
          <p:cNvPr id="23" name="Shape 21"/>
          <p:cNvSpPr/>
          <p:nvPr/>
        </p:nvSpPr>
        <p:spPr>
          <a:xfrm>
            <a:off x="6446520" y="4297680"/>
            <a:ext cx="1097280" cy="274320"/>
          </a:xfrm>
          <a:prstGeom prst="roundRect">
            <a:avLst>
              <a:gd name="adj" fmla="val 33333"/>
            </a:avLst>
          </a:prstGeom>
          <a:solidFill>
            <a:srgbClr val="1B7F79"/>
          </a:solidFill>
          <a:ln/>
        </p:spPr>
      </p:sp>
      <p:sp>
        <p:nvSpPr>
          <p:cNvPr id="24" name="Text 22"/>
          <p:cNvSpPr txBox="1"/>
          <p:nvPr/>
        </p:nvSpPr>
        <p:spPr>
          <a:xfrm>
            <a:off x="6446520" y="429768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Tuần 4–5</a:t>
            </a:r>
            <a:endParaRPr lang="en-US" sz="1000" dirty="0"/>
          </a:p>
        </p:txBody>
      </p:sp>
      <p:sp>
        <p:nvSpPr>
          <p:cNvPr id="25" name="Shape 23"/>
          <p:cNvSpPr/>
          <p:nvPr/>
        </p:nvSpPr>
        <p:spPr>
          <a:xfrm>
            <a:off x="9098280" y="1463040"/>
            <a:ext cx="2697480" cy="3291840"/>
          </a:xfrm>
          <a:prstGeom prst="roundRect">
            <a:avLst>
              <a:gd name="adj" fmla="val 2034"/>
            </a:avLst>
          </a:prstGeom>
          <a:solidFill>
            <a:srgbClr val="E8F3F2"/>
          </a:solidFill>
          <a:ln/>
        </p:spPr>
      </p:sp>
      <p:sp>
        <p:nvSpPr>
          <p:cNvPr id="26" name="Shape 24"/>
          <p:cNvSpPr/>
          <p:nvPr/>
        </p:nvSpPr>
        <p:spPr>
          <a:xfrm>
            <a:off x="9326880" y="1691640"/>
            <a:ext cx="594360" cy="594360"/>
          </a:xfrm>
          <a:prstGeom prst="ellipse">
            <a:avLst/>
          </a:prstGeom>
          <a:solidFill>
            <a:srgbClr val="12324A"/>
          </a:solidFill>
          <a:ln/>
        </p:spPr>
      </p:sp>
      <p:sp>
        <p:nvSpPr>
          <p:cNvPr id="27" name="Text 25"/>
          <p:cNvSpPr txBox="1"/>
          <p:nvPr/>
        </p:nvSpPr>
        <p:spPr>
          <a:xfrm>
            <a:off x="9326880" y="16916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8" name="Text 26"/>
          <p:cNvSpPr txBox="1"/>
          <p:nvPr/>
        </p:nvSpPr>
        <p:spPr>
          <a:xfrm>
            <a:off x="9326880" y="2468880"/>
            <a:ext cx="2240280" cy="365760"/>
          </a:xfrm>
          <a:prstGeom prst="rect">
            <a:avLst/>
          </a:prstGeom>
          <a:noFill/>
          <a:ln/>
        </p:spPr>
        <p:txBody>
          <a:bodyPr wrap="square" lIns="0" tIns="0" rIns="0" bIns="0" rtlCol="0" anchor="ctr"/>
          <a:lstStyle/>
          <a:p>
            <a:pPr algn="l" indent="0" marL="0">
              <a:buNone/>
            </a:pPr>
            <a:r>
              <a:rPr lang="en-US" sz="1500" b="1" dirty="0">
                <a:solidFill>
                  <a:srgbClr val="12324A"/>
                </a:solidFill>
                <a:latin typeface="Arial" pitchFamily="34" charset="0"/>
                <a:ea typeface="Arial" pitchFamily="34" charset="-122"/>
                <a:cs typeface="Arial" pitchFamily="34" charset="-120"/>
              </a:rPr>
              <a:t>Bàn giao thiết kế</a:t>
            </a:r>
            <a:endParaRPr lang="en-US" sz="1500" dirty="0"/>
          </a:p>
        </p:txBody>
      </p:sp>
      <p:sp>
        <p:nvSpPr>
          <p:cNvPr id="29" name="Text 27"/>
          <p:cNvSpPr txBox="1"/>
          <p:nvPr/>
        </p:nvSpPr>
        <p:spPr>
          <a:xfrm>
            <a:off x="9326880" y="2880360"/>
            <a:ext cx="2240280" cy="1280160"/>
          </a:xfrm>
          <a:prstGeom prst="rect">
            <a:avLst/>
          </a:prstGeom>
          <a:noFill/>
          <a:ln/>
        </p:spPr>
        <p:txBody>
          <a:bodyPr wrap="square" lIns="0" tIns="0" rIns="0" bIns="0" rtlCol="0" anchor="t"/>
          <a:lstStyle/>
          <a:p>
            <a:pPr algn="l" indent="0" marL="0">
              <a:buNone/>
            </a:pPr>
            <a:r>
              <a:rPr lang="en-US" sz="1200" dirty="0">
                <a:solidFill>
                  <a:srgbClr val="3A4654"/>
                </a:solidFill>
                <a:latin typeface="Arial" pitchFamily="34" charset="0"/>
                <a:ea typeface="Arial" pitchFamily="34" charset="-122"/>
                <a:cs typeface="Arial" pitchFamily="34" charset="-120"/>
              </a:rPr>
              <a:t>Bộ thành phần, mã màu, kiểm tra tương phản WCAG AA, đặc tả cho đội phát triển</a:t>
            </a:r>
            <a:endParaRPr lang="en-US" sz="1200" dirty="0"/>
          </a:p>
        </p:txBody>
      </p:sp>
      <p:sp>
        <p:nvSpPr>
          <p:cNvPr id="30" name="Shape 28"/>
          <p:cNvSpPr/>
          <p:nvPr/>
        </p:nvSpPr>
        <p:spPr>
          <a:xfrm>
            <a:off x="9326880" y="4297680"/>
            <a:ext cx="1097280" cy="274320"/>
          </a:xfrm>
          <a:prstGeom prst="roundRect">
            <a:avLst>
              <a:gd name="adj" fmla="val 33333"/>
            </a:avLst>
          </a:prstGeom>
          <a:solidFill>
            <a:srgbClr val="1B7F79"/>
          </a:solidFill>
          <a:ln/>
        </p:spPr>
      </p:sp>
      <p:sp>
        <p:nvSpPr>
          <p:cNvPr id="31" name="Text 29"/>
          <p:cNvSpPr txBox="1"/>
          <p:nvPr/>
        </p:nvSpPr>
        <p:spPr>
          <a:xfrm>
            <a:off x="9326880" y="429768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Tuần 5–6</a:t>
            </a:r>
            <a:endParaRPr lang="en-US" sz="1000" dirty="0"/>
          </a:p>
        </p:txBody>
      </p:sp>
      <p:sp>
        <p:nvSpPr>
          <p:cNvPr id="32" name="Shape 30"/>
          <p:cNvSpPr/>
          <p:nvPr/>
        </p:nvSpPr>
        <p:spPr>
          <a:xfrm>
            <a:off x="457200" y="5029200"/>
            <a:ext cx="11274552" cy="1325880"/>
          </a:xfrm>
          <a:prstGeom prst="roundRect">
            <a:avLst>
              <a:gd name="adj" fmla="val 4138"/>
            </a:avLst>
          </a:prstGeom>
          <a:solidFill>
            <a:srgbClr val="12324A"/>
          </a:solidFill>
          <a:ln/>
        </p:spPr>
      </p:sp>
      <p:sp>
        <p:nvSpPr>
          <p:cNvPr id="33" name="Text 31"/>
          <p:cNvSpPr txBox="1"/>
          <p:nvPr/>
        </p:nvSpPr>
        <p:spPr>
          <a:xfrm>
            <a:off x="731520" y="5138928"/>
            <a:ext cx="5486400" cy="32004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Cần CĐT và Newtecons cung cấp</a:t>
            </a:r>
            <a:endParaRPr lang="en-US" sz="1300" dirty="0"/>
          </a:p>
        </p:txBody>
      </p:sp>
      <p:sp>
        <p:nvSpPr>
          <p:cNvPr id="34" name="Text 32"/>
          <p:cNvSpPr txBox="1"/>
          <p:nvPr/>
        </p:nvSpPr>
        <p:spPr>
          <a:xfrm>
            <a:off x="731520" y="5468112"/>
            <a:ext cx="10789920" cy="777240"/>
          </a:xfrm>
          <a:prstGeom prst="rect">
            <a:avLst/>
          </a:prstGeom>
          <a:noFill/>
          <a:ln/>
        </p:spPr>
        <p:txBody>
          <a:bodyPr wrap="square" lIns="0" tIns="0" rIns="0" bIns="0" rtlCol="0" anchor="t"/>
          <a:lstStyle/>
          <a:p>
            <a:pPr algn="l" indent="0" marL="0">
              <a:buNone/>
            </a:pPr>
            <a:r>
              <a:rPr lang="en-US" sz="1200" dirty="0">
                <a:solidFill>
                  <a:srgbClr val="DCE7EF"/>
                </a:solidFill>
                <a:latin typeface="Arial" pitchFamily="34" charset="0"/>
                <a:ea typeface="Arial" pitchFamily="34" charset="-122"/>
                <a:cs typeface="Arial" pitchFamily="34" charset="-120"/>
              </a:rPr>
              <a:t>Nhận diện thương hiệu tòa nhà (logo, màu) · danh sách người dùng tham gia thử nghiệm · hãng thiết bị vào ra, camera để lấy đúng dữ liệu sự kiện · quyết định thu phí qua app và kênh thông báo (Zalo OA)</a:t>
            </a:r>
            <a:endParaRPr lang="en-US" sz="1200" dirty="0"/>
          </a:p>
        </p:txBody>
      </p:sp>
      <p:sp>
        <p:nvSpPr>
          <p:cNvPr id="25" name="Slide Number Placeholder 0"/>
          <p:cNvSpPr>
            <a:spLocks noGrp="1"/>
          </p:cNvSpPr>
          <p:nvPr>
            <p:ph type="sldNum" sz="quarter" idx="4294967295"/>
          </p:nvPr>
        </p:nvSpPr>
        <p:spPr>
          <a:xfrm>
            <a:off x="1129284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6A3"/>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Gimasys TNV">
  <a:themeElements>
    <a:clrScheme name="Gimasys TNV">
      <a:dk1>
        <a:srgbClr val="1A2330"/>
      </a:dk1>
      <a:lt1>
        <a:srgbClr val="FFFFFF"/>
      </a:lt1>
      <a:dk2>
        <a:srgbClr val="12324A"/>
      </a:dk2>
      <a:lt2>
        <a:srgbClr val="F2F4F6"/>
      </a:lt2>
      <a:accent1>
        <a:srgbClr val="1B7F79"/>
      </a:accent1>
      <a:accent2>
        <a:srgbClr val="D64545"/>
      </a:accent2>
      <a:accent3>
        <a:srgbClr val="E8833A"/>
      </a:accent3>
      <a:accent4>
        <a:srgbClr val="D9A21B"/>
      </a:accent4>
      <a:accent5>
        <a:srgbClr val="3B82C4"/>
      </a:accent5>
      <a:accent6>
        <a:srgbClr val="2E9E5B"/>
      </a:accent6>
      <a:hlink>
        <a:srgbClr val="1B7F79"/>
      </a:hlink>
      <a:folHlink>
        <a:srgbClr val="12324A"/>
      </a:folHlink>
    </a:clrScheme>
    <a:fontScheme name="Gimasys TNV">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Gimasys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Prototype UX/UI – TNV Smart Building</dc:title>
  <dc:subject>PptxGenJS Presentation</dc:subject>
  <dc:creator>PptxGenJS</dc:creator>
  <cp:lastModifiedBy>PptxGenJS</cp:lastModifiedBy>
  <cp:revision>1</cp:revision>
  <dcterms:created xsi:type="dcterms:W3CDTF">2026-10-20T10:08:02Z</dcterms:created>
  <dcterms:modified xsi:type="dcterms:W3CDTF">2026-10-20T10:08:02Z</dcterms:modified>
</cp:coreProperties>
</file>